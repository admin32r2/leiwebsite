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6"/>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Century Gothic Paneuropean Bold" charset="1" panose="020B0702020202020204"/>
      <p:regular r:id="rId34"/>
    </p:embeddedFont>
    <p:embeddedFont>
      <p:font typeface="Open Sans Bold" charset="1" panose="020B0806030504020204"/>
      <p:regular r:id="rId35"/>
    </p:embeddedFont>
    <p:embeddedFont>
      <p:font typeface="Century Gothic Paneuropean" charset="1" panose="020B0502020202020204"/>
      <p:regular r:id="rId39"/>
    </p:embeddedFont>
    <p:embeddedFont>
      <p:font typeface="Open Sans" charset="1" panose="020B06060305040202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notesMasters/notesMaster1.xml" Type="http://schemas.openxmlformats.org/officeDocument/2006/relationships/notesMaster"/><Relationship Id="rId37" Target="theme/theme2.xml" Type="http://schemas.openxmlformats.org/officeDocument/2006/relationships/theme"/><Relationship Id="rId38" Target="notesSlides/notesSlide1.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2.xml" Type="http://schemas.openxmlformats.org/officeDocument/2006/relationships/notesSlide"/><Relationship Id="rId42" Target="notesSlides/notesSlide3.xml" Type="http://schemas.openxmlformats.org/officeDocument/2006/relationships/notesSlide"/><Relationship Id="rId43" Target="notesSlides/notesSlide4.xml" Type="http://schemas.openxmlformats.org/officeDocument/2006/relationships/notesSlide"/><Relationship Id="rId44" Target="notesSlides/notesSlide5.xml" Type="http://schemas.openxmlformats.org/officeDocument/2006/relationships/notesSlide"/><Relationship Id="rId45" Target="notesSlides/notesSlide6.xml" Type="http://schemas.openxmlformats.org/officeDocument/2006/relationships/notesSlide"/><Relationship Id="rId46" Target="notesSlides/notesSlide7.xml" Type="http://schemas.openxmlformats.org/officeDocument/2006/relationships/notesSlide"/><Relationship Id="rId47" Target="notesSlides/notesSlide8.xml" Type="http://schemas.openxmlformats.org/officeDocument/2006/relationships/notesSlide"/><Relationship Id="rId48" Target="notesSlides/notesSlide9.xml" Type="http://schemas.openxmlformats.org/officeDocument/2006/relationships/notesSlide"/><Relationship Id="rId49" Target="notesSlides/notesSlide10.xml" Type="http://schemas.openxmlformats.org/officeDocument/2006/relationships/notesSlide"/><Relationship Id="rId5" Target="tableStyles.xml" Type="http://schemas.openxmlformats.org/officeDocument/2006/relationships/tableStyles"/><Relationship Id="rId50" Target="notesSlides/notesSlide11.xml" Type="http://schemas.openxmlformats.org/officeDocument/2006/relationships/notesSlide"/><Relationship Id="rId51" Target="notesSlides/notesSlide12.xml" Type="http://schemas.openxmlformats.org/officeDocument/2006/relationships/notesSlide"/><Relationship Id="rId52" Target="notesSlides/notesSlide13.xml" Type="http://schemas.openxmlformats.org/officeDocument/2006/relationships/notesSlide"/><Relationship Id="rId53" Target="notesSlides/notesSlide14.xml" Type="http://schemas.openxmlformats.org/officeDocument/2006/relationships/notesSlide"/><Relationship Id="rId54" Target="notesSlides/notesSlide15.xml" Type="http://schemas.openxmlformats.org/officeDocument/2006/relationships/notesSlide"/><Relationship Id="rId55" Target="notesSlides/notesSlide16.xml" Type="http://schemas.openxmlformats.org/officeDocument/2006/relationships/notesSlide"/><Relationship Id="rId56" Target="notesSlides/notesSlide17.xml" Type="http://schemas.openxmlformats.org/officeDocument/2006/relationships/notesSlide"/><Relationship Id="rId57" Target="notesSlides/notesSlide18.xml" Type="http://schemas.openxmlformats.org/officeDocument/2006/relationships/notesSlide"/><Relationship Id="rId58" Target="notesSlides/notesSlide19.xml" Type="http://schemas.openxmlformats.org/officeDocument/2006/relationships/notesSlide"/><Relationship Id="rId59" Target="notesSlides/notesSlide20.xml" Type="http://schemas.openxmlformats.org/officeDocument/2006/relationships/notesSlide"/><Relationship Id="rId6" Target="slides/slide1.xml" Type="http://schemas.openxmlformats.org/officeDocument/2006/relationships/slide"/><Relationship Id="rId60" Target="notesSlides/notesSlide21.xml" Type="http://schemas.openxmlformats.org/officeDocument/2006/relationships/notesSlide"/><Relationship Id="rId61" Target="notesSlides/notesSlide22.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 simple analogy:</a:t>
            </a:r>
          </a:p>
          <a:p>
            <a:r>
              <a:rPr lang="en-US"/>
              <a:t/>
            </a:r>
          </a:p>
          <a:p>
            <a:r>
              <a:rPr lang="en-US"/>
              <a:t>ICT is similar.</a:t>
            </a:r>
          </a:p>
          <a:p>
            <a:r>
              <a:rPr lang="en-US"/>
              <a:t/>
            </a:r>
          </a:p>
          <a:p>
            <a:r>
              <a:rPr lang="en-US"/>
              <a:t> - Developers create software.</a:t>
            </a:r>
          </a:p>
          <a:p>
            <a:r>
              <a:rPr lang="en-US"/>
              <a:t/>
            </a:r>
          </a:p>
          <a:p>
            <a:r>
              <a:rPr lang="en-US"/>
              <a:t> - Network engineers connect computers.</a:t>
            </a:r>
          </a:p>
          <a:p>
            <a:r>
              <a:rPr lang="en-US"/>
              <a:t/>
            </a:r>
          </a:p>
          <a:p>
            <a:r>
              <a:rPr lang="en-US"/>
              <a:t> - Database administrators manage data.</a:t>
            </a:r>
          </a:p>
          <a:p>
            <a:r>
              <a:rPr lang="en-US"/>
              <a:t/>
            </a:r>
          </a:p>
          <a:p>
            <a:r>
              <a:rPr lang="en-US"/>
              <a:t> - IT support fixes technical problems.</a:t>
            </a:r>
          </a:p>
          <a:p>
            <a:r>
              <a:rPr lang="en-US"/>
              <a:t/>
            </a:r>
          </a:p>
          <a:p>
            <a:r>
              <a:rPr lang="en-US"/>
              <a:t> - Cybersecurity specialists protect information.</a:t>
            </a:r>
          </a:p>
          <a:p>
            <a:r>
              <a:rPr lang="en-US"/>
              <a:t/>
            </a:r>
          </a:p>
          <a:p>
            <a:r>
              <a:rPr lang="en-US"/>
              <a:t>ICT is a combination of hardware, software, communication network, data, and people working together to help us create, process, store, and communicate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PURPOSE:</a:t>
            </a:r>
          </a:p>
          <a:p>
            <a:r>
              <a:rPr lang="en-US"/>
              <a:t/>
            </a:r>
          </a:p>
          <a:p>
            <a:r>
              <a:rPr lang="en-US"/>
              <a:t>the main purpose of a tally stick was to help people count and keep a physical record of quantities or transactions before modern writing, calculators, and digital systems existed.</a:t>
            </a:r>
          </a:p>
          <a:p>
            <a:r>
              <a:rPr lang="en-US"/>
              <a:t/>
            </a:r>
          </a:p>
          <a:p>
            <a:r>
              <a:rPr lang="en-US"/>
              <a:t/>
            </a:r>
          </a:p>
          <a:p>
            <a:r>
              <a:rPr lang="en-US"/>
              <a:t>A tally stick was an early information-storage and counting device. Instead of writing numbers on paper, people carved notches into wood or bone to record quantities, debts, payments, or other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PURPOSE:</a:t>
            </a:r>
          </a:p>
          <a:p>
            <a:r>
              <a:rPr lang="en-US"/>
              <a:t/>
            </a:r>
          </a:p>
          <a:p>
            <a:r>
              <a:rPr lang="en-US"/>
              <a:t>So, unlike the tally stick, which was primarily useful for recording/counting quantities, the abacus was specifically designed to assist with arithmetic calculations.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PURPOSE:</a:t>
            </a:r>
          </a:p>
          <a:p>
            <a:r>
              <a:rPr lang="en-US"/>
              <a:t/>
            </a:r>
          </a:p>
          <a:p>
            <a:r>
              <a:rPr lang="en-US"/>
              <a:t>main purpose of Napier’s Bones was to make multiplication and division easier and faster, especially for people who had to perform lengthy calculations.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Napier's Bones and the Slide Rule have a similar main purpose</a:t>
            </a:r>
          </a:p>
          <a:p>
            <a:r>
              <a:rPr lang="en-US"/>
              <a:t/>
            </a:r>
          </a:p>
          <a:p>
            <a:r>
              <a:rPr lang="en-US"/>
              <a:t>The similarity</a:t>
            </a:r>
          </a:p>
          <a:p>
            <a:r>
              <a:rPr lang="en-US"/>
              <a:t/>
            </a:r>
          </a:p>
          <a:p>
            <a:r>
              <a:rPr lang="en-US"/>
              <a:t>Both were designed primarily to help humans perform mathematical calculations, especially:</a:t>
            </a:r>
          </a:p>
          <a:p>
            <a:r>
              <a:rPr lang="en-US"/>
              <a:t/>
            </a:r>
          </a:p>
          <a:p>
            <a:r>
              <a:rPr lang="en-US"/>
              <a:t>Multiplication</a:t>
            </a:r>
          </a:p>
          <a:p>
            <a:r>
              <a:rPr lang="en-US"/>
              <a:t>Division</a:t>
            </a:r>
          </a:p>
          <a:p>
            <a:r>
              <a:rPr lang="en-US"/>
              <a:t/>
            </a:r>
          </a:p>
          <a:p>
            <a:r>
              <a:rPr lang="en-US"/>
              <a:t>Napier's Bones used numbered rods containing multiples to make multiplication and division easier.</a:t>
            </a:r>
          </a:p>
          <a:p>
            <a:r>
              <a:rPr lang="en-US"/>
              <a:t/>
            </a:r>
          </a:p>
          <a:p>
            <a:r>
              <a:rPr lang="en-US"/>
              <a:t>The Slide Rule used logarithmic scales to make multiplication and division faster by converting these operations into addition and subtraction of logarithmic values.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PURPOSE:</a:t>
            </a:r>
          </a:p>
          <a:p>
            <a:r>
              <a:rPr lang="en-US"/>
              <a:t/>
            </a:r>
          </a:p>
          <a:p>
            <a:r>
              <a:rPr lang="en-US"/>
              <a:t>The main purpose of the Pascaline was to automate addition and subtraction using mechanical gears, making lengthy arithmetic calculations faster and reducing the effort and errors involved in manual calculation.</a:t>
            </a:r>
          </a:p>
          <a:p>
            <a:r>
              <a:rPr lang="en-US"/>
              <a:t/>
            </a:r>
          </a:p>
          <a:p>
            <a:r>
              <a:rPr lang="en-US"/>
              <a:t/>
            </a:r>
          </a:p>
          <a:p>
            <a:r>
              <a:rPr lang="en-US"/>
              <a:t>Primary Functions</a:t>
            </a:r>
          </a:p>
          <a:p>
            <a:r>
              <a:rPr lang="en-US"/>
              <a:t/>
            </a:r>
          </a:p>
          <a:p>
            <a:r>
              <a:rPr lang="en-US"/>
              <a:t>Addition: </a:t>
            </a:r>
          </a:p>
          <a:p>
            <a:r>
              <a:rPr lang="en-US"/>
              <a:t>Numbers were entered by turning metal dials with a stylus, which directly advanced the gear-based numeric wheels.</a:t>
            </a:r>
          </a:p>
          <a:p>
            <a:r>
              <a:rPr lang="en-US"/>
              <a:t/>
            </a:r>
          </a:p>
          <a:p>
            <a:r>
              <a:rPr lang="en-US"/>
              <a:t>Subtraction: </a:t>
            </a:r>
          </a:p>
          <a:p>
            <a:r>
              <a:rPr lang="en-US"/>
              <a:t>Performed indirectly using a complementary numbers system (9's complement) via a sliding display bar.</a:t>
            </a:r>
          </a:p>
          <a:p>
            <a:r>
              <a:rPr lang="en-US"/>
              <a:t/>
            </a:r>
          </a:p>
          <a:p>
            <a:r>
              <a:rPr lang="en-US"/>
              <a:t>Multiplication and Division: Achieved indirectly through repeated addition or subtraction.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PURPOSE:</a:t>
            </a:r>
          </a:p>
          <a:p>
            <a:r>
              <a:rPr lang="en-US"/>
              <a:t/>
            </a:r>
          </a:p>
          <a:p>
            <a:r>
              <a:rPr lang="en-US"/>
              <a:t>The main purpose of the Stepped Reckoner was to mechanically perform the four basic arithmetic operations: addition, subtraction, multiplication, and division.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PURPOSE:</a:t>
            </a:r>
          </a:p>
          <a:p>
            <a:r>
              <a:rPr lang="en-US"/>
              <a:t/>
            </a:r>
          </a:p>
          <a:p>
            <a:r>
              <a:rPr lang="en-US"/>
              <a:t>The main purpose of the Jacquard Loom was to automatically weave complex and detailed patterns into fabric using punched cards.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main purpose of the Arithmometer was to perform the four basic arithmetic operations mechanically: addition, subtraction, multiplication, and division.</a:t>
            </a:r>
          </a:p>
          <a:p>
            <a:r>
              <a:rPr lang="en-US"/>
              <a:t/>
            </a:r>
          </a:p>
          <a:p>
            <a:r>
              <a:rPr lang="en-US"/>
              <a:t/>
            </a:r>
          </a:p>
          <a:p>
            <a:r>
              <a:rPr lang="en-US"/>
              <a:t>The Stepped Reckoner and Arithmometer had a similar purpose, but the Arithmometer improved and commercialized the idea.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Main purpose:</a:t>
            </a:r>
          </a:p>
          <a:p>
            <a:r>
              <a:rPr lang="en-US"/>
              <a:t/>
            </a:r>
          </a:p>
          <a:p>
            <a:r>
              <a:rPr lang="en-US"/>
              <a:t>To automatically calculate and print mathematical tables accurately.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DIFFERENCE:</a:t>
            </a:r>
          </a:p>
          <a:p>
            <a:r>
              <a:rPr lang="en-US"/>
              <a:t>Main purpose:</a:t>
            </a:r>
          </a:p>
          <a:p>
            <a:r>
              <a:rPr lang="en-US"/>
              <a:t>To automatically calculate and print mathematical tables accurately.</a:t>
            </a:r>
          </a:p>
          <a:p>
            <a:r>
              <a:rPr lang="en-US"/>
              <a:t/>
            </a:r>
          </a:p>
          <a:p>
            <a:r>
              <a:rPr lang="en-US"/>
              <a:t>Simple explanation for students:</a:t>
            </a:r>
          </a:p>
          <a:p>
            <a:r>
              <a:rPr lang="en-US"/>
              <a:t/>
            </a:r>
          </a:p>
          <a:p>
            <a:r>
              <a:rPr lang="en-US"/>
              <a:t>Difference Engine = an automatic calculator for producing mathematical tables.</a:t>
            </a:r>
          </a:p>
          <a:p>
            <a:r>
              <a:rPr lang="en-US"/>
              <a:t/>
            </a:r>
          </a:p>
          <a:p>
            <a:r>
              <a:rPr lang="en-US"/>
              <a:t>ANALYTICAL:</a:t>
            </a:r>
          </a:p>
          <a:p>
            <a:r>
              <a:rPr lang="en-US"/>
              <a:t>Main purpose:</a:t>
            </a:r>
          </a:p>
          <a:p>
            <a:r>
              <a:rPr lang="en-US"/>
              <a:t>To create a general-purpose, programmable mechanical computing machine capable of performing different calculations according to instructions.</a:t>
            </a:r>
          </a:p>
          <a:p>
            <a:r>
              <a:rPr lang="en-US"/>
              <a:t/>
            </a:r>
          </a:p>
          <a:p>
            <a:r>
              <a:rPr lang="en-US"/>
              <a:t>Simple explanation for students:</a:t>
            </a:r>
          </a:p>
          <a:p>
            <a:r>
              <a:rPr lang="en-US"/>
              <a:t/>
            </a:r>
          </a:p>
          <a:p>
            <a:r>
              <a:rPr lang="en-US"/>
              <a:t>Analytical Engine = an early design for a programmable general-purpose computer.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very simple terms</a:t>
            </a:r>
          </a:p>
          <a:p>
            <a:r>
              <a:rPr lang="en-US"/>
              <a:t/>
            </a:r>
          </a:p>
          <a:p>
            <a:r>
              <a:rPr lang="en-US"/>
              <a:t>Ada Lovelace's main contribution was to show how a machine could be given a sequence of instructions to perform a calculation.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Main purpose</a:t>
            </a:r>
          </a:p>
          <a:p>
            <a:r>
              <a:rPr lang="en-US"/>
              <a:t/>
            </a:r>
          </a:p>
          <a:p>
            <a:r>
              <a:rPr lang="en-US"/>
              <a:t>Its main purpose was to automatically calculate and print mathematical tables, reducing the tedious work and human errors involved in calculating those tables by hand.</a:t>
            </a:r>
          </a:p>
          <a:p>
            <a:r>
              <a:rPr lang="en-US"/>
              <a:t/>
            </a:r>
          </a:p>
          <a:p>
            <a:r>
              <a:rPr lang="en-US"/>
              <a:t>What made it important?</a:t>
            </a:r>
          </a:p>
          <a:p>
            <a:r>
              <a:rPr lang="en-US"/>
              <a:t/>
            </a:r>
          </a:p>
          <a:p>
            <a:r>
              <a:rPr lang="en-US"/>
              <a:t>The Scheutzian Engine was particularly significant because it      "turned Babbage's Difference Engine concept into a practical working machine."      The 1853 version could calculate numerical differences and                "print the results automatically."      It was later sold to the Dudley Observatory in New York and became the first printing calculator sold.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main purpose of the Tabulating Machine, specifically Herman Hollerith's Tabulating Machine, was to automatically process, count, and organize large amounts of data recorded on punched cards. It was developed primarily to make the U.S. Census much faster and more efficient.</a:t>
            </a:r>
          </a:p>
          <a:p>
            <a:r>
              <a:rPr lang="en-US"/>
              <a:t/>
            </a:r>
          </a:p>
          <a:p>
            <a:r>
              <a:rPr lang="en-US"/>
              <a:t/>
            </a:r>
          </a:p>
          <a:p>
            <a:r>
              <a:rPr lang="en-US"/>
              <a:t>Why was it important?</a:t>
            </a:r>
          </a:p>
          <a:p>
            <a:r>
              <a:rPr lang="en-US"/>
              <a:t/>
            </a:r>
          </a:p>
          <a:p>
            <a:r>
              <a:rPr lang="en-US"/>
              <a:t>The previous census data had to be processed largely by hand. Hollerith's system dramatically accelerated the process. The U.S. Census Bureau reports that the machine allowed the 1890 census count to finish months ahead of schedule and far under budget.</a:t>
            </a:r>
          </a:p>
          <a:p>
            <a:r>
              <a:rPr lang="en-US"/>
              <a:t/>
            </a:r>
          </a:p>
          <a:p>
            <a:r>
              <a:rPr lang="en-US"/>
              <a:t/>
            </a:r>
          </a:p>
          <a:p>
            <a:r>
              <a:rPr lang="en-US"/>
              <a:t>The Tabulating Machine was designed to solve a data-processing problem. Instead of people manually counting thousands or millions of census records, Hollerith used punched cards and a machine to automatically read and count the information.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The Harvard Mark I was mainly designed to automatically perform long and complex mathematical calculations, particularly calculations needed for scientific and military applications during World War II. It was designed by Harvard mathematician Howard H. Aiken and built with IBM; it became operational at Harvard in 1944.</a:t>
            </a:r>
          </a:p>
          <a:p>
            <a:r>
              <a:rPr lang="en-US"/>
              <a:t/>
            </a:r>
          </a:p>
          <a:p>
            <a:r>
              <a:rPr lang="en-US"/>
              <a:t/>
            </a:r>
          </a:p>
          <a:p>
            <a:r>
              <a:rPr lang="en-US"/>
              <a:t>What was it used for?</a:t>
            </a:r>
          </a:p>
          <a:p>
            <a:r>
              <a:rPr lang="en-US"/>
              <a:t/>
            </a:r>
          </a:p>
          <a:p>
            <a:r>
              <a:rPr lang="en-US"/>
              <a:t>The Mark I was heavily used for military calculations, including:</a:t>
            </a:r>
          </a:p>
          <a:p>
            <a:r>
              <a:rPr lang="en-US"/>
              <a:t/>
            </a:r>
          </a:p>
          <a:p>
            <a:r>
              <a:rPr lang="en-US"/>
              <a:t>Torpedo design</a:t>
            </a:r>
          </a:p>
          <a:p>
            <a:r>
              <a:rPr lang="en-US"/>
              <a:t>Radar calculations</a:t>
            </a:r>
          </a:p>
          <a:p>
            <a:r>
              <a:rPr lang="en-US"/>
              <a:t>Missile trajectories</a:t>
            </a:r>
          </a:p>
          <a:p>
            <a:r>
              <a:rPr lang="en-US"/>
              <a:t>Underwater detection systems</a:t>
            </a:r>
          </a:p>
          <a:p>
            <a:r>
              <a:rPr lang="en-US"/>
              <a:t>Other mathematical problems related to the war effort</a:t>
            </a:r>
          </a:p>
          <a:p>
            <a:r>
              <a:rPr lang="en-US"/>
              <a:t/>
            </a:r>
          </a:p>
          <a:p>
            <a:r>
              <a:rPr lang="en-US"/>
              <a:t>It also calculated mathematical functions such as Bessel functions, which earned it the nickname "Bessie."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The main purpose of the Z1 was to automate mathematical calculations using a programmable, binary mechanical computer. It was developed by Konrad Zuse and completed in 1938.</a:t>
            </a:r>
          </a:p>
          <a:p>
            <a:r>
              <a:rPr lang="en-US"/>
              <a:t/>
            </a:r>
          </a:p>
          <a:p>
            <a:r>
              <a:rPr lang="en-US"/>
              <a:t/>
            </a:r>
          </a:p>
          <a:p>
            <a:r>
              <a:rPr lang="en-US"/>
              <a:t>In very simple terms</a:t>
            </a:r>
          </a:p>
          <a:p>
            <a:r>
              <a:rPr lang="en-US"/>
              <a:t/>
            </a:r>
          </a:p>
          <a:p>
            <a:r>
              <a:rPr lang="en-US"/>
              <a:t>Z1 = a programmable machine designed to perform mathematical calculations automatically.</a:t>
            </a:r>
          </a:p>
          <a:p>
            <a:r>
              <a:rPr lang="en-US"/>
              <a:t/>
            </a:r>
          </a:p>
          <a:p>
            <a:r>
              <a:rPr lang="en-US"/>
              <a:t/>
            </a:r>
          </a:p>
          <a:p>
            <a:r>
              <a:rPr lang="en-US"/>
              <a:t>What could the Z1 do?</a:t>
            </a:r>
          </a:p>
          <a:p>
            <a:r>
              <a:rPr lang="en-US"/>
              <a:t/>
            </a:r>
          </a:p>
          <a:p>
            <a:r>
              <a:rPr lang="en-US"/>
              <a:t>The Z1 could perform the basic arithmetic operations using binary floating-point numbers, including:</a:t>
            </a:r>
          </a:p>
          <a:p>
            <a:r>
              <a:rPr lang="en-US"/>
              <a:t/>
            </a:r>
          </a:p>
          <a:p>
            <a:r>
              <a:rPr lang="en-US"/>
              <a:t>Addition</a:t>
            </a:r>
          </a:p>
          <a:p>
            <a:r>
              <a:rPr lang="en-US"/>
              <a:t>Subtraction</a:t>
            </a:r>
          </a:p>
          <a:p>
            <a:r>
              <a:rPr lang="en-US"/>
              <a:t>Multiplication</a:t>
            </a:r>
          </a:p>
          <a:p>
            <a:r>
              <a:rPr lang="en-US"/>
              <a:t>Division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The main purpose of the Atanasoff–Berry Computer (ABC) was to automatically solve large systems of simultaneous linear equations, particularly for scientific and engineering calculations. It was designed by physicist John Vincent Atanasoff with graduate student Clifford Berry at Iowa State College between 1939 and 1942</a:t>
            </a:r>
          </a:p>
          <a:p>
            <a:r>
              <a:rPr lang="en-US"/>
              <a:t/>
            </a:r>
          </a:p>
          <a:p>
            <a:r>
              <a:rPr lang="en-US"/>
              <a:t/>
            </a:r>
          </a:p>
          <a:p>
            <a:r>
              <a:rPr lang="en-US"/>
              <a:t>In very simple terms</a:t>
            </a:r>
          </a:p>
          <a:p>
            <a:r>
              <a:rPr lang="en-US"/>
              <a:t/>
            </a:r>
          </a:p>
          <a:p>
            <a:r>
              <a:rPr lang="en-US"/>
              <a:t>ABC = an electronic machine designed to solve difficult mathematical equations faster and more accurately than humans could calculate them by hand.</a:t>
            </a:r>
          </a:p>
          <a:p>
            <a:r>
              <a:rPr lang="en-US"/>
              <a:t/>
            </a:r>
          </a:p>
          <a:p>
            <a:r>
              <a:rPr lang="en-US"/>
              <a:t/>
            </a:r>
          </a:p>
          <a:p>
            <a:r>
              <a:rPr lang="en-US"/>
              <a:t>How I would explain it to your students</a:t>
            </a:r>
          </a:p>
          <a:p>
            <a:r>
              <a:rPr lang="en-US"/>
              <a:t/>
            </a:r>
          </a:p>
          <a:p>
            <a:r>
              <a:rPr lang="en-US"/>
              <a:t>You can say:</a:t>
            </a:r>
          </a:p>
          <a:p>
            <a:r>
              <a:rPr lang="en-US"/>
              <a:t/>
            </a:r>
          </a:p>
          <a:p>
            <a:r>
              <a:rPr lang="en-US"/>
              <a:t>"The ABC was built for a specific problem: solving large systems of linear equations. Its importance in computer history comes from how it solved that problem—using electronic digital circuits and binary arithmetic instead of primarily mechanical components."</a:t>
            </a:r>
          </a:p>
          <a:p>
            <a:r>
              <a:rPr lang="en-US"/>
              <a:t/>
            </a:r>
          </a:p>
          <a:p>
            <a:r>
              <a:rPr lang="en-US"/>
              <a:t/>
            </a:r>
          </a:p>
          <a:p>
            <a:r>
              <a:rPr lang="en-US"/>
              <a:t>"ABC was a special-purpose electronic digital computer designed specifically to solve systems of linear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The main purpose of ENIAC (Electronic Numerical Integrator and Computer) was to perform complex mathematical calculations electronically and very quickly, especially to calculate artillery firing/ballistics tables for the U.S. Army during World War II.</a:t>
            </a:r>
          </a:p>
          <a:p>
            <a:r>
              <a:rPr lang="en-US"/>
              <a:t/>
            </a:r>
          </a:p>
          <a:p>
            <a:r>
              <a:rPr lang="en-US"/>
              <a:t/>
            </a:r>
          </a:p>
          <a:p>
            <a:r>
              <a:rPr lang="en-US"/>
              <a:t/>
            </a:r>
          </a:p>
          <a:p>
            <a:r>
              <a:rPr lang="en-US"/>
              <a:t>A good explanation for your students</a:t>
            </a:r>
          </a:p>
          <a:p>
            <a:r>
              <a:rPr lang="en-US"/>
              <a:t/>
            </a:r>
          </a:p>
          <a:p>
            <a:r>
              <a:rPr lang="en-US"/>
              <a:t>I would say:</a:t>
            </a:r>
          </a:p>
          <a:p>
            <a:r>
              <a:rPr lang="en-US"/>
              <a:t/>
            </a:r>
          </a:p>
          <a:p>
            <a:r>
              <a:rPr lang="en-US"/>
              <a:t>"The ENIAC was built to solve a practical wartime problem: calculating artillery firing tables. But its importance went beyond that purpose. It demonstrated that electronic circuits could be used to perform complex calculations at extremely high speeds."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The main purpose of UNIVAC I (Universal Automatic Computer I) was to automatically process large amounts of data and perform calculations much faster than mechanical tabulating machines. It was designed as a general-purpose electronic data-processing computer, rather than a machine limited to one particular calculation</a:t>
            </a:r>
          </a:p>
          <a:p>
            <a:r>
              <a:rPr lang="en-US"/>
              <a:t/>
            </a:r>
          </a:p>
          <a:p>
            <a:r>
              <a:rPr lang="en-US"/>
              <a:t/>
            </a:r>
          </a:p>
          <a:p>
            <a:r>
              <a:rPr lang="en-US"/>
              <a:t>The important distinction for your students</a:t>
            </a:r>
          </a:p>
          <a:p>
            <a:r>
              <a:rPr lang="en-US"/>
              <a:t/>
            </a:r>
          </a:p>
          <a:p>
            <a:r>
              <a:rPr lang="en-US"/>
              <a:t>UNIVAC I is especially important because it represents a shift from:</a:t>
            </a:r>
          </a:p>
          <a:p>
            <a:r>
              <a:rPr lang="en-US"/>
              <a:t/>
            </a:r>
          </a:p>
          <a:p>
            <a:r>
              <a:rPr lang="en-US"/>
              <a:t>"Computers are mainly used for scientific calculations."</a:t>
            </a:r>
          </a:p>
          <a:p>
            <a:r>
              <a:rPr lang="en-US"/>
              <a:t/>
            </a:r>
          </a:p>
          <a:p>
            <a:r>
              <a:rPr lang="en-US"/>
              <a:t>to:</a:t>
            </a:r>
          </a:p>
          <a:p>
            <a:r>
              <a:rPr lang="en-US"/>
              <a:t/>
            </a:r>
          </a:p>
          <a:p>
            <a:r>
              <a:rPr lang="en-US"/>
              <a:t>"Computers can process information for government and business."</a:t>
            </a:r>
          </a:p>
          <a:p>
            <a:r>
              <a:rPr lang="en-US"/>
              <a:t/>
            </a:r>
          </a:p>
          <a:p>
            <a:r>
              <a:rPr lang="en-US"/>
              <a:t>It was used for census and economic data, and early business applications included things such as inventory management and payroll calculations.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The main purpose of EDVAC (Electronic Discrete Variable Automatic Computer) was to perform electronic digital calculations using a stored program—meaning the computer could store both instructions and data in its memory and execute the instructions automatically.</a:t>
            </a:r>
          </a:p>
          <a:p>
            <a:r>
              <a:rPr lang="en-US"/>
              <a:t/>
            </a:r>
          </a:p>
          <a:p>
            <a:r>
              <a:rPr lang="en-US"/>
              <a:t/>
            </a:r>
          </a:p>
          <a:p>
            <a:r>
              <a:rPr lang="en-US"/>
              <a:t>In very simple terms</a:t>
            </a:r>
          </a:p>
          <a:p>
            <a:r>
              <a:rPr lang="en-US"/>
              <a:t/>
            </a:r>
          </a:p>
          <a:p>
            <a:r>
              <a:rPr lang="en-US"/>
              <a:t>EDVAC = an early electronic computer designed to store its program in memory, allowing it to be reprogrammed more easily.</a:t>
            </a:r>
          </a:p>
          <a:p>
            <a:r>
              <a:rPr lang="en-US"/>
              <a:t/>
            </a:r>
          </a:p>
          <a:p>
            <a:r>
              <a:rPr lang="en-US"/>
              <a:t/>
            </a:r>
          </a:p>
          <a:p>
            <a:r>
              <a:rPr lang="en-US"/>
              <a:t>EDVAC vs. ENIAC</a:t>
            </a:r>
          </a:p>
          <a:p>
            <a:r>
              <a:rPr lang="en-US"/>
              <a:t/>
            </a:r>
          </a:p>
          <a:p>
            <a:r>
              <a:rPr lang="en-US"/>
              <a:t>Think of it this way:</a:t>
            </a:r>
          </a:p>
          <a:p>
            <a:r>
              <a:rPr lang="en-US"/>
              <a:t/>
            </a:r>
          </a:p>
          <a:p>
            <a:r>
              <a:rPr lang="en-US"/>
              <a:t>ENIAC</a:t>
            </a:r>
          </a:p>
          <a:p>
            <a:r>
              <a:rPr lang="en-US"/>
              <a:t/>
            </a:r>
          </a:p>
          <a:p>
            <a:r>
              <a:rPr lang="en-US"/>
              <a:t>"I can calculate very fast, but if you want me to do a different task, you need to change my wiring and switches."</a:t>
            </a:r>
          </a:p>
          <a:p>
            <a:r>
              <a:rPr lang="en-US"/>
              <a:t/>
            </a:r>
          </a:p>
          <a:p>
            <a:r>
              <a:rPr lang="en-US"/>
              <a:t>Changing ENIAC's configuration could require substantial human effort.</a:t>
            </a:r>
          </a:p>
          <a:p>
            <a:r>
              <a:rPr lang="en-US"/>
              <a:t/>
            </a:r>
          </a:p>
          <a:p>
            <a:r>
              <a:rPr lang="en-US"/>
              <a:t>EDVAC</a:t>
            </a:r>
          </a:p>
          <a:p>
            <a:r>
              <a:rPr lang="en-US"/>
              <a:t/>
            </a:r>
          </a:p>
          <a:p>
            <a:r>
              <a:rPr lang="en-US"/>
              <a:t>"Give me the program and data, and I can store them in my memory and execute the instructions."</a:t>
            </a:r>
          </a:p>
          <a:p>
            <a:r>
              <a:rPr lang="en-US"/>
              <a:t/>
            </a:r>
          </a:p>
          <a:p>
            <a:r>
              <a:rPr lang="en-US"/>
              <a:t>This stored-program concept made computers much more flexible and became a foundation of modern computer design.</a:t>
            </a:r>
          </a:p>
          <a:p>
            <a:r>
              <a:rPr lang="en-US"/>
              <a:t/>
            </a:r>
          </a:p>
          <a:p>
            <a:r>
              <a:rPr lang="en-US"/>
              <a:t/>
            </a:r>
          </a:p>
          <a:p>
            <a:r>
              <a:rPr lang="en-US"/>
              <a:t>How I would explain it to your students</a:t>
            </a:r>
          </a:p>
          <a:p>
            <a:r>
              <a:rPr lang="en-US"/>
              <a:t/>
            </a:r>
          </a:p>
          <a:p>
            <a:r>
              <a:rPr lang="en-US"/>
              <a:t>You can say:</a:t>
            </a:r>
          </a:p>
          <a:p>
            <a:r>
              <a:rPr lang="en-US"/>
              <a:t/>
            </a:r>
          </a:p>
          <a:p>
            <a:r>
              <a:rPr lang="en-US"/>
              <a:t>"ENIAC was like a calculator that had to be physically configured for different tasks. EDVAC introduced a better idea: instead of physically rewiring the machine, we could store the instructions in memory. The computer could then read and execute those instructions."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The main purpose of the Osborne 1 was to provide a portable personal computer that people could carry and use for work outside a traditional office or home computer setup.</a:t>
            </a:r>
          </a:p>
          <a:p>
            <a:r>
              <a:rPr lang="en-US"/>
              <a:t/>
            </a:r>
          </a:p>
          <a:p>
            <a:r>
              <a:rPr lang="en-US"/>
              <a:t>The Osborne 1 was introduced in 1981 and is widely regarded as the first commercially successful portable computer. It was designed to be transported between places, such as the office and home.</a:t>
            </a:r>
          </a:p>
          <a:p>
            <a:r>
              <a:rPr lang="en-US"/>
              <a:t/>
            </a:r>
          </a:p>
          <a:p>
            <a:r>
              <a:rPr lang="en-US"/>
              <a:t/>
            </a:r>
          </a:p>
          <a:p>
            <a:r>
              <a:rPr lang="en-US"/>
              <a:t>So you could explain:</a:t>
            </a:r>
          </a:p>
          <a:p>
            <a:r>
              <a:rPr lang="en-US"/>
              <a:t/>
            </a:r>
          </a:p>
          <a:p>
            <a:r>
              <a:rPr lang="en-US"/>
              <a:t>"The Osborne 1 was not created to perform one specific calculation like the Difference Engine or ABC. It was a general-purpose personal computer designed to allow users to perform everyday computing tasks while being able to transport the computer."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Main purpose</a:t>
            </a:r>
          </a:p>
          <a:p>
            <a:r>
              <a:rPr lang="en-US"/>
              <a:t/>
            </a:r>
          </a:p>
          <a:p>
            <a:r>
              <a:rPr lang="en-US"/>
              <a:t>The company's main purpose was to design, develop, manufacture, and sell electronic computers commercially.</a:t>
            </a:r>
          </a:p>
          <a:p>
            <a:r>
              <a:rPr lang="en-US"/>
              <a:t/>
            </a:r>
          </a:p>
          <a:p>
            <a:r>
              <a:rPr lang="en-US"/>
              <a:t>In simple terms:</a:t>
            </a:r>
          </a:p>
          <a:p>
            <a:r>
              <a:rPr lang="en-US"/>
              <a:t/>
            </a:r>
          </a:p>
          <a:p>
            <a:r>
              <a:rPr lang="en-US"/>
              <a:t>The First Computer Company was established to turn electronic computing from a research project into commercially available computer systems.</a:t>
            </a:r>
          </a:p>
          <a:p>
            <a:r>
              <a:rPr lang="en-US"/>
              <a:t/>
            </a:r>
          </a:p>
          <a:p>
            <a:r>
              <a:rPr lang="en-US"/>
              <a:t/>
            </a:r>
          </a:p>
          <a:p>
            <a:r>
              <a:rPr lang="en-US"/>
              <a:t>What did the company actually develop?</a:t>
            </a:r>
          </a:p>
          <a:p>
            <a:r>
              <a:rPr lang="en-US"/>
              <a:t/>
            </a:r>
          </a:p>
          <a:p>
            <a:r>
              <a:rPr lang="en-US"/>
              <a:t>One of its major projects was BINAC (Binary Automatic Computer), built for Northrop Aircraft. The company then developed UNIVAC, which became the first commercial computer in the United States.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notesSlides/notesSlide1.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2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3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3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3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3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3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34.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3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3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3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3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39.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40.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4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4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3.png" Type="http://schemas.openxmlformats.org/officeDocument/2006/relationships/image"/><Relationship Id="rId4" Target="../media/image4.svg" Type="http://schemas.openxmlformats.org/officeDocument/2006/relationships/image"/><Relationship Id="rId5" Target="../media/image4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634754" y="2332698"/>
            <a:ext cx="13018493" cy="1467494"/>
          </a:xfrm>
          <a:prstGeom prst="rect">
            <a:avLst/>
          </a:prstGeom>
        </p:spPr>
        <p:txBody>
          <a:bodyPr anchor="t" rtlCol="false" tIns="0" lIns="0" bIns="0" rIns="0">
            <a:spAutoFit/>
          </a:bodyPr>
          <a:lstStyle/>
          <a:p>
            <a:pPr algn="ctr">
              <a:lnSpc>
                <a:spcPts val="12039"/>
              </a:lnSpc>
            </a:pPr>
            <a:r>
              <a:rPr lang="en-US" b="true" sz="8599">
                <a:solidFill>
                  <a:srgbClr val="000000"/>
                </a:solidFill>
                <a:latin typeface="Century Gothic Paneuropean Bold"/>
                <a:ea typeface="Century Gothic Paneuropean Bold"/>
                <a:cs typeface="Century Gothic Paneuropean Bold"/>
                <a:sym typeface="Century Gothic Paneuropean Bold"/>
              </a:rPr>
              <a:t>FUNDAM</a:t>
            </a:r>
            <a:r>
              <a:rPr lang="en-US" b="true" sz="8599">
                <a:solidFill>
                  <a:srgbClr val="000000"/>
                </a:solidFill>
                <a:latin typeface="Century Gothic Paneuropean Bold"/>
                <a:ea typeface="Century Gothic Paneuropean Bold"/>
                <a:cs typeface="Century Gothic Paneuropean Bold"/>
                <a:sym typeface="Century Gothic Paneuropean Bold"/>
              </a:rPr>
              <a:t>ENTALS OF ICT:</a:t>
            </a:r>
          </a:p>
        </p:txBody>
      </p:sp>
      <p:sp>
        <p:nvSpPr>
          <p:cNvPr name="TextBox 3" id="3"/>
          <p:cNvSpPr txBox="true"/>
          <p:nvPr/>
        </p:nvSpPr>
        <p:spPr>
          <a:xfrm rot="0">
            <a:off x="3166582" y="3879850"/>
            <a:ext cx="11954835" cy="2095500"/>
          </a:xfrm>
          <a:prstGeom prst="rect">
            <a:avLst/>
          </a:prstGeom>
        </p:spPr>
        <p:txBody>
          <a:bodyPr anchor="t" rtlCol="false" tIns="0" lIns="0" bIns="0" rIns="0">
            <a:spAutoFit/>
          </a:bodyPr>
          <a:lstStyle/>
          <a:p>
            <a:pPr algn="ctr">
              <a:lnSpc>
                <a:spcPts val="8400"/>
              </a:lnSpc>
            </a:pPr>
            <a:r>
              <a:rPr lang="en-US" sz="6000" b="true">
                <a:solidFill>
                  <a:srgbClr val="000000"/>
                </a:solidFill>
                <a:latin typeface="Century Gothic Paneuropean Bold"/>
                <a:ea typeface="Century Gothic Paneuropean Bold"/>
                <a:cs typeface="Century Gothic Paneuropean Bold"/>
                <a:sym typeface="Century Gothic Paneuropean Bold"/>
              </a:rPr>
              <a:t>Part A: Components of Computer System</a:t>
            </a:r>
          </a:p>
        </p:txBody>
      </p:sp>
      <p:grpSp>
        <p:nvGrpSpPr>
          <p:cNvPr name="Group 4" id="4"/>
          <p:cNvGrpSpPr/>
          <p:nvPr/>
        </p:nvGrpSpPr>
        <p:grpSpPr>
          <a:xfrm rot="0">
            <a:off x="16718943" y="-989670"/>
            <a:ext cx="1080715" cy="2956684"/>
            <a:chOff x="0" y="0"/>
            <a:chExt cx="284633" cy="778715"/>
          </a:xfrm>
        </p:grpSpPr>
        <p:sp>
          <p:nvSpPr>
            <p:cNvPr name="Freeform 5" id="5"/>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6" id="6"/>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529352" y="9803843"/>
            <a:ext cx="19346704" cy="821917"/>
            <a:chOff x="0" y="0"/>
            <a:chExt cx="5095428" cy="216472"/>
          </a:xfrm>
        </p:grpSpPr>
        <p:sp>
          <p:nvSpPr>
            <p:cNvPr name="Freeform 8" id="8"/>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9" id="9"/>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488343" y="-989670"/>
            <a:ext cx="1080715" cy="2956684"/>
            <a:chOff x="0" y="0"/>
            <a:chExt cx="284633" cy="778715"/>
          </a:xfrm>
        </p:grpSpPr>
        <p:sp>
          <p:nvSpPr>
            <p:cNvPr name="Freeform 13" id="1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4" id="1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442702" y="5258998"/>
            <a:ext cx="2819985" cy="3186423"/>
          </a:xfrm>
          <a:custGeom>
            <a:avLst/>
            <a:gdLst/>
            <a:ahLst/>
            <a:cxnLst/>
            <a:rect r="r" b="b" t="t" l="l"/>
            <a:pathLst>
              <a:path h="3186423" w="2819985">
                <a:moveTo>
                  <a:pt x="0" y="0"/>
                </a:moveTo>
                <a:lnTo>
                  <a:pt x="2819985" y="0"/>
                </a:lnTo>
                <a:lnTo>
                  <a:pt x="2819985" y="3186423"/>
                </a:lnTo>
                <a:lnTo>
                  <a:pt x="0" y="31864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2171544" y="711868"/>
            <a:ext cx="5393874" cy="4746609"/>
            <a:chOff x="0" y="0"/>
            <a:chExt cx="7191831" cy="6328812"/>
          </a:xfrm>
        </p:grpSpPr>
        <p:sp>
          <p:nvSpPr>
            <p:cNvPr name="Freeform 15" id="15"/>
            <p:cNvSpPr/>
            <p:nvPr/>
          </p:nvSpPr>
          <p:spPr>
            <a:xfrm flipH="false" flipV="false" rot="0">
              <a:off x="0" y="0"/>
              <a:ext cx="7191831" cy="6328812"/>
            </a:xfrm>
            <a:custGeom>
              <a:avLst/>
              <a:gdLst/>
              <a:ahLst/>
              <a:cxnLst/>
              <a:rect r="r" b="b" t="t" l="l"/>
              <a:pathLst>
                <a:path h="6328812" w="7191831">
                  <a:moveTo>
                    <a:pt x="0" y="0"/>
                  </a:moveTo>
                  <a:lnTo>
                    <a:pt x="7191831" y="0"/>
                  </a:lnTo>
                  <a:lnTo>
                    <a:pt x="7191831" y="6328812"/>
                  </a:lnTo>
                  <a:lnTo>
                    <a:pt x="0" y="63288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734191" y="739617"/>
              <a:ext cx="5604440" cy="2905760"/>
            </a:xfrm>
            <a:prstGeom prst="rect">
              <a:avLst/>
            </a:prstGeom>
          </p:spPr>
          <p:txBody>
            <a:bodyPr anchor="t" rtlCol="false" tIns="0" lIns="0" bIns="0" rIns="0">
              <a:spAutoFit/>
            </a:bodyPr>
            <a:lstStyle/>
            <a:p>
              <a:pPr algn="l">
                <a:lnSpc>
                  <a:spcPts val="5880"/>
                </a:lnSpc>
                <a:spcBef>
                  <a:spcPct val="0"/>
                </a:spcBef>
              </a:pPr>
              <a:r>
                <a:rPr lang="en-US" b="true" sz="4200">
                  <a:solidFill>
                    <a:srgbClr val="000000"/>
                  </a:solidFill>
                  <a:latin typeface="Open Sans Bold"/>
                  <a:ea typeface="Open Sans Bold"/>
                  <a:cs typeface="Open Sans Bold"/>
                  <a:sym typeface="Open Sans Bold"/>
                </a:rPr>
                <a:t>H</a:t>
              </a:r>
              <a:r>
                <a:rPr lang="en-US" b="true" sz="4200">
                  <a:solidFill>
                    <a:srgbClr val="000000"/>
                  </a:solidFill>
                  <a:latin typeface="Open Sans Bold"/>
                  <a:ea typeface="Open Sans Bold"/>
                  <a:cs typeface="Open Sans Bold"/>
                  <a:sym typeface="Open Sans Bold"/>
                </a:rPr>
                <a:t>ow many computers did you use today?</a:t>
              </a:r>
            </a:p>
          </p:txBody>
        </p:sp>
      </p:grpSp>
      <p:grpSp>
        <p:nvGrpSpPr>
          <p:cNvPr name="Group 17" id="17"/>
          <p:cNvGrpSpPr/>
          <p:nvPr/>
        </p:nvGrpSpPr>
        <p:grpSpPr>
          <a:xfrm rot="0">
            <a:off x="8206299" y="1145293"/>
            <a:ext cx="8438083" cy="7739836"/>
            <a:chOff x="0" y="0"/>
            <a:chExt cx="11250777" cy="10319781"/>
          </a:xfrm>
        </p:grpSpPr>
        <p:sp>
          <p:nvSpPr>
            <p:cNvPr name="Freeform 18" id="18"/>
            <p:cNvSpPr/>
            <p:nvPr/>
          </p:nvSpPr>
          <p:spPr>
            <a:xfrm flipH="false" flipV="false" rot="0">
              <a:off x="945712" y="254083"/>
              <a:ext cx="3993944" cy="2556124"/>
            </a:xfrm>
            <a:custGeom>
              <a:avLst/>
              <a:gdLst/>
              <a:ahLst/>
              <a:cxnLst/>
              <a:rect r="r" b="b" t="t" l="l"/>
              <a:pathLst>
                <a:path h="2556124" w="3993944">
                  <a:moveTo>
                    <a:pt x="0" y="0"/>
                  </a:moveTo>
                  <a:lnTo>
                    <a:pt x="3993944" y="0"/>
                  </a:lnTo>
                  <a:lnTo>
                    <a:pt x="3993944" y="2556124"/>
                  </a:lnTo>
                  <a:lnTo>
                    <a:pt x="0" y="25561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9" id="19"/>
            <p:cNvSpPr txBox="true"/>
            <p:nvPr/>
          </p:nvSpPr>
          <p:spPr>
            <a:xfrm rot="0">
              <a:off x="945712" y="2762582"/>
              <a:ext cx="3993944" cy="621745"/>
            </a:xfrm>
            <a:prstGeom prst="rect">
              <a:avLst/>
            </a:prstGeom>
          </p:spPr>
          <p:txBody>
            <a:bodyPr anchor="t" rtlCol="false" tIns="0" lIns="0" bIns="0" rIns="0">
              <a:spAutoFit/>
            </a:bodyPr>
            <a:lstStyle/>
            <a:p>
              <a:pPr algn="ctr">
                <a:lnSpc>
                  <a:spcPts val="3969"/>
                </a:lnSpc>
                <a:spcBef>
                  <a:spcPct val="0"/>
                </a:spcBef>
              </a:pPr>
              <a:r>
                <a:rPr lang="en-US" b="true" sz="2835">
                  <a:solidFill>
                    <a:srgbClr val="000000"/>
                  </a:solidFill>
                  <a:latin typeface="Open Sans Bold"/>
                  <a:ea typeface="Open Sans Bold"/>
                  <a:cs typeface="Open Sans Bold"/>
                  <a:sym typeface="Open Sans Bold"/>
                </a:rPr>
                <a:t>Smart TV</a:t>
              </a:r>
            </a:p>
          </p:txBody>
        </p:sp>
        <p:sp>
          <p:nvSpPr>
            <p:cNvPr name="Freeform 20" id="20"/>
            <p:cNvSpPr/>
            <p:nvPr/>
          </p:nvSpPr>
          <p:spPr>
            <a:xfrm flipH="false" flipV="false" rot="908055">
              <a:off x="7019420" y="130573"/>
              <a:ext cx="1357295" cy="2687714"/>
            </a:xfrm>
            <a:custGeom>
              <a:avLst/>
              <a:gdLst/>
              <a:ahLst/>
              <a:cxnLst/>
              <a:rect r="r" b="b" t="t" l="l"/>
              <a:pathLst>
                <a:path h="2687714" w="1357295">
                  <a:moveTo>
                    <a:pt x="0" y="0"/>
                  </a:moveTo>
                  <a:lnTo>
                    <a:pt x="1357296" y="0"/>
                  </a:lnTo>
                  <a:lnTo>
                    <a:pt x="1357296" y="2687714"/>
                  </a:lnTo>
                  <a:lnTo>
                    <a:pt x="0" y="26877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1" id="21"/>
            <p:cNvSpPr txBox="true"/>
            <p:nvPr/>
          </p:nvSpPr>
          <p:spPr>
            <a:xfrm rot="0">
              <a:off x="5739756" y="3056449"/>
              <a:ext cx="3717177" cy="581960"/>
            </a:xfrm>
            <a:prstGeom prst="rect">
              <a:avLst/>
            </a:prstGeom>
          </p:spPr>
          <p:txBody>
            <a:bodyPr anchor="t" rtlCol="false" tIns="0" lIns="0" bIns="0" rIns="0">
              <a:spAutoFit/>
            </a:bodyPr>
            <a:lstStyle/>
            <a:p>
              <a:pPr algn="ctr">
                <a:lnSpc>
                  <a:spcPts val="3694"/>
                </a:lnSpc>
                <a:spcBef>
                  <a:spcPct val="0"/>
                </a:spcBef>
              </a:pPr>
              <a:r>
                <a:rPr lang="en-US" b="true" sz="2638">
                  <a:solidFill>
                    <a:srgbClr val="000000"/>
                  </a:solidFill>
                  <a:latin typeface="Open Sans Bold"/>
                  <a:ea typeface="Open Sans Bold"/>
                  <a:cs typeface="Open Sans Bold"/>
                  <a:sym typeface="Open Sans Bold"/>
                </a:rPr>
                <a:t>Cellphone</a:t>
              </a:r>
            </a:p>
          </p:txBody>
        </p:sp>
        <p:sp>
          <p:nvSpPr>
            <p:cNvPr name="Freeform 22" id="22"/>
            <p:cNvSpPr/>
            <p:nvPr/>
          </p:nvSpPr>
          <p:spPr>
            <a:xfrm flipH="false" flipV="false" rot="0">
              <a:off x="252267" y="4037930"/>
              <a:ext cx="3573988" cy="2841320"/>
            </a:xfrm>
            <a:custGeom>
              <a:avLst/>
              <a:gdLst/>
              <a:ahLst/>
              <a:cxnLst/>
              <a:rect r="r" b="b" t="t" l="l"/>
              <a:pathLst>
                <a:path h="2841320" w="3573988">
                  <a:moveTo>
                    <a:pt x="0" y="0"/>
                  </a:moveTo>
                  <a:lnTo>
                    <a:pt x="3573988" y="0"/>
                  </a:lnTo>
                  <a:lnTo>
                    <a:pt x="3573988" y="2841320"/>
                  </a:lnTo>
                  <a:lnTo>
                    <a:pt x="0" y="28413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3" id="23"/>
            <p:cNvSpPr txBox="true"/>
            <p:nvPr/>
          </p:nvSpPr>
          <p:spPr>
            <a:xfrm rot="0">
              <a:off x="0" y="6965793"/>
              <a:ext cx="4078522" cy="643428"/>
            </a:xfrm>
            <a:prstGeom prst="rect">
              <a:avLst/>
            </a:prstGeom>
          </p:spPr>
          <p:txBody>
            <a:bodyPr anchor="t" rtlCol="false" tIns="0" lIns="0" bIns="0" rIns="0">
              <a:spAutoFit/>
            </a:bodyPr>
            <a:lstStyle/>
            <a:p>
              <a:pPr algn="ctr">
                <a:lnSpc>
                  <a:spcPts val="4053"/>
                </a:lnSpc>
                <a:spcBef>
                  <a:spcPct val="0"/>
                </a:spcBef>
              </a:pPr>
              <a:r>
                <a:rPr lang="en-US" b="true" sz="2895">
                  <a:solidFill>
                    <a:srgbClr val="000000"/>
                  </a:solidFill>
                  <a:latin typeface="Open Sans Bold"/>
                  <a:ea typeface="Open Sans Bold"/>
                  <a:cs typeface="Open Sans Bold"/>
                  <a:sym typeface="Open Sans Bold"/>
                </a:rPr>
                <a:t>Laptop</a:t>
              </a:r>
            </a:p>
          </p:txBody>
        </p:sp>
        <p:sp>
          <p:nvSpPr>
            <p:cNvPr name="Freeform 24" id="24"/>
            <p:cNvSpPr/>
            <p:nvPr/>
          </p:nvSpPr>
          <p:spPr>
            <a:xfrm flipH="false" flipV="false" rot="0">
              <a:off x="4939656" y="4188292"/>
              <a:ext cx="2751791" cy="3237401"/>
            </a:xfrm>
            <a:custGeom>
              <a:avLst/>
              <a:gdLst/>
              <a:ahLst/>
              <a:cxnLst/>
              <a:rect r="r" b="b" t="t" l="l"/>
              <a:pathLst>
                <a:path h="3237401" w="2751791">
                  <a:moveTo>
                    <a:pt x="0" y="0"/>
                  </a:moveTo>
                  <a:lnTo>
                    <a:pt x="2751791" y="0"/>
                  </a:lnTo>
                  <a:lnTo>
                    <a:pt x="2751791" y="3237401"/>
                  </a:lnTo>
                  <a:lnTo>
                    <a:pt x="0" y="323740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5" id="25"/>
            <p:cNvSpPr txBox="true"/>
            <p:nvPr/>
          </p:nvSpPr>
          <p:spPr>
            <a:xfrm rot="0">
              <a:off x="5092250" y="7493610"/>
              <a:ext cx="2406644" cy="622723"/>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Open Sans Bold"/>
                  <a:ea typeface="Open Sans Bold"/>
                  <a:cs typeface="Open Sans Bold"/>
                  <a:sym typeface="Open Sans Bold"/>
                </a:rPr>
                <a:t>ATM </a:t>
              </a:r>
            </a:p>
          </p:txBody>
        </p:sp>
        <p:sp>
          <p:nvSpPr>
            <p:cNvPr name="Freeform 26" id="26"/>
            <p:cNvSpPr/>
            <p:nvPr/>
          </p:nvSpPr>
          <p:spPr>
            <a:xfrm flipH="false" flipV="false" rot="0">
              <a:off x="8237547" y="6127596"/>
              <a:ext cx="3013230" cy="3424125"/>
            </a:xfrm>
            <a:custGeom>
              <a:avLst/>
              <a:gdLst/>
              <a:ahLst/>
              <a:cxnLst/>
              <a:rect r="r" b="b" t="t" l="l"/>
              <a:pathLst>
                <a:path h="3424125" w="3013230">
                  <a:moveTo>
                    <a:pt x="0" y="0"/>
                  </a:moveTo>
                  <a:lnTo>
                    <a:pt x="3013230" y="0"/>
                  </a:lnTo>
                  <a:lnTo>
                    <a:pt x="3013230" y="3424125"/>
                  </a:lnTo>
                  <a:lnTo>
                    <a:pt x="0" y="3424125"/>
                  </a:lnTo>
                  <a:lnTo>
                    <a:pt x="0" y="0"/>
                  </a:lnTo>
                  <a:close/>
                </a:path>
              </a:pathLst>
            </a:custGeom>
            <a:blipFill>
              <a:blip r:embed="rId16"/>
              <a:stretch>
                <a:fillRect l="0" t="0" r="0" b="0"/>
              </a:stretch>
            </a:blipFill>
          </p:spPr>
        </p:sp>
        <p:sp>
          <p:nvSpPr>
            <p:cNvPr name="TextBox 27" id="27"/>
            <p:cNvSpPr txBox="true"/>
            <p:nvPr/>
          </p:nvSpPr>
          <p:spPr>
            <a:xfrm rot="0">
              <a:off x="7172256" y="9676353"/>
              <a:ext cx="4078522" cy="643428"/>
            </a:xfrm>
            <a:prstGeom prst="rect">
              <a:avLst/>
            </a:prstGeom>
          </p:spPr>
          <p:txBody>
            <a:bodyPr anchor="t" rtlCol="false" tIns="0" lIns="0" bIns="0" rIns="0">
              <a:spAutoFit/>
            </a:bodyPr>
            <a:lstStyle/>
            <a:p>
              <a:pPr algn="ctr">
                <a:lnSpc>
                  <a:spcPts val="4053"/>
                </a:lnSpc>
                <a:spcBef>
                  <a:spcPct val="0"/>
                </a:spcBef>
              </a:pPr>
              <a:r>
                <a:rPr lang="en-US" b="true" sz="2895">
                  <a:solidFill>
                    <a:srgbClr val="000000"/>
                  </a:solidFill>
                  <a:latin typeface="Open Sans Bold"/>
                  <a:ea typeface="Open Sans Bold"/>
                  <a:cs typeface="Open Sans Bold"/>
                  <a:sym typeface="Open Sans Bold"/>
                </a:rPr>
                <a:t>Computer</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442702" y="5258998"/>
            <a:ext cx="2819985" cy="3186423"/>
          </a:xfrm>
          <a:custGeom>
            <a:avLst/>
            <a:gdLst/>
            <a:ahLst/>
            <a:cxnLst/>
            <a:rect r="r" b="b" t="t" l="l"/>
            <a:pathLst>
              <a:path h="3186423" w="2819985">
                <a:moveTo>
                  <a:pt x="0" y="0"/>
                </a:moveTo>
                <a:lnTo>
                  <a:pt x="2819985" y="0"/>
                </a:lnTo>
                <a:lnTo>
                  <a:pt x="2819985" y="3186423"/>
                </a:lnTo>
                <a:lnTo>
                  <a:pt x="0" y="31864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2169451" y="788553"/>
            <a:ext cx="5219627" cy="4593238"/>
            <a:chOff x="0" y="0"/>
            <a:chExt cx="6959503" cy="6124318"/>
          </a:xfrm>
        </p:grpSpPr>
        <p:sp>
          <p:nvSpPr>
            <p:cNvPr name="Freeform 15" id="15"/>
            <p:cNvSpPr/>
            <p:nvPr/>
          </p:nvSpPr>
          <p:spPr>
            <a:xfrm flipH="false" flipV="false" rot="0">
              <a:off x="0" y="0"/>
              <a:ext cx="6959503" cy="6124318"/>
            </a:xfrm>
            <a:custGeom>
              <a:avLst/>
              <a:gdLst/>
              <a:ahLst/>
              <a:cxnLst/>
              <a:rect r="r" b="b" t="t" l="l"/>
              <a:pathLst>
                <a:path h="6124318" w="6959503">
                  <a:moveTo>
                    <a:pt x="0" y="0"/>
                  </a:moveTo>
                  <a:lnTo>
                    <a:pt x="6959503" y="0"/>
                  </a:lnTo>
                  <a:lnTo>
                    <a:pt x="6959503" y="6124318"/>
                  </a:lnTo>
                  <a:lnTo>
                    <a:pt x="0" y="61243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404151" y="957302"/>
              <a:ext cx="6151201" cy="2468784"/>
            </a:xfrm>
            <a:prstGeom prst="rect">
              <a:avLst/>
            </a:prstGeom>
          </p:spPr>
          <p:txBody>
            <a:bodyPr anchor="t" rtlCol="false" tIns="0" lIns="0" bIns="0" rIns="0">
              <a:spAutoFit/>
            </a:bodyPr>
            <a:lstStyle/>
            <a:p>
              <a:pPr algn="l">
                <a:lnSpc>
                  <a:spcPts val="5015"/>
                </a:lnSpc>
                <a:spcBef>
                  <a:spcPct val="0"/>
                </a:spcBef>
              </a:pPr>
              <a:r>
                <a:rPr lang="en-US" b="true" sz="3582">
                  <a:solidFill>
                    <a:srgbClr val="000000"/>
                  </a:solidFill>
                  <a:latin typeface="Open Sans Bold"/>
                  <a:ea typeface="Open Sans Bold"/>
                  <a:cs typeface="Open Sans Bold"/>
                  <a:sym typeface="Open Sans Bold"/>
                </a:rPr>
                <a:t>If they are</a:t>
              </a:r>
              <a:r>
                <a:rPr lang="en-US" b="true" sz="3582">
                  <a:solidFill>
                    <a:srgbClr val="000000"/>
                  </a:solidFill>
                  <a:latin typeface="Open Sans Bold"/>
                  <a:ea typeface="Open Sans Bold"/>
                  <a:cs typeface="Open Sans Bold"/>
                  <a:sym typeface="Open Sans Bold"/>
                </a:rPr>
                <a:t> all computers, why do they look different?</a:t>
              </a:r>
            </a:p>
          </p:txBody>
        </p:sp>
      </p:grpSp>
      <p:sp>
        <p:nvSpPr>
          <p:cNvPr name="Freeform 17" id="17"/>
          <p:cNvSpPr/>
          <p:nvPr/>
        </p:nvSpPr>
        <p:spPr>
          <a:xfrm flipH="false" flipV="false" rot="0">
            <a:off x="8915583" y="1335855"/>
            <a:ext cx="2995458" cy="1917093"/>
          </a:xfrm>
          <a:custGeom>
            <a:avLst/>
            <a:gdLst/>
            <a:ahLst/>
            <a:cxnLst/>
            <a:rect r="r" b="b" t="t" l="l"/>
            <a:pathLst>
              <a:path h="1917093" w="2995458">
                <a:moveTo>
                  <a:pt x="0" y="0"/>
                </a:moveTo>
                <a:lnTo>
                  <a:pt x="2995458" y="0"/>
                </a:lnTo>
                <a:lnTo>
                  <a:pt x="2995458" y="1917093"/>
                </a:lnTo>
                <a:lnTo>
                  <a:pt x="0" y="191709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8915583" y="3205323"/>
            <a:ext cx="2995458" cy="478215"/>
          </a:xfrm>
          <a:prstGeom prst="rect">
            <a:avLst/>
          </a:prstGeom>
        </p:spPr>
        <p:txBody>
          <a:bodyPr anchor="t" rtlCol="false" tIns="0" lIns="0" bIns="0" rIns="0">
            <a:spAutoFit/>
          </a:bodyPr>
          <a:lstStyle/>
          <a:p>
            <a:pPr algn="ctr">
              <a:lnSpc>
                <a:spcPts val="3969"/>
              </a:lnSpc>
              <a:spcBef>
                <a:spcPct val="0"/>
              </a:spcBef>
            </a:pPr>
            <a:r>
              <a:rPr lang="en-US" b="true" sz="2835">
                <a:solidFill>
                  <a:srgbClr val="000000"/>
                </a:solidFill>
                <a:latin typeface="Open Sans Bold"/>
                <a:ea typeface="Open Sans Bold"/>
                <a:cs typeface="Open Sans Bold"/>
                <a:sym typeface="Open Sans Bold"/>
              </a:rPr>
              <a:t>Smart TV</a:t>
            </a:r>
          </a:p>
        </p:txBody>
      </p:sp>
      <p:sp>
        <p:nvSpPr>
          <p:cNvPr name="Freeform 19" id="19"/>
          <p:cNvSpPr/>
          <p:nvPr/>
        </p:nvSpPr>
        <p:spPr>
          <a:xfrm flipH="false" flipV="false" rot="908055">
            <a:off x="13470864" y="1243223"/>
            <a:ext cx="1017972" cy="2015785"/>
          </a:xfrm>
          <a:custGeom>
            <a:avLst/>
            <a:gdLst/>
            <a:ahLst/>
            <a:cxnLst/>
            <a:rect r="r" b="b" t="t" l="l"/>
            <a:pathLst>
              <a:path h="2015785" w="1017972">
                <a:moveTo>
                  <a:pt x="0" y="0"/>
                </a:moveTo>
                <a:lnTo>
                  <a:pt x="1017972" y="0"/>
                </a:lnTo>
                <a:lnTo>
                  <a:pt x="1017972" y="2015785"/>
                </a:lnTo>
                <a:lnTo>
                  <a:pt x="0" y="201578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12511116" y="3425724"/>
            <a:ext cx="2787883" cy="448377"/>
          </a:xfrm>
          <a:prstGeom prst="rect">
            <a:avLst/>
          </a:prstGeom>
        </p:spPr>
        <p:txBody>
          <a:bodyPr anchor="t" rtlCol="false" tIns="0" lIns="0" bIns="0" rIns="0">
            <a:spAutoFit/>
          </a:bodyPr>
          <a:lstStyle/>
          <a:p>
            <a:pPr algn="ctr">
              <a:lnSpc>
                <a:spcPts val="3694"/>
              </a:lnSpc>
              <a:spcBef>
                <a:spcPct val="0"/>
              </a:spcBef>
            </a:pPr>
            <a:r>
              <a:rPr lang="en-US" b="true" sz="2638">
                <a:solidFill>
                  <a:srgbClr val="000000"/>
                </a:solidFill>
                <a:latin typeface="Open Sans Bold"/>
                <a:ea typeface="Open Sans Bold"/>
                <a:cs typeface="Open Sans Bold"/>
                <a:sym typeface="Open Sans Bold"/>
              </a:rPr>
              <a:t>Cellphone</a:t>
            </a:r>
          </a:p>
        </p:txBody>
      </p:sp>
      <p:sp>
        <p:nvSpPr>
          <p:cNvPr name="Freeform 21" id="21"/>
          <p:cNvSpPr/>
          <p:nvPr/>
        </p:nvSpPr>
        <p:spPr>
          <a:xfrm flipH="false" flipV="false" rot="0">
            <a:off x="8395499" y="4173741"/>
            <a:ext cx="2680491" cy="2130990"/>
          </a:xfrm>
          <a:custGeom>
            <a:avLst/>
            <a:gdLst/>
            <a:ahLst/>
            <a:cxnLst/>
            <a:rect r="r" b="b" t="t" l="l"/>
            <a:pathLst>
              <a:path h="2130990" w="2680491">
                <a:moveTo>
                  <a:pt x="0" y="0"/>
                </a:moveTo>
                <a:lnTo>
                  <a:pt x="2680491" y="0"/>
                </a:lnTo>
                <a:lnTo>
                  <a:pt x="2680491" y="2130990"/>
                </a:lnTo>
                <a:lnTo>
                  <a:pt x="0" y="213099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2" id="22"/>
          <p:cNvSpPr txBox="true"/>
          <p:nvPr/>
        </p:nvSpPr>
        <p:spPr>
          <a:xfrm rot="0">
            <a:off x="8206299" y="6355351"/>
            <a:ext cx="3058891" cy="496858"/>
          </a:xfrm>
          <a:prstGeom prst="rect">
            <a:avLst/>
          </a:prstGeom>
        </p:spPr>
        <p:txBody>
          <a:bodyPr anchor="t" rtlCol="false" tIns="0" lIns="0" bIns="0" rIns="0">
            <a:spAutoFit/>
          </a:bodyPr>
          <a:lstStyle/>
          <a:p>
            <a:pPr algn="ctr">
              <a:lnSpc>
                <a:spcPts val="4053"/>
              </a:lnSpc>
              <a:spcBef>
                <a:spcPct val="0"/>
              </a:spcBef>
            </a:pPr>
            <a:r>
              <a:rPr lang="en-US" b="true" sz="2895">
                <a:solidFill>
                  <a:srgbClr val="000000"/>
                </a:solidFill>
                <a:latin typeface="Open Sans Bold"/>
                <a:ea typeface="Open Sans Bold"/>
                <a:cs typeface="Open Sans Bold"/>
                <a:sym typeface="Open Sans Bold"/>
              </a:rPr>
              <a:t>Laptop</a:t>
            </a:r>
          </a:p>
        </p:txBody>
      </p:sp>
      <p:sp>
        <p:nvSpPr>
          <p:cNvPr name="Freeform 23" id="23"/>
          <p:cNvSpPr/>
          <p:nvPr/>
        </p:nvSpPr>
        <p:spPr>
          <a:xfrm flipH="false" flipV="false" rot="0">
            <a:off x="11911041" y="4286512"/>
            <a:ext cx="2063843" cy="2428051"/>
          </a:xfrm>
          <a:custGeom>
            <a:avLst/>
            <a:gdLst/>
            <a:ahLst/>
            <a:cxnLst/>
            <a:rect r="r" b="b" t="t" l="l"/>
            <a:pathLst>
              <a:path h="2428051" w="2063843">
                <a:moveTo>
                  <a:pt x="0" y="0"/>
                </a:moveTo>
                <a:lnTo>
                  <a:pt x="2063843" y="0"/>
                </a:lnTo>
                <a:lnTo>
                  <a:pt x="2063843" y="2428051"/>
                </a:lnTo>
                <a:lnTo>
                  <a:pt x="0" y="242805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4" id="24"/>
          <p:cNvSpPr txBox="true"/>
          <p:nvPr/>
        </p:nvSpPr>
        <p:spPr>
          <a:xfrm rot="0">
            <a:off x="12025486" y="6751213"/>
            <a:ext cx="1804983" cy="481330"/>
          </a:xfrm>
          <a:prstGeom prst="rect">
            <a:avLst/>
          </a:prstGeom>
        </p:spPr>
        <p:txBody>
          <a:bodyPr anchor="t" rtlCol="false" tIns="0" lIns="0" bIns="0" rIns="0">
            <a:spAutoFit/>
          </a:bodyPr>
          <a:lstStyle/>
          <a:p>
            <a:pPr algn="ctr">
              <a:lnSpc>
                <a:spcPts val="3919"/>
              </a:lnSpc>
              <a:spcBef>
                <a:spcPct val="0"/>
              </a:spcBef>
            </a:pPr>
            <a:r>
              <a:rPr lang="en-US" b="true" sz="2799">
                <a:solidFill>
                  <a:srgbClr val="000000"/>
                </a:solidFill>
                <a:latin typeface="Open Sans Bold"/>
                <a:ea typeface="Open Sans Bold"/>
                <a:cs typeface="Open Sans Bold"/>
                <a:sym typeface="Open Sans Bold"/>
              </a:rPr>
              <a:t>ATM </a:t>
            </a:r>
          </a:p>
        </p:txBody>
      </p:sp>
      <p:sp>
        <p:nvSpPr>
          <p:cNvPr name="Freeform 25" id="25"/>
          <p:cNvSpPr/>
          <p:nvPr/>
        </p:nvSpPr>
        <p:spPr>
          <a:xfrm flipH="false" flipV="false" rot="0">
            <a:off x="14384459" y="5740990"/>
            <a:ext cx="2259923" cy="2568094"/>
          </a:xfrm>
          <a:custGeom>
            <a:avLst/>
            <a:gdLst/>
            <a:ahLst/>
            <a:cxnLst/>
            <a:rect r="r" b="b" t="t" l="l"/>
            <a:pathLst>
              <a:path h="2568094" w="2259923">
                <a:moveTo>
                  <a:pt x="0" y="0"/>
                </a:moveTo>
                <a:lnTo>
                  <a:pt x="2259923" y="0"/>
                </a:lnTo>
                <a:lnTo>
                  <a:pt x="2259923" y="2568094"/>
                </a:lnTo>
                <a:lnTo>
                  <a:pt x="0" y="2568094"/>
                </a:lnTo>
                <a:lnTo>
                  <a:pt x="0" y="0"/>
                </a:lnTo>
                <a:close/>
              </a:path>
            </a:pathLst>
          </a:custGeom>
          <a:blipFill>
            <a:blip r:embed="rId16"/>
            <a:stretch>
              <a:fillRect l="0" t="0" r="0" b="0"/>
            </a:stretch>
          </a:blipFill>
        </p:spPr>
      </p:sp>
      <p:sp>
        <p:nvSpPr>
          <p:cNvPr name="TextBox 26" id="26"/>
          <p:cNvSpPr txBox="true"/>
          <p:nvPr/>
        </p:nvSpPr>
        <p:spPr>
          <a:xfrm rot="0">
            <a:off x="13585491" y="8388271"/>
            <a:ext cx="3058891" cy="496858"/>
          </a:xfrm>
          <a:prstGeom prst="rect">
            <a:avLst/>
          </a:prstGeom>
        </p:spPr>
        <p:txBody>
          <a:bodyPr anchor="t" rtlCol="false" tIns="0" lIns="0" bIns="0" rIns="0">
            <a:spAutoFit/>
          </a:bodyPr>
          <a:lstStyle/>
          <a:p>
            <a:pPr algn="ctr">
              <a:lnSpc>
                <a:spcPts val="4053"/>
              </a:lnSpc>
              <a:spcBef>
                <a:spcPct val="0"/>
              </a:spcBef>
            </a:pPr>
            <a:r>
              <a:rPr lang="en-US" b="true" sz="2895">
                <a:solidFill>
                  <a:srgbClr val="000000"/>
                </a:solidFill>
                <a:latin typeface="Open Sans Bold"/>
                <a:ea typeface="Open Sans Bold"/>
                <a:cs typeface="Open Sans Bold"/>
                <a:sym typeface="Open Sans Bold"/>
              </a:rPr>
              <a:t>Computer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1780988" y="7338818"/>
            <a:ext cx="2181820" cy="1919482"/>
            <a:chOff x="0" y="0"/>
            <a:chExt cx="2909094" cy="2559309"/>
          </a:xfrm>
        </p:grpSpPr>
        <p:sp>
          <p:nvSpPr>
            <p:cNvPr name="Freeform 14" id="14"/>
            <p:cNvSpPr/>
            <p:nvPr/>
          </p:nvSpPr>
          <p:spPr>
            <a:xfrm flipH="false" flipV="false" rot="0">
              <a:off x="508558" y="0"/>
              <a:ext cx="1891978" cy="1816299"/>
            </a:xfrm>
            <a:custGeom>
              <a:avLst/>
              <a:gdLst/>
              <a:ahLst/>
              <a:cxnLst/>
              <a:rect r="r" b="b" t="t" l="l"/>
              <a:pathLst>
                <a:path h="1816299" w="1891978">
                  <a:moveTo>
                    <a:pt x="0" y="0"/>
                  </a:moveTo>
                  <a:lnTo>
                    <a:pt x="1891978" y="0"/>
                  </a:lnTo>
                  <a:lnTo>
                    <a:pt x="1891978" y="1816299"/>
                  </a:lnTo>
                  <a:lnTo>
                    <a:pt x="0" y="18162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0" y="1914573"/>
              <a:ext cx="2909094" cy="644736"/>
            </a:xfrm>
            <a:prstGeom prst="rect">
              <a:avLst/>
            </a:prstGeom>
          </p:spPr>
          <p:txBody>
            <a:bodyPr anchor="t" rtlCol="false" tIns="0" lIns="0" bIns="0" rIns="0">
              <a:spAutoFit/>
            </a:bodyPr>
            <a:lstStyle/>
            <a:p>
              <a:pPr algn="ctr">
                <a:lnSpc>
                  <a:spcPts val="4060"/>
                </a:lnSpc>
                <a:spcBef>
                  <a:spcPct val="0"/>
                </a:spcBef>
              </a:pPr>
              <a:r>
                <a:rPr lang="en-US" b="true" sz="2900">
                  <a:solidFill>
                    <a:srgbClr val="000000"/>
                  </a:solidFill>
                  <a:latin typeface="Open Sans Bold"/>
                  <a:ea typeface="Open Sans Bold"/>
                  <a:cs typeface="Open Sans Bold"/>
                  <a:sym typeface="Open Sans Bold"/>
                </a:rPr>
                <a:t>I</a:t>
              </a:r>
              <a:r>
                <a:rPr lang="en-US" b="true" sz="2900">
                  <a:solidFill>
                    <a:srgbClr val="000000"/>
                  </a:solidFill>
                  <a:latin typeface="Open Sans Bold"/>
                  <a:ea typeface="Open Sans Bold"/>
                  <a:cs typeface="Open Sans Bold"/>
                  <a:sym typeface="Open Sans Bold"/>
                </a:rPr>
                <a:t>nput (data)</a:t>
              </a:r>
            </a:p>
          </p:txBody>
        </p:sp>
      </p:grpSp>
      <p:grpSp>
        <p:nvGrpSpPr>
          <p:cNvPr name="Group 16" id="16"/>
          <p:cNvGrpSpPr/>
          <p:nvPr/>
        </p:nvGrpSpPr>
        <p:grpSpPr>
          <a:xfrm rot="0">
            <a:off x="6159009" y="6558684"/>
            <a:ext cx="1418984" cy="2495177"/>
            <a:chOff x="0" y="0"/>
            <a:chExt cx="1891978" cy="3326902"/>
          </a:xfrm>
        </p:grpSpPr>
        <p:sp>
          <p:nvSpPr>
            <p:cNvPr name="Freeform 17" id="17"/>
            <p:cNvSpPr/>
            <p:nvPr/>
          </p:nvSpPr>
          <p:spPr>
            <a:xfrm flipH="false" flipV="false" rot="0">
              <a:off x="0" y="0"/>
              <a:ext cx="1891978" cy="1882519"/>
            </a:xfrm>
            <a:custGeom>
              <a:avLst/>
              <a:gdLst/>
              <a:ahLst/>
              <a:cxnLst/>
              <a:rect r="r" b="b" t="t" l="l"/>
              <a:pathLst>
                <a:path h="1882519" w="1891978">
                  <a:moveTo>
                    <a:pt x="0" y="0"/>
                  </a:moveTo>
                  <a:lnTo>
                    <a:pt x="1891978" y="0"/>
                  </a:lnTo>
                  <a:lnTo>
                    <a:pt x="1891978" y="1882519"/>
                  </a:lnTo>
                  <a:lnTo>
                    <a:pt x="0" y="18825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8" id="18"/>
            <p:cNvSpPr txBox="true"/>
            <p:nvPr/>
          </p:nvSpPr>
          <p:spPr>
            <a:xfrm rot="0">
              <a:off x="13035" y="1996366"/>
              <a:ext cx="1865908" cy="1330536"/>
            </a:xfrm>
            <a:prstGeom prst="rect">
              <a:avLst/>
            </a:prstGeom>
          </p:spPr>
          <p:txBody>
            <a:bodyPr anchor="t" rtlCol="false" tIns="0" lIns="0" bIns="0" rIns="0">
              <a:spAutoFit/>
            </a:bodyPr>
            <a:lstStyle/>
            <a:p>
              <a:pPr algn="ctr">
                <a:lnSpc>
                  <a:spcPts val="4060"/>
                </a:lnSpc>
                <a:spcBef>
                  <a:spcPct val="0"/>
                </a:spcBef>
              </a:pPr>
              <a:r>
                <a:rPr lang="en-US" b="true" sz="2900">
                  <a:solidFill>
                    <a:srgbClr val="000000"/>
                  </a:solidFill>
                  <a:latin typeface="Open Sans Bold"/>
                  <a:ea typeface="Open Sans Bold"/>
                  <a:cs typeface="Open Sans Bold"/>
                  <a:sym typeface="Open Sans Bold"/>
                </a:rPr>
                <a:t>Process (CPU)</a:t>
              </a:r>
            </a:p>
          </p:txBody>
        </p:sp>
      </p:grpSp>
      <p:grpSp>
        <p:nvGrpSpPr>
          <p:cNvPr name="Group 19" id="19"/>
          <p:cNvGrpSpPr/>
          <p:nvPr/>
        </p:nvGrpSpPr>
        <p:grpSpPr>
          <a:xfrm rot="0">
            <a:off x="9113878" y="7473398"/>
            <a:ext cx="3058058" cy="1784902"/>
            <a:chOff x="0" y="0"/>
            <a:chExt cx="4077410" cy="2379870"/>
          </a:xfrm>
        </p:grpSpPr>
        <p:sp>
          <p:nvSpPr>
            <p:cNvPr name="Freeform 20" id="20"/>
            <p:cNvSpPr/>
            <p:nvPr/>
          </p:nvSpPr>
          <p:spPr>
            <a:xfrm flipH="false" flipV="false" rot="0">
              <a:off x="1346483" y="0"/>
              <a:ext cx="1384445" cy="1715932"/>
            </a:xfrm>
            <a:custGeom>
              <a:avLst/>
              <a:gdLst/>
              <a:ahLst/>
              <a:cxnLst/>
              <a:rect r="r" b="b" t="t" l="l"/>
              <a:pathLst>
                <a:path h="1715932" w="1384445">
                  <a:moveTo>
                    <a:pt x="0" y="0"/>
                  </a:moveTo>
                  <a:lnTo>
                    <a:pt x="1384445" y="0"/>
                  </a:lnTo>
                  <a:lnTo>
                    <a:pt x="1384445" y="1715932"/>
                  </a:lnTo>
                  <a:lnTo>
                    <a:pt x="0" y="1715932"/>
                  </a:lnTo>
                  <a:lnTo>
                    <a:pt x="0" y="0"/>
                  </a:lnTo>
                  <a:close/>
                </a:path>
              </a:pathLst>
            </a:custGeom>
            <a:blipFill>
              <a:blip r:embed="rId9"/>
              <a:stretch>
                <a:fillRect l="0" t="0" r="0" b="0"/>
              </a:stretch>
            </a:blipFill>
          </p:spPr>
        </p:sp>
        <p:sp>
          <p:nvSpPr>
            <p:cNvPr name="TextBox 21" id="21"/>
            <p:cNvSpPr txBox="true"/>
            <p:nvPr/>
          </p:nvSpPr>
          <p:spPr>
            <a:xfrm rot="0">
              <a:off x="0" y="1816218"/>
              <a:ext cx="4077410" cy="563651"/>
            </a:xfrm>
            <a:prstGeom prst="rect">
              <a:avLst/>
            </a:prstGeom>
          </p:spPr>
          <p:txBody>
            <a:bodyPr anchor="t" rtlCol="false" tIns="0" lIns="0" bIns="0" rIns="0">
              <a:spAutoFit/>
            </a:bodyPr>
            <a:lstStyle/>
            <a:p>
              <a:pPr algn="ctr">
                <a:lnSpc>
                  <a:spcPts val="3565"/>
                </a:lnSpc>
                <a:spcBef>
                  <a:spcPct val="0"/>
                </a:spcBef>
              </a:pPr>
              <a:r>
                <a:rPr lang="en-US" b="true" sz="2546">
                  <a:solidFill>
                    <a:srgbClr val="000000"/>
                  </a:solidFill>
                  <a:latin typeface="Open Sans Bold"/>
                  <a:ea typeface="Open Sans Bold"/>
                  <a:cs typeface="Open Sans Bold"/>
                  <a:sym typeface="Open Sans Bold"/>
                </a:rPr>
                <a:t>Stores Information</a:t>
              </a:r>
            </a:p>
          </p:txBody>
        </p:sp>
      </p:grpSp>
      <p:grpSp>
        <p:nvGrpSpPr>
          <p:cNvPr name="Group 22" id="22"/>
          <p:cNvGrpSpPr/>
          <p:nvPr/>
        </p:nvGrpSpPr>
        <p:grpSpPr>
          <a:xfrm rot="0">
            <a:off x="13833352" y="6558684"/>
            <a:ext cx="2346605" cy="1749120"/>
            <a:chOff x="0" y="0"/>
            <a:chExt cx="3128806" cy="2332160"/>
          </a:xfrm>
        </p:grpSpPr>
        <p:sp>
          <p:nvSpPr>
            <p:cNvPr name="Freeform 23" id="23"/>
            <p:cNvSpPr/>
            <p:nvPr/>
          </p:nvSpPr>
          <p:spPr>
            <a:xfrm flipH="false" flipV="false" rot="0">
              <a:off x="662549" y="0"/>
              <a:ext cx="2000276" cy="1834545"/>
            </a:xfrm>
            <a:custGeom>
              <a:avLst/>
              <a:gdLst/>
              <a:ahLst/>
              <a:cxnLst/>
              <a:rect r="r" b="b" t="t" l="l"/>
              <a:pathLst>
                <a:path h="1834545" w="2000276">
                  <a:moveTo>
                    <a:pt x="0" y="0"/>
                  </a:moveTo>
                  <a:lnTo>
                    <a:pt x="2000276" y="0"/>
                  </a:lnTo>
                  <a:lnTo>
                    <a:pt x="2000276" y="1834545"/>
                  </a:lnTo>
                  <a:lnTo>
                    <a:pt x="0" y="1834545"/>
                  </a:lnTo>
                  <a:lnTo>
                    <a:pt x="0" y="0"/>
                  </a:lnTo>
                  <a:close/>
                </a:path>
              </a:pathLst>
            </a:custGeom>
            <a:blipFill>
              <a:blip r:embed="rId10"/>
              <a:stretch>
                <a:fillRect l="0" t="0" r="0" b="0"/>
              </a:stretch>
            </a:blipFill>
          </p:spPr>
        </p:sp>
        <p:sp>
          <p:nvSpPr>
            <p:cNvPr name="TextBox 24" id="24"/>
            <p:cNvSpPr txBox="true"/>
            <p:nvPr/>
          </p:nvSpPr>
          <p:spPr>
            <a:xfrm rot="0">
              <a:off x="0" y="1796445"/>
              <a:ext cx="3128806" cy="535715"/>
            </a:xfrm>
            <a:prstGeom prst="rect">
              <a:avLst/>
            </a:prstGeom>
          </p:spPr>
          <p:txBody>
            <a:bodyPr anchor="t" rtlCol="false" tIns="0" lIns="0" bIns="0" rIns="0">
              <a:spAutoFit/>
            </a:bodyPr>
            <a:lstStyle/>
            <a:p>
              <a:pPr algn="ctr">
                <a:lnSpc>
                  <a:spcPts val="3438"/>
                </a:lnSpc>
                <a:spcBef>
                  <a:spcPct val="0"/>
                </a:spcBef>
              </a:pPr>
              <a:r>
                <a:rPr lang="en-US" b="true" sz="2455">
                  <a:solidFill>
                    <a:srgbClr val="000000"/>
                  </a:solidFill>
                  <a:latin typeface="Open Sans Bold"/>
                  <a:ea typeface="Open Sans Bold"/>
                  <a:cs typeface="Open Sans Bold"/>
                  <a:sym typeface="Open Sans Bold"/>
                </a:rPr>
                <a:t>Display Output</a:t>
              </a:r>
            </a:p>
          </p:txBody>
        </p:sp>
      </p:grpSp>
      <p:grpSp>
        <p:nvGrpSpPr>
          <p:cNvPr name="Group 25" id="25"/>
          <p:cNvGrpSpPr/>
          <p:nvPr/>
        </p:nvGrpSpPr>
        <p:grpSpPr>
          <a:xfrm rot="-900807">
            <a:off x="4191905" y="7909554"/>
            <a:ext cx="1406730" cy="429332"/>
            <a:chOff x="0" y="0"/>
            <a:chExt cx="1908724" cy="582540"/>
          </a:xfrm>
        </p:grpSpPr>
        <p:sp>
          <p:nvSpPr>
            <p:cNvPr name="Freeform 26" id="26"/>
            <p:cNvSpPr/>
            <p:nvPr/>
          </p:nvSpPr>
          <p:spPr>
            <a:xfrm flipH="false" flipV="false" rot="0">
              <a:off x="0" y="0"/>
              <a:ext cx="1908724" cy="582540"/>
            </a:xfrm>
            <a:custGeom>
              <a:avLst/>
              <a:gdLst/>
              <a:ahLst/>
              <a:cxnLst/>
              <a:rect r="r" b="b" t="t" l="l"/>
              <a:pathLst>
                <a:path h="582540" w="1908724">
                  <a:moveTo>
                    <a:pt x="1908724" y="291270"/>
                  </a:moveTo>
                  <a:lnTo>
                    <a:pt x="1502324" y="0"/>
                  </a:lnTo>
                  <a:lnTo>
                    <a:pt x="1502324" y="203200"/>
                  </a:lnTo>
                  <a:lnTo>
                    <a:pt x="0" y="203200"/>
                  </a:lnTo>
                  <a:lnTo>
                    <a:pt x="0" y="379340"/>
                  </a:lnTo>
                  <a:lnTo>
                    <a:pt x="1502324" y="379340"/>
                  </a:lnTo>
                  <a:lnTo>
                    <a:pt x="1502324" y="582540"/>
                  </a:lnTo>
                  <a:lnTo>
                    <a:pt x="1908724" y="291270"/>
                  </a:lnTo>
                  <a:close/>
                </a:path>
              </a:pathLst>
            </a:custGeom>
            <a:solidFill>
              <a:srgbClr val="020401"/>
            </a:solidFill>
          </p:spPr>
        </p:sp>
        <p:sp>
          <p:nvSpPr>
            <p:cNvPr name="TextBox 27" id="27"/>
            <p:cNvSpPr txBox="true"/>
            <p:nvPr/>
          </p:nvSpPr>
          <p:spPr>
            <a:xfrm>
              <a:off x="0" y="165100"/>
              <a:ext cx="1807124" cy="214240"/>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3849743" y="876300"/>
            <a:ext cx="10588515" cy="1395104"/>
          </a:xfrm>
          <a:prstGeom prst="rect">
            <a:avLst/>
          </a:prstGeom>
        </p:spPr>
        <p:txBody>
          <a:bodyPr anchor="t" rtlCol="false" tIns="0" lIns="0" bIns="0" rIns="0">
            <a:spAutoFit/>
          </a:bodyPr>
          <a:lstStyle/>
          <a:p>
            <a:pPr algn="ctr">
              <a:lnSpc>
                <a:spcPts val="11469"/>
              </a:lnSpc>
            </a:pPr>
            <a:r>
              <a:rPr lang="en-US" b="true" sz="8192">
                <a:solidFill>
                  <a:srgbClr val="000000"/>
                </a:solidFill>
                <a:latin typeface="Century Gothic Paneuropean Bold"/>
                <a:ea typeface="Century Gothic Paneuropean Bold"/>
                <a:cs typeface="Century Gothic Paneuropean Bold"/>
                <a:sym typeface="Century Gothic Paneuropean Bold"/>
              </a:rPr>
              <a:t>WHAT IS COMPUTER?</a:t>
            </a:r>
          </a:p>
        </p:txBody>
      </p:sp>
      <p:sp>
        <p:nvSpPr>
          <p:cNvPr name="TextBox 29" id="29"/>
          <p:cNvSpPr txBox="true"/>
          <p:nvPr/>
        </p:nvSpPr>
        <p:spPr>
          <a:xfrm rot="0">
            <a:off x="1998660" y="2779007"/>
            <a:ext cx="14290680" cy="3313430"/>
          </a:xfrm>
          <a:prstGeom prst="rect">
            <a:avLst/>
          </a:prstGeom>
        </p:spPr>
        <p:txBody>
          <a:bodyPr anchor="t" rtlCol="false" tIns="0" lIns="0" bIns="0" rIns="0">
            <a:spAutoFit/>
          </a:bodyPr>
          <a:lstStyle/>
          <a:p>
            <a:pPr algn="just" marL="820417" indent="-410209" lvl="1">
              <a:lnSpc>
                <a:spcPts val="5319"/>
              </a:lnSpc>
              <a:buFont typeface="Arial"/>
              <a:buChar char="•"/>
            </a:pPr>
            <a:r>
              <a:rPr lang="en-US" b="true" sz="3799">
                <a:solidFill>
                  <a:srgbClr val="000000"/>
                </a:solidFill>
                <a:latin typeface="Century Gothic Paneuropean Bold"/>
                <a:ea typeface="Century Gothic Paneuropean Bold"/>
                <a:cs typeface="Century Gothic Paneuropean Bold"/>
                <a:sym typeface="Century Gothic Paneuropean Bold"/>
              </a:rPr>
              <a:t>Computer </a:t>
            </a:r>
            <a:r>
              <a:rPr lang="en-US" sz="3799">
                <a:solidFill>
                  <a:srgbClr val="000000"/>
                </a:solidFill>
                <a:latin typeface="Century Gothic Paneuropean"/>
                <a:ea typeface="Century Gothic Paneuropean"/>
                <a:cs typeface="Century Gothic Paneuropean"/>
                <a:sym typeface="Century Gothic Paneuropean"/>
              </a:rPr>
              <a:t>is an electronic device that processes data according to instructions provided by software programs. It takes input (data), processes it using a central processing unit (CPU), stores information, and produces output (results) to perform various tasks.</a:t>
            </a:r>
          </a:p>
        </p:txBody>
      </p:sp>
      <p:grpSp>
        <p:nvGrpSpPr>
          <p:cNvPr name="Group 30" id="30"/>
          <p:cNvGrpSpPr/>
          <p:nvPr/>
        </p:nvGrpSpPr>
        <p:grpSpPr>
          <a:xfrm rot="732790">
            <a:off x="7949825" y="7909554"/>
            <a:ext cx="1406730" cy="429332"/>
            <a:chOff x="0" y="0"/>
            <a:chExt cx="1908724" cy="582540"/>
          </a:xfrm>
        </p:grpSpPr>
        <p:sp>
          <p:nvSpPr>
            <p:cNvPr name="Freeform 31" id="31"/>
            <p:cNvSpPr/>
            <p:nvPr/>
          </p:nvSpPr>
          <p:spPr>
            <a:xfrm flipH="false" flipV="false" rot="0">
              <a:off x="0" y="0"/>
              <a:ext cx="1908724" cy="582540"/>
            </a:xfrm>
            <a:custGeom>
              <a:avLst/>
              <a:gdLst/>
              <a:ahLst/>
              <a:cxnLst/>
              <a:rect r="r" b="b" t="t" l="l"/>
              <a:pathLst>
                <a:path h="582540" w="1908724">
                  <a:moveTo>
                    <a:pt x="1908724" y="291270"/>
                  </a:moveTo>
                  <a:lnTo>
                    <a:pt x="1502324" y="0"/>
                  </a:lnTo>
                  <a:lnTo>
                    <a:pt x="1502324" y="203200"/>
                  </a:lnTo>
                  <a:lnTo>
                    <a:pt x="0" y="203200"/>
                  </a:lnTo>
                  <a:lnTo>
                    <a:pt x="0" y="379340"/>
                  </a:lnTo>
                  <a:lnTo>
                    <a:pt x="1502324" y="379340"/>
                  </a:lnTo>
                  <a:lnTo>
                    <a:pt x="1502324" y="582540"/>
                  </a:lnTo>
                  <a:lnTo>
                    <a:pt x="1908724" y="291270"/>
                  </a:lnTo>
                  <a:close/>
                </a:path>
              </a:pathLst>
            </a:custGeom>
            <a:solidFill>
              <a:srgbClr val="020401"/>
            </a:solidFill>
          </p:spPr>
        </p:sp>
        <p:sp>
          <p:nvSpPr>
            <p:cNvPr name="TextBox 32" id="32"/>
            <p:cNvSpPr txBox="true"/>
            <p:nvPr/>
          </p:nvSpPr>
          <p:spPr>
            <a:xfrm>
              <a:off x="0" y="165100"/>
              <a:ext cx="1807124" cy="214240"/>
            </a:xfrm>
            <a:prstGeom prst="rect">
              <a:avLst/>
            </a:prstGeom>
          </p:spPr>
          <p:txBody>
            <a:bodyPr anchor="ctr" rtlCol="false" tIns="50800" lIns="50800" bIns="50800" rIns="50800"/>
            <a:lstStyle/>
            <a:p>
              <a:pPr algn="ctr">
                <a:lnSpc>
                  <a:spcPts val="2659"/>
                </a:lnSpc>
              </a:pPr>
            </a:p>
          </p:txBody>
        </p:sp>
      </p:grpSp>
      <p:grpSp>
        <p:nvGrpSpPr>
          <p:cNvPr name="Group 33" id="33"/>
          <p:cNvGrpSpPr/>
          <p:nvPr/>
        </p:nvGrpSpPr>
        <p:grpSpPr>
          <a:xfrm rot="-1136166">
            <a:off x="11907613" y="7964151"/>
            <a:ext cx="1406730" cy="429332"/>
            <a:chOff x="0" y="0"/>
            <a:chExt cx="1908724" cy="582540"/>
          </a:xfrm>
        </p:grpSpPr>
        <p:sp>
          <p:nvSpPr>
            <p:cNvPr name="Freeform 34" id="34"/>
            <p:cNvSpPr/>
            <p:nvPr/>
          </p:nvSpPr>
          <p:spPr>
            <a:xfrm flipH="false" flipV="false" rot="0">
              <a:off x="0" y="0"/>
              <a:ext cx="1908724" cy="582540"/>
            </a:xfrm>
            <a:custGeom>
              <a:avLst/>
              <a:gdLst/>
              <a:ahLst/>
              <a:cxnLst/>
              <a:rect r="r" b="b" t="t" l="l"/>
              <a:pathLst>
                <a:path h="582540" w="1908724">
                  <a:moveTo>
                    <a:pt x="1908724" y="291270"/>
                  </a:moveTo>
                  <a:lnTo>
                    <a:pt x="1502324" y="0"/>
                  </a:lnTo>
                  <a:lnTo>
                    <a:pt x="1502324" y="203200"/>
                  </a:lnTo>
                  <a:lnTo>
                    <a:pt x="0" y="203200"/>
                  </a:lnTo>
                  <a:lnTo>
                    <a:pt x="0" y="379340"/>
                  </a:lnTo>
                  <a:lnTo>
                    <a:pt x="1502324" y="379340"/>
                  </a:lnTo>
                  <a:lnTo>
                    <a:pt x="1502324" y="582540"/>
                  </a:lnTo>
                  <a:lnTo>
                    <a:pt x="1908724" y="291270"/>
                  </a:lnTo>
                  <a:close/>
                </a:path>
              </a:pathLst>
            </a:custGeom>
            <a:solidFill>
              <a:srgbClr val="020401"/>
            </a:solidFill>
          </p:spPr>
        </p:sp>
        <p:sp>
          <p:nvSpPr>
            <p:cNvPr name="TextBox 35" id="35"/>
            <p:cNvSpPr txBox="true"/>
            <p:nvPr/>
          </p:nvSpPr>
          <p:spPr>
            <a:xfrm>
              <a:off x="0" y="165100"/>
              <a:ext cx="1807124" cy="21424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442702" y="5258998"/>
            <a:ext cx="2819985" cy="3186423"/>
          </a:xfrm>
          <a:custGeom>
            <a:avLst/>
            <a:gdLst/>
            <a:ahLst/>
            <a:cxnLst/>
            <a:rect r="r" b="b" t="t" l="l"/>
            <a:pathLst>
              <a:path h="3186423" w="2819985">
                <a:moveTo>
                  <a:pt x="0" y="0"/>
                </a:moveTo>
                <a:lnTo>
                  <a:pt x="2819985" y="0"/>
                </a:lnTo>
                <a:lnTo>
                  <a:pt x="2819985" y="3186423"/>
                </a:lnTo>
                <a:lnTo>
                  <a:pt x="0" y="31864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2171544" y="711868"/>
            <a:ext cx="5393874" cy="4746609"/>
          </a:xfrm>
          <a:custGeom>
            <a:avLst/>
            <a:gdLst/>
            <a:ahLst/>
            <a:cxnLst/>
            <a:rect r="r" b="b" t="t" l="l"/>
            <a:pathLst>
              <a:path h="4746609" w="5393874">
                <a:moveTo>
                  <a:pt x="0" y="0"/>
                </a:moveTo>
                <a:lnTo>
                  <a:pt x="5393873" y="0"/>
                </a:lnTo>
                <a:lnTo>
                  <a:pt x="5393873" y="4746609"/>
                </a:lnTo>
                <a:lnTo>
                  <a:pt x="0" y="47466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2584475" y="1126417"/>
            <a:ext cx="4568012" cy="2770506"/>
          </a:xfrm>
          <a:prstGeom prst="rect">
            <a:avLst/>
          </a:prstGeom>
        </p:spPr>
        <p:txBody>
          <a:bodyPr anchor="t" rtlCol="false" tIns="0" lIns="0" bIns="0" rIns="0">
            <a:spAutoFit/>
          </a:bodyPr>
          <a:lstStyle/>
          <a:p>
            <a:pPr algn="ctr">
              <a:lnSpc>
                <a:spcPts val="7419"/>
              </a:lnSpc>
              <a:spcBef>
                <a:spcPct val="0"/>
              </a:spcBef>
            </a:pPr>
            <a:r>
              <a:rPr lang="en-US" b="true" sz="5299">
                <a:solidFill>
                  <a:srgbClr val="C80505"/>
                </a:solidFill>
                <a:latin typeface="Open Sans Bold"/>
                <a:ea typeface="Open Sans Bold"/>
                <a:cs typeface="Open Sans Bold"/>
                <a:sym typeface="Open Sans Bold"/>
              </a:rPr>
              <a:t>Wh</a:t>
            </a:r>
            <a:r>
              <a:rPr lang="en-US" b="true" sz="5299">
                <a:solidFill>
                  <a:srgbClr val="C80505"/>
                </a:solidFill>
                <a:latin typeface="Open Sans Bold"/>
                <a:ea typeface="Open Sans Bold"/>
                <a:cs typeface="Open Sans Bold"/>
                <a:sym typeface="Open Sans Bold"/>
              </a:rPr>
              <a:t>y Were Computers Invented?</a:t>
            </a:r>
          </a:p>
        </p:txBody>
      </p:sp>
      <p:sp>
        <p:nvSpPr>
          <p:cNvPr name="TextBox 16" id="16"/>
          <p:cNvSpPr txBox="true"/>
          <p:nvPr/>
        </p:nvSpPr>
        <p:spPr>
          <a:xfrm rot="0">
            <a:off x="8486540" y="3095870"/>
            <a:ext cx="7438708" cy="4637405"/>
          </a:xfrm>
          <a:prstGeom prst="rect">
            <a:avLst/>
          </a:prstGeom>
        </p:spPr>
        <p:txBody>
          <a:bodyPr anchor="t" rtlCol="false" tIns="0" lIns="0" bIns="0" rIns="0">
            <a:spAutoFit/>
          </a:bodyPr>
          <a:lstStyle/>
          <a:p>
            <a:pPr algn="just">
              <a:lnSpc>
                <a:spcPts val="7419"/>
              </a:lnSpc>
              <a:spcBef>
                <a:spcPct val="0"/>
              </a:spcBef>
            </a:pPr>
            <a:r>
              <a:rPr lang="en-US" b="true" sz="5299">
                <a:solidFill>
                  <a:srgbClr val="000000"/>
                </a:solidFill>
                <a:latin typeface="Open Sans Bold"/>
                <a:ea typeface="Open Sans Bold"/>
                <a:cs typeface="Open Sans Bold"/>
                <a:sym typeface="Open Sans Bold"/>
              </a:rPr>
              <a:t>T</a:t>
            </a:r>
            <a:r>
              <a:rPr lang="en-US" b="true" sz="5299">
                <a:solidFill>
                  <a:srgbClr val="000000"/>
                </a:solidFill>
                <a:latin typeface="Open Sans Bold"/>
                <a:ea typeface="Open Sans Bold"/>
                <a:cs typeface="Open Sans Bold"/>
                <a:sym typeface="Open Sans Bold"/>
              </a:rPr>
              <a:t>o automate complex calculations, reduce human error, and increase efficiency in processing data.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648767" y="2306662"/>
            <a:ext cx="14990467" cy="778510"/>
          </a:xfrm>
          <a:prstGeom prst="rect">
            <a:avLst/>
          </a:prstGeom>
        </p:spPr>
        <p:txBody>
          <a:bodyPr anchor="t" rtlCol="false" tIns="0" lIns="0" bIns="0" rIns="0">
            <a:spAutoFit/>
          </a:bodyPr>
          <a:lstStyle/>
          <a:p>
            <a:pPr algn="ctr">
              <a:lnSpc>
                <a:spcPts val="6439"/>
              </a:lnSpc>
              <a:spcBef>
                <a:spcPct val="0"/>
              </a:spcBef>
            </a:pPr>
            <a:r>
              <a:rPr lang="en-US" b="true" sz="4599">
                <a:solidFill>
                  <a:srgbClr val="000000"/>
                </a:solidFill>
                <a:latin typeface="Open Sans Bold"/>
                <a:ea typeface="Open Sans Bold"/>
                <a:cs typeface="Open Sans Bold"/>
                <a:sym typeface="Open Sans Bold"/>
              </a:rPr>
              <a:t>History of Computer: Basic Computing Periods</a:t>
            </a:r>
          </a:p>
        </p:txBody>
      </p:sp>
      <p:sp>
        <p:nvSpPr>
          <p:cNvPr name="TextBox 14" id="14"/>
          <p:cNvSpPr txBox="true"/>
          <p:nvPr/>
        </p:nvSpPr>
        <p:spPr>
          <a:xfrm rot="0">
            <a:off x="1648767" y="3596533"/>
            <a:ext cx="14600738" cy="1099820"/>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Open Sans"/>
                <a:ea typeface="Open Sans"/>
                <a:cs typeface="Open Sans"/>
                <a:sym typeface="Open Sans"/>
              </a:rPr>
              <a:t>Earliest Computers originally calculations were computed by humans, whose job title was computers.</a:t>
            </a:r>
          </a:p>
        </p:txBody>
      </p:sp>
      <p:sp>
        <p:nvSpPr>
          <p:cNvPr name="TextBox 15" id="15"/>
          <p:cNvSpPr txBox="true"/>
          <p:nvPr/>
        </p:nvSpPr>
        <p:spPr>
          <a:xfrm rot="0">
            <a:off x="1648767" y="5048143"/>
            <a:ext cx="14600738" cy="976630"/>
          </a:xfrm>
          <a:prstGeom prst="rect">
            <a:avLst/>
          </a:prstGeom>
        </p:spPr>
        <p:txBody>
          <a:bodyPr anchor="t" rtlCol="false" tIns="0" lIns="0" bIns="0" rIns="0">
            <a:spAutoFit/>
          </a:bodyPr>
          <a:lstStyle/>
          <a:p>
            <a:pPr algn="l" marL="604523" indent="-302261" lvl="1">
              <a:lnSpc>
                <a:spcPts val="3920"/>
              </a:lnSpc>
              <a:buFont typeface="Arial"/>
              <a:buChar char="•"/>
            </a:pPr>
            <a:r>
              <a:rPr lang="en-US" sz="2800">
                <a:solidFill>
                  <a:srgbClr val="000000"/>
                </a:solidFill>
                <a:latin typeface="Open Sans"/>
                <a:ea typeface="Open Sans"/>
                <a:cs typeface="Open Sans"/>
                <a:sym typeface="Open Sans"/>
              </a:rPr>
              <a:t>These human computers were typically engaged in the calculation of a mathematical expression. </a:t>
            </a:r>
          </a:p>
        </p:txBody>
      </p:sp>
      <p:sp>
        <p:nvSpPr>
          <p:cNvPr name="TextBox 16" id="16"/>
          <p:cNvSpPr txBox="true"/>
          <p:nvPr/>
        </p:nvSpPr>
        <p:spPr>
          <a:xfrm rot="0">
            <a:off x="1648767" y="6377198"/>
            <a:ext cx="14600738" cy="976630"/>
          </a:xfrm>
          <a:prstGeom prst="rect">
            <a:avLst/>
          </a:prstGeom>
        </p:spPr>
        <p:txBody>
          <a:bodyPr anchor="t" rtlCol="false" tIns="0" lIns="0" bIns="0" rIns="0">
            <a:spAutoFit/>
          </a:bodyPr>
          <a:lstStyle/>
          <a:p>
            <a:pPr algn="l" marL="604523" indent="-302261" lvl="1">
              <a:lnSpc>
                <a:spcPts val="3920"/>
              </a:lnSpc>
              <a:buFont typeface="Arial"/>
              <a:buChar char="•"/>
            </a:pPr>
            <a:r>
              <a:rPr lang="en-US" sz="2800">
                <a:solidFill>
                  <a:srgbClr val="000000"/>
                </a:solidFill>
                <a:latin typeface="Open Sans"/>
                <a:ea typeface="Open Sans"/>
                <a:cs typeface="Open Sans"/>
                <a:sym typeface="Open Sans"/>
              </a:rPr>
              <a:t>The calculations of this period were specialized and expensive, requiring years of training in mathematics.</a:t>
            </a:r>
          </a:p>
        </p:txBody>
      </p:sp>
      <p:sp>
        <p:nvSpPr>
          <p:cNvPr name="TextBox 17" id="17"/>
          <p:cNvSpPr txBox="true"/>
          <p:nvPr/>
        </p:nvSpPr>
        <p:spPr>
          <a:xfrm rot="0">
            <a:off x="1648767" y="7706253"/>
            <a:ext cx="14600738" cy="1471930"/>
          </a:xfrm>
          <a:prstGeom prst="rect">
            <a:avLst/>
          </a:prstGeom>
        </p:spPr>
        <p:txBody>
          <a:bodyPr anchor="t" rtlCol="false" tIns="0" lIns="0" bIns="0" rIns="0">
            <a:spAutoFit/>
          </a:bodyPr>
          <a:lstStyle/>
          <a:p>
            <a:pPr algn="l" marL="604523" indent="-302261" lvl="1">
              <a:lnSpc>
                <a:spcPts val="3920"/>
              </a:lnSpc>
              <a:buFont typeface="Arial"/>
              <a:buChar char="•"/>
            </a:pPr>
            <a:r>
              <a:rPr lang="en-US" sz="2800">
                <a:solidFill>
                  <a:srgbClr val="000000"/>
                </a:solidFill>
                <a:latin typeface="Open Sans"/>
                <a:ea typeface="Open Sans"/>
                <a:cs typeface="Open Sans"/>
                <a:sym typeface="Open Sans"/>
              </a:rPr>
              <a:t>The first use of the word "computer" was recorded in 1613, referring to a person who carried out calculations, or computations, and the word continued to be used in that sense until the middle of the 20th century.</a:t>
            </a:r>
          </a:p>
        </p:txBody>
      </p:sp>
      <p:sp>
        <p:nvSpPr>
          <p:cNvPr name="TextBox 18" id="18"/>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4" id="14"/>
          <p:cNvSpPr txBox="true"/>
          <p:nvPr/>
        </p:nvSpPr>
        <p:spPr>
          <a:xfrm rot="0">
            <a:off x="7610252" y="2535898"/>
            <a:ext cx="3067496"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T</a:t>
            </a:r>
            <a:r>
              <a:rPr lang="en-US" b="true" sz="4399">
                <a:solidFill>
                  <a:srgbClr val="000000"/>
                </a:solidFill>
                <a:latin typeface="Open Sans Bold"/>
                <a:ea typeface="Open Sans Bold"/>
                <a:cs typeface="Open Sans Bold"/>
                <a:sym typeface="Open Sans Bold"/>
              </a:rPr>
              <a:t>ally sticks</a:t>
            </a:r>
          </a:p>
        </p:txBody>
      </p:sp>
      <p:sp>
        <p:nvSpPr>
          <p:cNvPr name="TextBox 15" id="15"/>
          <p:cNvSpPr txBox="true"/>
          <p:nvPr/>
        </p:nvSpPr>
        <p:spPr>
          <a:xfrm rot="0">
            <a:off x="1569057" y="3414310"/>
            <a:ext cx="7574943" cy="1661795"/>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Open Sans"/>
                <a:ea typeface="Open Sans"/>
                <a:cs typeface="Open Sans"/>
                <a:sym typeface="Open Sans"/>
              </a:rPr>
              <a:t>A tally stick was an ancient memory aid device to r</a:t>
            </a:r>
            <a:r>
              <a:rPr lang="en-US" sz="3200">
                <a:solidFill>
                  <a:srgbClr val="000000"/>
                </a:solidFill>
                <a:latin typeface="Open Sans"/>
                <a:ea typeface="Open Sans"/>
                <a:cs typeface="Open Sans"/>
                <a:sym typeface="Open Sans"/>
              </a:rPr>
              <a:t>ecord and do</a:t>
            </a:r>
            <a:r>
              <a:rPr lang="en-US" sz="3200">
                <a:solidFill>
                  <a:srgbClr val="000000"/>
                </a:solidFill>
                <a:latin typeface="Open Sans"/>
                <a:ea typeface="Open Sans"/>
                <a:cs typeface="Open Sans"/>
                <a:sym typeface="Open Sans"/>
              </a:rPr>
              <a:t>cument numbers, quantities, or even messages.</a:t>
            </a:r>
          </a:p>
        </p:txBody>
      </p:sp>
      <p:sp>
        <p:nvSpPr>
          <p:cNvPr name="Freeform 16" id="16"/>
          <p:cNvSpPr/>
          <p:nvPr/>
        </p:nvSpPr>
        <p:spPr>
          <a:xfrm flipH="false" flipV="false" rot="0">
            <a:off x="9858615" y="3471460"/>
            <a:ext cx="6686070" cy="2390270"/>
          </a:xfrm>
          <a:custGeom>
            <a:avLst/>
            <a:gdLst/>
            <a:ahLst/>
            <a:cxnLst/>
            <a:rect r="r" b="b" t="t" l="l"/>
            <a:pathLst>
              <a:path h="2390270" w="6686070">
                <a:moveTo>
                  <a:pt x="0" y="0"/>
                </a:moveTo>
                <a:lnTo>
                  <a:pt x="6686070" y="0"/>
                </a:lnTo>
                <a:lnTo>
                  <a:pt x="6686070" y="2390270"/>
                </a:lnTo>
                <a:lnTo>
                  <a:pt x="0" y="2390270"/>
                </a:lnTo>
                <a:lnTo>
                  <a:pt x="0" y="0"/>
                </a:lnTo>
                <a:close/>
              </a:path>
            </a:pathLst>
          </a:custGeom>
          <a:blipFill>
            <a:blip r:embed="rId5"/>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841867" y="3471460"/>
            <a:ext cx="4719566" cy="4719566"/>
          </a:xfrm>
          <a:custGeom>
            <a:avLst/>
            <a:gdLst/>
            <a:ahLst/>
            <a:cxnLst/>
            <a:rect r="r" b="b" t="t" l="l"/>
            <a:pathLst>
              <a:path h="4719566" w="4719566">
                <a:moveTo>
                  <a:pt x="0" y="0"/>
                </a:moveTo>
                <a:lnTo>
                  <a:pt x="4719566" y="0"/>
                </a:lnTo>
                <a:lnTo>
                  <a:pt x="4719566" y="4719565"/>
                </a:lnTo>
                <a:lnTo>
                  <a:pt x="0" y="4719565"/>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8139485" y="2535898"/>
            <a:ext cx="2009031"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A</a:t>
            </a:r>
            <a:r>
              <a:rPr lang="en-US" b="true" sz="4399">
                <a:solidFill>
                  <a:srgbClr val="000000"/>
                </a:solidFill>
                <a:latin typeface="Open Sans Bold"/>
                <a:ea typeface="Open Sans Bold"/>
                <a:cs typeface="Open Sans Bold"/>
                <a:sym typeface="Open Sans Bold"/>
              </a:rPr>
              <a:t>bacus</a:t>
            </a:r>
          </a:p>
        </p:txBody>
      </p:sp>
      <p:sp>
        <p:nvSpPr>
          <p:cNvPr name="TextBox 16" id="16"/>
          <p:cNvSpPr txBox="true"/>
          <p:nvPr/>
        </p:nvSpPr>
        <p:spPr>
          <a:xfrm rot="0">
            <a:off x="1569057" y="3414310"/>
            <a:ext cx="7574943" cy="5595620"/>
          </a:xfrm>
          <a:prstGeom prst="rect">
            <a:avLst/>
          </a:prstGeom>
        </p:spPr>
        <p:txBody>
          <a:bodyPr anchor="t" rtlCol="false" tIns="0" lIns="0" bIns="0" rIns="0">
            <a:spAutoFit/>
          </a:bodyPr>
          <a:lstStyle/>
          <a:p>
            <a:pPr algn="just">
              <a:lnSpc>
                <a:spcPts val="4480"/>
              </a:lnSpc>
              <a:spcBef>
                <a:spcPct val="0"/>
              </a:spcBef>
            </a:pPr>
            <a:r>
              <a:rPr lang="en-US" sz="3200">
                <a:solidFill>
                  <a:srgbClr val="000000"/>
                </a:solidFill>
                <a:latin typeface="Open Sans"/>
                <a:ea typeface="Open Sans"/>
                <a:cs typeface="Open Sans"/>
                <a:sym typeface="Open Sans"/>
              </a:rPr>
              <a:t>An abacus is a mechanical device used to aid an individual in performing mathematical calculations. </a:t>
            </a:r>
          </a:p>
          <a:p>
            <a:pPr algn="l" marL="690881" indent="-345440" lvl="1">
              <a:lnSpc>
                <a:spcPts val="4480"/>
              </a:lnSpc>
              <a:buFont typeface="Arial"/>
              <a:buChar char="•"/>
            </a:pPr>
            <a:r>
              <a:rPr lang="en-US" sz="3200">
                <a:solidFill>
                  <a:srgbClr val="000000"/>
                </a:solidFill>
                <a:latin typeface="Open Sans"/>
                <a:ea typeface="Open Sans"/>
                <a:cs typeface="Open Sans"/>
                <a:sym typeface="Open Sans"/>
              </a:rPr>
              <a:t>The abacus was invented in Babylonia in 2400 B.C. </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The abacus in the form we are most familiar with was first used in China in around 500 B.C. </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It used to perform basic arithmetic operations.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391636" y="3471460"/>
            <a:ext cx="5620028" cy="4377549"/>
          </a:xfrm>
          <a:custGeom>
            <a:avLst/>
            <a:gdLst/>
            <a:ahLst/>
            <a:cxnLst/>
            <a:rect r="r" b="b" t="t" l="l"/>
            <a:pathLst>
              <a:path h="4377549" w="5620028">
                <a:moveTo>
                  <a:pt x="0" y="0"/>
                </a:moveTo>
                <a:lnTo>
                  <a:pt x="5620028" y="0"/>
                </a:lnTo>
                <a:lnTo>
                  <a:pt x="5620028" y="4377549"/>
                </a:lnTo>
                <a:lnTo>
                  <a:pt x="0" y="4377549"/>
                </a:lnTo>
                <a:lnTo>
                  <a:pt x="0" y="0"/>
                </a:lnTo>
                <a:close/>
              </a:path>
            </a:pathLst>
          </a:custGeom>
          <a:blipFill>
            <a:blip r:embed="rId5"/>
            <a:stretch>
              <a:fillRect l="0" t="0" r="0" b="-9026"/>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7073875" y="2535898"/>
            <a:ext cx="4140250"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N</a:t>
            </a:r>
            <a:r>
              <a:rPr lang="en-US" b="true" sz="4399">
                <a:solidFill>
                  <a:srgbClr val="000000"/>
                </a:solidFill>
                <a:latin typeface="Open Sans Bold"/>
                <a:ea typeface="Open Sans Bold"/>
                <a:cs typeface="Open Sans Bold"/>
                <a:sym typeface="Open Sans Bold"/>
              </a:rPr>
              <a:t>apier’s Bones</a:t>
            </a:r>
          </a:p>
        </p:txBody>
      </p:sp>
      <p:sp>
        <p:nvSpPr>
          <p:cNvPr name="TextBox 16" id="16"/>
          <p:cNvSpPr txBox="true"/>
          <p:nvPr/>
        </p:nvSpPr>
        <p:spPr>
          <a:xfrm rot="0">
            <a:off x="1569057" y="3414310"/>
            <a:ext cx="7574943" cy="3347720"/>
          </a:xfrm>
          <a:prstGeom prst="rect">
            <a:avLst/>
          </a:prstGeom>
        </p:spPr>
        <p:txBody>
          <a:bodyPr anchor="t" rtlCol="false" tIns="0" lIns="0" bIns="0" rIns="0">
            <a:spAutoFit/>
          </a:bodyPr>
          <a:lstStyle/>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Inve</a:t>
            </a:r>
            <a:r>
              <a:rPr lang="en-US" sz="3200">
                <a:solidFill>
                  <a:srgbClr val="000000"/>
                </a:solidFill>
                <a:latin typeface="Open Sans"/>
                <a:ea typeface="Open Sans"/>
                <a:cs typeface="Open Sans"/>
                <a:sym typeface="Open Sans"/>
              </a:rPr>
              <a:t>nted by John Napier in 1614.</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Allowed the operator to multiply, divide and calculat</a:t>
            </a:r>
            <a:r>
              <a:rPr lang="en-US" sz="3200">
                <a:solidFill>
                  <a:srgbClr val="000000"/>
                </a:solidFill>
                <a:latin typeface="Open Sans"/>
                <a:ea typeface="Open Sans"/>
                <a:cs typeface="Open Sans"/>
                <a:sym typeface="Open Sans"/>
              </a:rPr>
              <a:t>e square and </a:t>
            </a:r>
            <a:r>
              <a:rPr lang="en-US" sz="3200">
                <a:solidFill>
                  <a:srgbClr val="000000"/>
                </a:solidFill>
                <a:latin typeface="Open Sans"/>
                <a:ea typeface="Open Sans"/>
                <a:cs typeface="Open Sans"/>
                <a:sym typeface="Open Sans"/>
              </a:rPr>
              <a:t>cube roots by moving the rods around and placing them in specially constructed boards.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9928020" y="3471460"/>
            <a:ext cx="6547260" cy="2365198"/>
          </a:xfrm>
          <a:custGeom>
            <a:avLst/>
            <a:gdLst/>
            <a:ahLst/>
            <a:cxnLst/>
            <a:rect r="r" b="b" t="t" l="l"/>
            <a:pathLst>
              <a:path h="2365198" w="6547260">
                <a:moveTo>
                  <a:pt x="0" y="0"/>
                </a:moveTo>
                <a:lnTo>
                  <a:pt x="6547260" y="0"/>
                </a:lnTo>
                <a:lnTo>
                  <a:pt x="6547260" y="2365197"/>
                </a:lnTo>
                <a:lnTo>
                  <a:pt x="0" y="2365197"/>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7786762" y="2535898"/>
            <a:ext cx="2714476"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Sl</a:t>
            </a:r>
            <a:r>
              <a:rPr lang="en-US" b="true" sz="4399">
                <a:solidFill>
                  <a:srgbClr val="000000"/>
                </a:solidFill>
                <a:latin typeface="Open Sans Bold"/>
                <a:ea typeface="Open Sans Bold"/>
                <a:cs typeface="Open Sans Bold"/>
                <a:sym typeface="Open Sans Bold"/>
              </a:rPr>
              <a:t>ide Rule</a:t>
            </a:r>
          </a:p>
        </p:txBody>
      </p:sp>
      <p:sp>
        <p:nvSpPr>
          <p:cNvPr name="TextBox 16" id="16"/>
          <p:cNvSpPr txBox="true"/>
          <p:nvPr/>
        </p:nvSpPr>
        <p:spPr>
          <a:xfrm rot="0">
            <a:off x="1569057" y="3414310"/>
            <a:ext cx="7574943" cy="5033645"/>
          </a:xfrm>
          <a:prstGeom prst="rect">
            <a:avLst/>
          </a:prstGeom>
        </p:spPr>
        <p:txBody>
          <a:bodyPr anchor="t" rtlCol="false" tIns="0" lIns="0" bIns="0" rIns="0">
            <a:spAutoFit/>
          </a:bodyPr>
          <a:lstStyle/>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Inve</a:t>
            </a:r>
            <a:r>
              <a:rPr lang="en-US" sz="3200">
                <a:solidFill>
                  <a:srgbClr val="000000"/>
                </a:solidFill>
                <a:latin typeface="Open Sans"/>
                <a:ea typeface="Open Sans"/>
                <a:cs typeface="Open Sans"/>
                <a:sym typeface="Open Sans"/>
              </a:rPr>
              <a:t>nted by William Oughtred in 1622.</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Is based on Napier's ideas about logarithms.</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Used primarily for – multiplication</a:t>
            </a:r>
            <a:r>
              <a:rPr lang="en-US" sz="3200">
                <a:solidFill>
                  <a:srgbClr val="000000"/>
                </a:solidFill>
                <a:latin typeface="Open Sans"/>
                <a:ea typeface="Open Sans"/>
                <a:cs typeface="Open Sans"/>
                <a:sym typeface="Open Sans"/>
              </a:rPr>
              <a:t> – division –</a:t>
            </a:r>
            <a:r>
              <a:rPr lang="en-US" sz="3200">
                <a:solidFill>
                  <a:srgbClr val="000000"/>
                </a:solidFill>
                <a:latin typeface="Open Sans"/>
                <a:ea typeface="Open Sans"/>
                <a:cs typeface="Open Sans"/>
                <a:sym typeface="Open Sans"/>
              </a:rPr>
              <a:t> roots – logarithms – Trigonometry</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Not normally used for addition or subtraction.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403901" y="3471460"/>
            <a:ext cx="5595498" cy="3731498"/>
          </a:xfrm>
          <a:custGeom>
            <a:avLst/>
            <a:gdLst/>
            <a:ahLst/>
            <a:cxnLst/>
            <a:rect r="r" b="b" t="t" l="l"/>
            <a:pathLst>
              <a:path h="3731498" w="5595498">
                <a:moveTo>
                  <a:pt x="0" y="0"/>
                </a:moveTo>
                <a:lnTo>
                  <a:pt x="5595498" y="0"/>
                </a:lnTo>
                <a:lnTo>
                  <a:pt x="5595498" y="3731497"/>
                </a:lnTo>
                <a:lnTo>
                  <a:pt x="0" y="3731497"/>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7829327" y="2535898"/>
            <a:ext cx="2629346"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Pascal</a:t>
            </a:r>
            <a:r>
              <a:rPr lang="en-US" b="true" sz="4399">
                <a:solidFill>
                  <a:srgbClr val="000000"/>
                </a:solidFill>
                <a:latin typeface="Open Sans Bold"/>
                <a:ea typeface="Open Sans Bold"/>
                <a:cs typeface="Open Sans Bold"/>
                <a:sym typeface="Open Sans Bold"/>
              </a:rPr>
              <a:t>ine</a:t>
            </a:r>
          </a:p>
        </p:txBody>
      </p:sp>
      <p:sp>
        <p:nvSpPr>
          <p:cNvPr name="TextBox 16" id="16"/>
          <p:cNvSpPr txBox="true"/>
          <p:nvPr/>
        </p:nvSpPr>
        <p:spPr>
          <a:xfrm rot="0">
            <a:off x="1569057" y="3414310"/>
            <a:ext cx="7574943" cy="5033645"/>
          </a:xfrm>
          <a:prstGeom prst="rect">
            <a:avLst/>
          </a:prstGeom>
        </p:spPr>
        <p:txBody>
          <a:bodyPr anchor="t" rtlCol="false" tIns="0" lIns="0" bIns="0" rIns="0">
            <a:spAutoFit/>
          </a:bodyPr>
          <a:lstStyle/>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Inve</a:t>
            </a:r>
            <a:r>
              <a:rPr lang="en-US" sz="3200">
                <a:solidFill>
                  <a:srgbClr val="000000"/>
                </a:solidFill>
                <a:latin typeface="Open Sans"/>
                <a:ea typeface="Open Sans"/>
                <a:cs typeface="Open Sans"/>
                <a:sym typeface="Open Sans"/>
              </a:rPr>
              <a:t>nted by Blaise Pascal in 1642.</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An early mechanical calculator designed to automatically perform addition and subtraction, reducing the effort required for repetitive arithmetic calculations.</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It was its limitation</a:t>
            </a:r>
            <a:r>
              <a:rPr lang="en-US" sz="3200">
                <a:solidFill>
                  <a:srgbClr val="000000"/>
                </a:solidFill>
                <a:latin typeface="Open Sans"/>
                <a:ea typeface="Open Sans"/>
                <a:cs typeface="Open Sans"/>
                <a:sym typeface="Open Sans"/>
              </a:rPr>
              <a:t> to addition and</a:t>
            </a:r>
            <a:r>
              <a:rPr lang="en-US" sz="3200">
                <a:solidFill>
                  <a:srgbClr val="000000"/>
                </a:solidFill>
                <a:latin typeface="Open Sans"/>
                <a:ea typeface="Open Sans"/>
                <a:cs typeface="Open Sans"/>
                <a:sym typeface="Open Sans"/>
              </a:rPr>
              <a:t> subtraction.</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a:t>
            </a:r>
            <a:r>
              <a:rPr lang="en-US" sz="3200">
                <a:solidFill>
                  <a:srgbClr val="000000"/>
                </a:solidFill>
                <a:latin typeface="Open Sans"/>
                <a:ea typeface="Open Sans"/>
                <a:cs typeface="Open Sans"/>
                <a:sym typeface="Open Sans"/>
              </a:rPr>
              <a:t>t is too expensive. </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420910" y="3586286"/>
            <a:ext cx="5561480" cy="3114429"/>
          </a:xfrm>
          <a:custGeom>
            <a:avLst/>
            <a:gdLst/>
            <a:ahLst/>
            <a:cxnLst/>
            <a:rect r="r" b="b" t="t" l="l"/>
            <a:pathLst>
              <a:path h="3114429" w="5561480">
                <a:moveTo>
                  <a:pt x="0" y="0"/>
                </a:moveTo>
                <a:lnTo>
                  <a:pt x="5561480" y="0"/>
                </a:lnTo>
                <a:lnTo>
                  <a:pt x="5561480" y="3114428"/>
                </a:lnTo>
                <a:lnTo>
                  <a:pt x="0" y="3114428"/>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6620842" y="2535898"/>
            <a:ext cx="5046315"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Stepped Recko</a:t>
            </a:r>
            <a:r>
              <a:rPr lang="en-US" b="true" sz="4399">
                <a:solidFill>
                  <a:srgbClr val="000000"/>
                </a:solidFill>
                <a:latin typeface="Open Sans Bold"/>
                <a:ea typeface="Open Sans Bold"/>
                <a:cs typeface="Open Sans Bold"/>
                <a:sym typeface="Open Sans Bold"/>
              </a:rPr>
              <a:t>ner</a:t>
            </a:r>
          </a:p>
        </p:txBody>
      </p:sp>
      <p:sp>
        <p:nvSpPr>
          <p:cNvPr name="TextBox 16" id="16"/>
          <p:cNvSpPr txBox="true"/>
          <p:nvPr/>
        </p:nvSpPr>
        <p:spPr>
          <a:xfrm rot="0">
            <a:off x="1569057" y="3414310"/>
            <a:ext cx="7574943" cy="3909695"/>
          </a:xfrm>
          <a:prstGeom prst="rect">
            <a:avLst/>
          </a:prstGeom>
        </p:spPr>
        <p:txBody>
          <a:bodyPr anchor="t" rtlCol="false" tIns="0" lIns="0" bIns="0" rIns="0">
            <a:spAutoFit/>
          </a:bodyPr>
          <a:lstStyle/>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Inve</a:t>
            </a:r>
            <a:r>
              <a:rPr lang="en-US" sz="3200">
                <a:solidFill>
                  <a:srgbClr val="000000"/>
                </a:solidFill>
                <a:latin typeface="Open Sans"/>
                <a:ea typeface="Open Sans"/>
                <a:cs typeface="Open Sans"/>
                <a:sym typeface="Open Sans"/>
              </a:rPr>
              <a:t>nted by Gottfried Wilhelm Leibniz in 1672.</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It was t</a:t>
            </a:r>
            <a:r>
              <a:rPr lang="en-US" sz="3200">
                <a:solidFill>
                  <a:srgbClr val="000000"/>
                </a:solidFill>
                <a:latin typeface="Open Sans"/>
                <a:ea typeface="Open Sans"/>
                <a:cs typeface="Open Sans"/>
                <a:sym typeface="Open Sans"/>
              </a:rPr>
              <a:t>he first calculating machine</a:t>
            </a:r>
            <a:r>
              <a:rPr lang="en-US" sz="3200">
                <a:solidFill>
                  <a:srgbClr val="000000"/>
                </a:solidFill>
                <a:latin typeface="Open Sans"/>
                <a:ea typeface="Open Sans"/>
                <a:cs typeface="Open Sans"/>
                <a:sym typeface="Open Sans"/>
              </a:rPr>
              <a:t> capable of performing all four basic arithmetic operations: addition,</a:t>
            </a:r>
            <a:r>
              <a:rPr lang="en-US" sz="3200">
                <a:solidFill>
                  <a:srgbClr val="000000"/>
                </a:solidFill>
                <a:latin typeface="Open Sans"/>
                <a:ea typeface="Open Sans"/>
                <a:cs typeface="Open Sans"/>
                <a:sym typeface="Open Sans"/>
              </a:rPr>
              <a:t> subtraction, multiplication, and </a:t>
            </a:r>
            <a:r>
              <a:rPr lang="en-US" sz="3200">
                <a:solidFill>
                  <a:srgbClr val="000000"/>
                </a:solidFill>
                <a:latin typeface="Open Sans"/>
                <a:ea typeface="Open Sans"/>
                <a:cs typeface="Open Sans"/>
                <a:sym typeface="Open Sans"/>
              </a:rPr>
              <a:t>div</a:t>
            </a:r>
            <a:r>
              <a:rPr lang="en-US" sz="3200">
                <a:solidFill>
                  <a:srgbClr val="000000"/>
                </a:solidFill>
                <a:latin typeface="Open Sans"/>
                <a:ea typeface="Open Sans"/>
                <a:cs typeface="Open Sans"/>
                <a:sym typeface="Open Sans"/>
              </a:rPr>
              <a:t>ision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1260866" y="3471460"/>
            <a:ext cx="3881567" cy="5245361"/>
          </a:xfrm>
          <a:custGeom>
            <a:avLst/>
            <a:gdLst/>
            <a:ahLst/>
            <a:cxnLst/>
            <a:rect r="r" b="b" t="t" l="l"/>
            <a:pathLst>
              <a:path h="5245361" w="3881567">
                <a:moveTo>
                  <a:pt x="0" y="0"/>
                </a:moveTo>
                <a:lnTo>
                  <a:pt x="3881568" y="0"/>
                </a:lnTo>
                <a:lnTo>
                  <a:pt x="3881568" y="5245361"/>
                </a:lnTo>
                <a:lnTo>
                  <a:pt x="0" y="5245361"/>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7055644" y="2535898"/>
            <a:ext cx="4176712"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Jacquard Loom</a:t>
            </a:r>
          </a:p>
        </p:txBody>
      </p:sp>
      <p:sp>
        <p:nvSpPr>
          <p:cNvPr name="TextBox 16" id="16"/>
          <p:cNvSpPr txBox="true"/>
          <p:nvPr/>
        </p:nvSpPr>
        <p:spPr>
          <a:xfrm rot="0">
            <a:off x="1569057" y="3414310"/>
            <a:ext cx="7574943" cy="5595620"/>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000000"/>
                </a:solidFill>
                <a:latin typeface="Open Sans"/>
                <a:ea typeface="Open Sans"/>
                <a:cs typeface="Open Sans"/>
                <a:sym typeface="Open Sans"/>
              </a:rPr>
              <a:t>The</a:t>
            </a:r>
            <a:r>
              <a:rPr lang="en-US" sz="3200">
                <a:solidFill>
                  <a:srgbClr val="000000"/>
                </a:solidFill>
                <a:latin typeface="Open Sans"/>
                <a:ea typeface="Open Sans"/>
                <a:cs typeface="Open Sans"/>
                <a:sym typeface="Open Sans"/>
              </a:rPr>
              <a:t> Jacquard loom is a mechanical loom, invented</a:t>
            </a:r>
            <a:r>
              <a:rPr lang="en-US" sz="3200">
                <a:solidFill>
                  <a:srgbClr val="000000"/>
                </a:solidFill>
                <a:latin typeface="Open Sans"/>
                <a:ea typeface="Open Sans"/>
                <a:cs typeface="Open Sans"/>
                <a:sym typeface="Open Sans"/>
              </a:rPr>
              <a:t> by Joseph-Marie Jacquard in 1881.</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It is an automatic loom controlled by punched cards.</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This innovation allowed the fast, accurate production of complex textile patterns like brocade and damask and heavily influenced early computing.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275260" y="3471460"/>
            <a:ext cx="5852780" cy="4409473"/>
          </a:xfrm>
          <a:custGeom>
            <a:avLst/>
            <a:gdLst/>
            <a:ahLst/>
            <a:cxnLst/>
            <a:rect r="r" b="b" t="t" l="l"/>
            <a:pathLst>
              <a:path h="4409473" w="5852780">
                <a:moveTo>
                  <a:pt x="0" y="0"/>
                </a:moveTo>
                <a:lnTo>
                  <a:pt x="5852780" y="0"/>
                </a:lnTo>
                <a:lnTo>
                  <a:pt x="5852780" y="4409473"/>
                </a:lnTo>
                <a:lnTo>
                  <a:pt x="0" y="4409473"/>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7134374" y="2535898"/>
            <a:ext cx="4019252"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Arithmometer</a:t>
            </a:r>
          </a:p>
        </p:txBody>
      </p:sp>
      <p:sp>
        <p:nvSpPr>
          <p:cNvPr name="TextBox 16" id="16"/>
          <p:cNvSpPr txBox="true"/>
          <p:nvPr/>
        </p:nvSpPr>
        <p:spPr>
          <a:xfrm rot="0">
            <a:off x="1569057" y="3414310"/>
            <a:ext cx="7574943" cy="5033645"/>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000000"/>
                </a:solidFill>
                <a:latin typeface="Open Sans"/>
                <a:ea typeface="Open Sans"/>
                <a:cs typeface="Open Sans"/>
                <a:sym typeface="Open Sans"/>
              </a:rPr>
              <a:t>A mechanical calculator invented</a:t>
            </a:r>
            <a:r>
              <a:rPr lang="en-US" sz="3200">
                <a:solidFill>
                  <a:srgbClr val="000000"/>
                </a:solidFill>
                <a:latin typeface="Open Sans"/>
                <a:ea typeface="Open Sans"/>
                <a:cs typeface="Open Sans"/>
                <a:sym typeface="Open Sans"/>
              </a:rPr>
              <a:t> by Thomas de Colmar in 1820,</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The firs</a:t>
            </a:r>
            <a:r>
              <a:rPr lang="en-US" sz="3200">
                <a:solidFill>
                  <a:srgbClr val="000000"/>
                </a:solidFill>
                <a:latin typeface="Open Sans"/>
                <a:ea typeface="Open Sans"/>
                <a:cs typeface="Open Sans"/>
                <a:sym typeface="Open Sans"/>
              </a:rPr>
              <a:t>t reliable, useful and commercially successful calcul</a:t>
            </a:r>
            <a:r>
              <a:rPr lang="en-US" sz="3200">
                <a:solidFill>
                  <a:srgbClr val="000000"/>
                </a:solidFill>
                <a:latin typeface="Open Sans"/>
                <a:ea typeface="Open Sans"/>
                <a:cs typeface="Open Sans"/>
                <a:sym typeface="Open Sans"/>
              </a:rPr>
              <a:t>ating</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machine.</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The machine could perform the four basic mathematic functions.</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The first mass-produced calculating machine.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143739" y="3471460"/>
            <a:ext cx="6115822" cy="2954058"/>
          </a:xfrm>
          <a:custGeom>
            <a:avLst/>
            <a:gdLst/>
            <a:ahLst/>
            <a:cxnLst/>
            <a:rect r="r" b="b" t="t" l="l"/>
            <a:pathLst>
              <a:path h="2954058" w="6115822">
                <a:moveTo>
                  <a:pt x="0" y="0"/>
                </a:moveTo>
                <a:lnTo>
                  <a:pt x="6115822" y="0"/>
                </a:lnTo>
                <a:lnTo>
                  <a:pt x="6115822" y="2954057"/>
                </a:lnTo>
                <a:lnTo>
                  <a:pt x="0" y="2954057"/>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3609826" y="2535898"/>
            <a:ext cx="11068348"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Difference Engine and Analytical Engine</a:t>
            </a:r>
          </a:p>
        </p:txBody>
      </p:sp>
      <p:sp>
        <p:nvSpPr>
          <p:cNvPr name="TextBox 16" id="16"/>
          <p:cNvSpPr txBox="true"/>
          <p:nvPr/>
        </p:nvSpPr>
        <p:spPr>
          <a:xfrm rot="0">
            <a:off x="1569057" y="3414310"/>
            <a:ext cx="7574943" cy="3909695"/>
          </a:xfrm>
          <a:prstGeom prst="rect">
            <a:avLst/>
          </a:prstGeom>
        </p:spPr>
        <p:txBody>
          <a:bodyPr anchor="t" rtlCol="false" tIns="0" lIns="0" bIns="0" rIns="0">
            <a:spAutoFit/>
          </a:bodyPr>
          <a:lstStyle/>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It an automatic,</a:t>
            </a:r>
            <a:r>
              <a:rPr lang="en-US" sz="3200">
                <a:solidFill>
                  <a:srgbClr val="000000"/>
                </a:solidFill>
                <a:latin typeface="Open Sans"/>
                <a:ea typeface="Open Sans"/>
                <a:cs typeface="Open Sans"/>
                <a:sym typeface="Open Sans"/>
              </a:rPr>
              <a:t> mechanical calculator designed</a:t>
            </a:r>
            <a:r>
              <a:rPr lang="en-US" sz="3200">
                <a:solidFill>
                  <a:srgbClr val="000000"/>
                </a:solidFill>
                <a:latin typeface="Open Sans"/>
                <a:ea typeface="Open Sans"/>
                <a:cs typeface="Open Sans"/>
                <a:sym typeface="Open Sans"/>
              </a:rPr>
              <a:t> to </a:t>
            </a:r>
            <a:r>
              <a:rPr lang="en-US" sz="3200">
                <a:solidFill>
                  <a:srgbClr val="000000"/>
                </a:solidFill>
                <a:latin typeface="Open Sans"/>
                <a:ea typeface="Open Sans"/>
                <a:cs typeface="Open Sans"/>
                <a:sym typeface="Open Sans"/>
              </a:rPr>
              <a:t>tabulate polynomial</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func</a:t>
            </a:r>
            <a:r>
              <a:rPr lang="en-US" sz="3200">
                <a:solidFill>
                  <a:srgbClr val="000000"/>
                </a:solidFill>
                <a:latin typeface="Open Sans"/>
                <a:ea typeface="Open Sans"/>
                <a:cs typeface="Open Sans"/>
                <a:sym typeface="Open Sans"/>
              </a:rPr>
              <a:t>tions.</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Invented by Charles Babbage in 1822 and 1834</a:t>
            </a:r>
          </a:p>
          <a:p>
            <a:pPr algn="l" marL="690881" indent="-345440" lvl="1">
              <a:lnSpc>
                <a:spcPts val="4480"/>
              </a:lnSpc>
              <a:spcBef>
                <a:spcPct val="0"/>
              </a:spcBef>
              <a:buFont typeface="Arial"/>
              <a:buChar char="•"/>
            </a:pPr>
            <a:r>
              <a:rPr lang="en-US" sz="3200">
                <a:solidFill>
                  <a:srgbClr val="000000"/>
                </a:solidFill>
                <a:latin typeface="Open Sans"/>
                <a:ea typeface="Open Sans"/>
                <a:cs typeface="Open Sans"/>
                <a:sym typeface="Open Sans"/>
              </a:rPr>
              <a:t>It is the first mechanical computer.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143739" y="3471460"/>
            <a:ext cx="6115822" cy="2954058"/>
          </a:xfrm>
          <a:custGeom>
            <a:avLst/>
            <a:gdLst/>
            <a:ahLst/>
            <a:cxnLst/>
            <a:rect r="r" b="b" t="t" l="l"/>
            <a:pathLst>
              <a:path h="2954058" w="6115822">
                <a:moveTo>
                  <a:pt x="0" y="0"/>
                </a:moveTo>
                <a:lnTo>
                  <a:pt x="6115822" y="0"/>
                </a:lnTo>
                <a:lnTo>
                  <a:pt x="6115822" y="2954057"/>
                </a:lnTo>
                <a:lnTo>
                  <a:pt x="0" y="2954057"/>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3609826" y="2535898"/>
            <a:ext cx="11068348"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Difference Engine and Analytical Engine</a:t>
            </a:r>
          </a:p>
        </p:txBody>
      </p:sp>
      <p:sp>
        <p:nvSpPr>
          <p:cNvPr name="TextBox 16" id="16"/>
          <p:cNvSpPr txBox="true"/>
          <p:nvPr/>
        </p:nvSpPr>
        <p:spPr>
          <a:xfrm rot="0">
            <a:off x="1569057" y="3414310"/>
            <a:ext cx="7574943" cy="5929630"/>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b="true" sz="2799">
                <a:solidFill>
                  <a:srgbClr val="000000"/>
                </a:solidFill>
                <a:latin typeface="Open Sans Bold"/>
                <a:ea typeface="Open Sans Bold"/>
                <a:cs typeface="Open Sans Bold"/>
                <a:sym typeface="Open Sans Bold"/>
              </a:rPr>
              <a:t>Diff</a:t>
            </a:r>
            <a:r>
              <a:rPr lang="en-US" b="true" sz="2799">
                <a:solidFill>
                  <a:srgbClr val="000000"/>
                </a:solidFill>
                <a:latin typeface="Open Sans Bold"/>
                <a:ea typeface="Open Sans Bold"/>
                <a:cs typeface="Open Sans Bold"/>
                <a:sym typeface="Open Sans Bold"/>
              </a:rPr>
              <a:t>erenc</a:t>
            </a:r>
            <a:r>
              <a:rPr lang="en-US" b="true" sz="2799">
                <a:solidFill>
                  <a:srgbClr val="000000"/>
                </a:solidFill>
                <a:latin typeface="Open Sans Bold"/>
                <a:ea typeface="Open Sans Bold"/>
                <a:cs typeface="Open Sans Bold"/>
                <a:sym typeface="Open Sans Bold"/>
              </a:rPr>
              <a:t>e Engine</a:t>
            </a:r>
          </a:p>
          <a:p>
            <a:pPr algn="l" marL="1209039" indent="-403013" lvl="2">
              <a:lnSpc>
                <a:spcPts val="3919"/>
              </a:lnSpc>
              <a:spcBef>
                <a:spcPct val="0"/>
              </a:spcBef>
              <a:buFont typeface="Arial"/>
              <a:buChar char="⚬"/>
            </a:pPr>
            <a:r>
              <a:rPr lang="en-US" sz="2799">
                <a:solidFill>
                  <a:srgbClr val="000000"/>
                </a:solidFill>
                <a:latin typeface="Open Sans"/>
                <a:ea typeface="Open Sans"/>
                <a:cs typeface="Open Sans"/>
                <a:sym typeface="Open Sans"/>
              </a:rPr>
              <a:t>Built strictly to crunch numbers and print mathematical and navigational tables using the method of finite differences.</a:t>
            </a:r>
          </a:p>
          <a:p>
            <a:pPr algn="l">
              <a:lnSpc>
                <a:spcPts val="3919"/>
              </a:lnSpc>
              <a:spcBef>
                <a:spcPct val="0"/>
              </a:spcBef>
            </a:pPr>
          </a:p>
          <a:p>
            <a:pPr algn="l" marL="604519" indent="-302260" lvl="1">
              <a:lnSpc>
                <a:spcPts val="3919"/>
              </a:lnSpc>
              <a:spcBef>
                <a:spcPct val="0"/>
              </a:spcBef>
              <a:buFont typeface="Arial"/>
              <a:buChar char="•"/>
            </a:pPr>
            <a:r>
              <a:rPr lang="en-US" b="true" sz="2799">
                <a:solidFill>
                  <a:srgbClr val="000000"/>
                </a:solidFill>
                <a:latin typeface="Open Sans Bold"/>
                <a:ea typeface="Open Sans Bold"/>
                <a:cs typeface="Open Sans Bold"/>
                <a:sym typeface="Open Sans Bold"/>
              </a:rPr>
              <a:t>Analytical Engine</a:t>
            </a:r>
          </a:p>
          <a:p>
            <a:pPr algn="l" marL="1209039" indent="-403013" lvl="2">
              <a:lnSpc>
                <a:spcPts val="3919"/>
              </a:lnSpc>
              <a:spcBef>
                <a:spcPct val="0"/>
              </a:spcBef>
              <a:buFont typeface="Arial"/>
              <a:buChar char="⚬"/>
            </a:pPr>
            <a:r>
              <a:rPr lang="en-US" sz="2799">
                <a:solidFill>
                  <a:srgbClr val="000000"/>
                </a:solidFill>
                <a:latin typeface="Open Sans"/>
                <a:ea typeface="Open Sans"/>
                <a:cs typeface="Open Sans"/>
                <a:sym typeface="Open Sans"/>
              </a:rPr>
              <a:t>Designed as the first Turing-complete, general-purpose automatic computing machine capable of executing any logical or mathematical task.</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1419092" y="3471460"/>
            <a:ext cx="3565116" cy="5704186"/>
          </a:xfrm>
          <a:custGeom>
            <a:avLst/>
            <a:gdLst/>
            <a:ahLst/>
            <a:cxnLst/>
            <a:rect r="r" b="b" t="t" l="l"/>
            <a:pathLst>
              <a:path h="5704186" w="3565116">
                <a:moveTo>
                  <a:pt x="0" y="0"/>
                </a:moveTo>
                <a:lnTo>
                  <a:pt x="3565116" y="0"/>
                </a:lnTo>
                <a:lnTo>
                  <a:pt x="3565116" y="5704185"/>
                </a:lnTo>
                <a:lnTo>
                  <a:pt x="0" y="5704185"/>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5205115" y="2535898"/>
            <a:ext cx="7877770"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First Computer Programmer</a:t>
            </a:r>
          </a:p>
        </p:txBody>
      </p:sp>
      <p:sp>
        <p:nvSpPr>
          <p:cNvPr name="TextBox 16" id="16"/>
          <p:cNvSpPr txBox="true"/>
          <p:nvPr/>
        </p:nvSpPr>
        <p:spPr>
          <a:xfrm rot="0">
            <a:off x="1569057" y="3414310"/>
            <a:ext cx="7574943" cy="3948430"/>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I</a:t>
            </a:r>
            <a:r>
              <a:rPr lang="en-US" sz="2799">
                <a:solidFill>
                  <a:srgbClr val="000000"/>
                </a:solidFill>
                <a:latin typeface="Open Sans"/>
                <a:ea typeface="Open Sans"/>
                <a:cs typeface="Open Sans"/>
                <a:sym typeface="Open Sans"/>
              </a:rPr>
              <a:t>n 1840,</a:t>
            </a:r>
            <a:r>
              <a:rPr lang="en-US" sz="2799">
                <a:solidFill>
                  <a:srgbClr val="000000"/>
                </a:solidFill>
                <a:latin typeface="Open Sans"/>
                <a:ea typeface="Open Sans"/>
                <a:cs typeface="Open Sans"/>
                <a:sym typeface="Open Sans"/>
              </a:rPr>
              <a:t> Augusta Ada Byron (also known as Ada Lovelace) suggests to Babbage that he use the bi</a:t>
            </a:r>
            <a:r>
              <a:rPr lang="en-US" sz="2799">
                <a:solidFill>
                  <a:srgbClr val="000000"/>
                </a:solidFill>
                <a:latin typeface="Open Sans"/>
                <a:ea typeface="Open Sans"/>
                <a:cs typeface="Open Sans"/>
                <a:sym typeface="Open Sans"/>
              </a:rPr>
              <a:t>nary sy</a:t>
            </a:r>
            <a:r>
              <a:rPr lang="en-US" sz="2799">
                <a:solidFill>
                  <a:srgbClr val="000000"/>
                </a:solidFill>
                <a:latin typeface="Open Sans"/>
                <a:ea typeface="Open Sans"/>
                <a:cs typeface="Open Sans"/>
                <a:sym typeface="Open Sans"/>
              </a:rPr>
              <a:t>stem.</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She writes programs for the Analytical Engine.</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Develop and publish a set of instructions (an algorithm) for Charles Babbage’s Analytical Engine.</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9955107" y="3616546"/>
            <a:ext cx="6493086" cy="4040142"/>
          </a:xfrm>
          <a:custGeom>
            <a:avLst/>
            <a:gdLst/>
            <a:ahLst/>
            <a:cxnLst/>
            <a:rect r="r" b="b" t="t" l="l"/>
            <a:pathLst>
              <a:path h="4040142" w="6493086">
                <a:moveTo>
                  <a:pt x="0" y="0"/>
                </a:moveTo>
                <a:lnTo>
                  <a:pt x="6493086" y="0"/>
                </a:lnTo>
                <a:lnTo>
                  <a:pt x="6493086" y="4040142"/>
                </a:lnTo>
                <a:lnTo>
                  <a:pt x="0" y="4040142"/>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4965725" y="2535898"/>
            <a:ext cx="8356550"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Scheutzian Calculation Engine</a:t>
            </a:r>
          </a:p>
        </p:txBody>
      </p:sp>
      <p:sp>
        <p:nvSpPr>
          <p:cNvPr name="TextBox 16" id="16"/>
          <p:cNvSpPr txBox="true"/>
          <p:nvPr/>
        </p:nvSpPr>
        <p:spPr>
          <a:xfrm rot="0">
            <a:off x="1569057" y="3414310"/>
            <a:ext cx="7574943" cy="3948430"/>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I</a:t>
            </a:r>
            <a:r>
              <a:rPr lang="en-US" sz="2799">
                <a:solidFill>
                  <a:srgbClr val="000000"/>
                </a:solidFill>
                <a:latin typeface="Open Sans"/>
                <a:ea typeface="Open Sans"/>
                <a:cs typeface="Open Sans"/>
                <a:sym typeface="Open Sans"/>
              </a:rPr>
              <a:t>nvented by Per</a:t>
            </a:r>
            <a:r>
              <a:rPr lang="en-US" sz="2799">
                <a:solidFill>
                  <a:srgbClr val="000000"/>
                </a:solidFill>
                <a:latin typeface="Open Sans"/>
                <a:ea typeface="Open Sans"/>
                <a:cs typeface="Open Sans"/>
                <a:sym typeface="Open Sans"/>
              </a:rPr>
              <a:t> Georg Scheutz in 1843.</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Based on Charles Babbage's difference engi</a:t>
            </a:r>
            <a:r>
              <a:rPr lang="en-US" sz="2799">
                <a:solidFill>
                  <a:srgbClr val="000000"/>
                </a:solidFill>
                <a:latin typeface="Open Sans"/>
                <a:ea typeface="Open Sans"/>
                <a:cs typeface="Open Sans"/>
                <a:sym typeface="Open Sans"/>
              </a:rPr>
              <a:t>n</a:t>
            </a:r>
            <a:r>
              <a:rPr lang="en-US" sz="2799">
                <a:solidFill>
                  <a:srgbClr val="000000"/>
                </a:solidFill>
                <a:latin typeface="Open Sans"/>
                <a:ea typeface="Open Sans"/>
                <a:cs typeface="Open Sans"/>
                <a:sym typeface="Open Sans"/>
              </a:rPr>
              <a:t>e.</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The first printing calculator. </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Designed to compute polynomial functions to automatically generate accurate logarithmic and trigonometric tables.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198346" y="3471460"/>
            <a:ext cx="6006608" cy="4164581"/>
          </a:xfrm>
          <a:custGeom>
            <a:avLst/>
            <a:gdLst/>
            <a:ahLst/>
            <a:cxnLst/>
            <a:rect r="r" b="b" t="t" l="l"/>
            <a:pathLst>
              <a:path h="4164581" w="6006608">
                <a:moveTo>
                  <a:pt x="0" y="0"/>
                </a:moveTo>
                <a:lnTo>
                  <a:pt x="6006608" y="0"/>
                </a:lnTo>
                <a:lnTo>
                  <a:pt x="6006608" y="4164581"/>
                </a:lnTo>
                <a:lnTo>
                  <a:pt x="0" y="4164581"/>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6385173" y="2535898"/>
            <a:ext cx="5517654"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Tabulating Machine</a:t>
            </a:r>
          </a:p>
        </p:txBody>
      </p:sp>
      <p:sp>
        <p:nvSpPr>
          <p:cNvPr name="TextBox 16" id="16"/>
          <p:cNvSpPr txBox="true"/>
          <p:nvPr/>
        </p:nvSpPr>
        <p:spPr>
          <a:xfrm rot="0">
            <a:off x="1569057" y="3414310"/>
            <a:ext cx="7574943" cy="1967230"/>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I</a:t>
            </a:r>
            <a:r>
              <a:rPr lang="en-US" sz="2799">
                <a:solidFill>
                  <a:srgbClr val="000000"/>
                </a:solidFill>
                <a:latin typeface="Open Sans"/>
                <a:ea typeface="Open Sans"/>
                <a:cs typeface="Open Sans"/>
                <a:sym typeface="Open Sans"/>
              </a:rPr>
              <a:t>nvented by Herman</a:t>
            </a:r>
            <a:r>
              <a:rPr lang="en-US" sz="2799">
                <a:solidFill>
                  <a:srgbClr val="000000"/>
                </a:solidFill>
                <a:latin typeface="Open Sans"/>
                <a:ea typeface="Open Sans"/>
                <a:cs typeface="Open Sans"/>
                <a:sym typeface="Open Sans"/>
              </a:rPr>
              <a:t> Hollerith in 1890.</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Is an electromechanical device built to read, count, and summarize data stored on punched cards.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9878175" y="3981355"/>
            <a:ext cx="6646949" cy="4220842"/>
          </a:xfrm>
          <a:custGeom>
            <a:avLst/>
            <a:gdLst/>
            <a:ahLst/>
            <a:cxnLst/>
            <a:rect r="r" b="b" t="t" l="l"/>
            <a:pathLst>
              <a:path h="4220842" w="6646949">
                <a:moveTo>
                  <a:pt x="0" y="0"/>
                </a:moveTo>
                <a:lnTo>
                  <a:pt x="6646950" y="0"/>
                </a:lnTo>
                <a:lnTo>
                  <a:pt x="6646950" y="4220843"/>
                </a:lnTo>
                <a:lnTo>
                  <a:pt x="0" y="4220843"/>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6966421" y="2535898"/>
            <a:ext cx="4355157"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Harvard Mark 1</a:t>
            </a:r>
          </a:p>
        </p:txBody>
      </p:sp>
      <p:sp>
        <p:nvSpPr>
          <p:cNvPr name="TextBox 16" id="16"/>
          <p:cNvSpPr txBox="true"/>
          <p:nvPr/>
        </p:nvSpPr>
        <p:spPr>
          <a:xfrm rot="0">
            <a:off x="1569057" y="3414310"/>
            <a:ext cx="7574943" cy="19672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000000"/>
                </a:solidFill>
                <a:latin typeface="Open Sans"/>
                <a:ea typeface="Open Sans"/>
                <a:cs typeface="Open Sans"/>
                <a:sym typeface="Open Sans"/>
              </a:rPr>
              <a:t>Also known as IBM Automatic Sequence Controlled Calculator (ASCC).</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I</a:t>
            </a:r>
            <a:r>
              <a:rPr lang="en-US" sz="2799">
                <a:solidFill>
                  <a:srgbClr val="000000"/>
                </a:solidFill>
                <a:latin typeface="Open Sans"/>
                <a:ea typeface="Open Sans"/>
                <a:cs typeface="Open Sans"/>
                <a:sym typeface="Open Sans"/>
              </a:rPr>
              <a:t>nvented by Howard</a:t>
            </a:r>
            <a:r>
              <a:rPr lang="en-US" sz="2799">
                <a:solidFill>
                  <a:srgbClr val="000000"/>
                </a:solidFill>
                <a:latin typeface="Open Sans"/>
                <a:ea typeface="Open Sans"/>
                <a:cs typeface="Open Sans"/>
                <a:sym typeface="Open Sans"/>
              </a:rPr>
              <a:t> H. Aiken in 1943</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The first electro-mechanical computer</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245773" y="3471460"/>
            <a:ext cx="5911753" cy="4251527"/>
          </a:xfrm>
          <a:custGeom>
            <a:avLst/>
            <a:gdLst/>
            <a:ahLst/>
            <a:cxnLst/>
            <a:rect r="r" b="b" t="t" l="l"/>
            <a:pathLst>
              <a:path h="4251527" w="5911753">
                <a:moveTo>
                  <a:pt x="0" y="0"/>
                </a:moveTo>
                <a:lnTo>
                  <a:pt x="5911754" y="0"/>
                </a:lnTo>
                <a:lnTo>
                  <a:pt x="5911754" y="4251526"/>
                </a:lnTo>
                <a:lnTo>
                  <a:pt x="0" y="4251526"/>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8822680" y="2535898"/>
            <a:ext cx="642640"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Z1</a:t>
            </a:r>
          </a:p>
        </p:txBody>
      </p:sp>
      <p:sp>
        <p:nvSpPr>
          <p:cNvPr name="TextBox 16" id="16"/>
          <p:cNvSpPr txBox="true"/>
          <p:nvPr/>
        </p:nvSpPr>
        <p:spPr>
          <a:xfrm rot="0">
            <a:off x="1569057" y="3414310"/>
            <a:ext cx="7574943" cy="34531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000000"/>
                </a:solidFill>
                <a:latin typeface="Open Sans"/>
                <a:ea typeface="Open Sans"/>
                <a:cs typeface="Open Sans"/>
                <a:sym typeface="Open Sans"/>
              </a:rPr>
              <a:t>The first programmable computer.</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Cr</a:t>
            </a:r>
            <a:r>
              <a:rPr lang="en-US" sz="2799">
                <a:solidFill>
                  <a:srgbClr val="000000"/>
                </a:solidFill>
                <a:latin typeface="Open Sans"/>
                <a:ea typeface="Open Sans"/>
                <a:cs typeface="Open Sans"/>
                <a:sym typeface="Open Sans"/>
              </a:rPr>
              <a:t>eated by Konrad</a:t>
            </a:r>
            <a:r>
              <a:rPr lang="en-US" sz="2799">
                <a:solidFill>
                  <a:srgbClr val="000000"/>
                </a:solidFill>
                <a:latin typeface="Open Sans"/>
                <a:ea typeface="Open Sans"/>
                <a:cs typeface="Open Sans"/>
                <a:sym typeface="Open Sans"/>
              </a:rPr>
              <a:t> Zuse in Germany from 1936 to 1938.</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To program the Z1 required that the user insert punch tape into a punch tape reader and all output was also generated through punch tape.</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357328" y="3471460"/>
            <a:ext cx="5688644" cy="4394478"/>
          </a:xfrm>
          <a:custGeom>
            <a:avLst/>
            <a:gdLst/>
            <a:ahLst/>
            <a:cxnLst/>
            <a:rect r="r" b="b" t="t" l="l"/>
            <a:pathLst>
              <a:path h="4394478" w="5688644">
                <a:moveTo>
                  <a:pt x="0" y="0"/>
                </a:moveTo>
                <a:lnTo>
                  <a:pt x="5688644" y="0"/>
                </a:lnTo>
                <a:lnTo>
                  <a:pt x="5688644" y="4394477"/>
                </a:lnTo>
                <a:lnTo>
                  <a:pt x="0" y="4394477"/>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4633540" y="2535898"/>
            <a:ext cx="9020919"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Atanasoff-Berry Computer (ABC)</a:t>
            </a:r>
          </a:p>
        </p:txBody>
      </p:sp>
      <p:sp>
        <p:nvSpPr>
          <p:cNvPr name="TextBox 16" id="16"/>
          <p:cNvSpPr txBox="true"/>
          <p:nvPr/>
        </p:nvSpPr>
        <p:spPr>
          <a:xfrm rot="0">
            <a:off x="1569057" y="3414310"/>
            <a:ext cx="7574943" cy="24625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000000"/>
                </a:solidFill>
                <a:latin typeface="Open Sans"/>
                <a:ea typeface="Open Sans"/>
                <a:cs typeface="Open Sans"/>
                <a:sym typeface="Open Sans"/>
              </a:rPr>
              <a:t>It was the first electronic digital computing device.</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Inv</a:t>
            </a:r>
            <a:r>
              <a:rPr lang="en-US" sz="2799">
                <a:solidFill>
                  <a:srgbClr val="000000"/>
                </a:solidFill>
                <a:latin typeface="Open Sans"/>
                <a:ea typeface="Open Sans"/>
                <a:cs typeface="Open Sans"/>
                <a:sym typeface="Open Sans"/>
              </a:rPr>
              <a:t>ented by Professor</a:t>
            </a:r>
            <a:r>
              <a:rPr lang="en-US" sz="2799">
                <a:solidFill>
                  <a:srgbClr val="000000"/>
                </a:solidFill>
                <a:latin typeface="Open Sans"/>
                <a:ea typeface="Open Sans"/>
                <a:cs typeface="Open Sans"/>
                <a:sym typeface="Open Sans"/>
              </a:rPr>
              <a:t> John Atanasoff and graduate student Clifford Berry at Iowa State University between 1939 and 1942.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262277" y="3471460"/>
            <a:ext cx="5859710" cy="3898158"/>
          </a:xfrm>
          <a:custGeom>
            <a:avLst/>
            <a:gdLst/>
            <a:ahLst/>
            <a:cxnLst/>
            <a:rect r="r" b="b" t="t" l="l"/>
            <a:pathLst>
              <a:path h="3898158" w="5859710">
                <a:moveTo>
                  <a:pt x="0" y="0"/>
                </a:moveTo>
                <a:lnTo>
                  <a:pt x="5859711" y="0"/>
                </a:lnTo>
                <a:lnTo>
                  <a:pt x="5859711" y="3898157"/>
                </a:lnTo>
                <a:lnTo>
                  <a:pt x="0" y="3898157"/>
                </a:lnTo>
                <a:lnTo>
                  <a:pt x="0" y="0"/>
                </a:lnTo>
                <a:close/>
              </a:path>
            </a:pathLst>
          </a:custGeom>
          <a:blipFill>
            <a:blip r:embed="rId5"/>
            <a:stretch>
              <a:fillRect l="0" t="0" r="-324" b="-3018"/>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8224465" y="2535898"/>
            <a:ext cx="1839069"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 ENIAC</a:t>
            </a:r>
          </a:p>
        </p:txBody>
      </p:sp>
      <p:sp>
        <p:nvSpPr>
          <p:cNvPr name="TextBox 16" id="16"/>
          <p:cNvSpPr txBox="true"/>
          <p:nvPr/>
        </p:nvSpPr>
        <p:spPr>
          <a:xfrm rot="0">
            <a:off x="1569057" y="3414310"/>
            <a:ext cx="7574943" cy="34531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000000"/>
                </a:solidFill>
                <a:latin typeface="Open Sans"/>
                <a:ea typeface="Open Sans"/>
                <a:cs typeface="Open Sans"/>
                <a:sym typeface="Open Sans"/>
              </a:rPr>
              <a:t>ENIAC stands for Electronic Numerical Integrator and Computer.</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I</a:t>
            </a:r>
            <a:r>
              <a:rPr lang="en-US" sz="2799">
                <a:solidFill>
                  <a:srgbClr val="000000"/>
                </a:solidFill>
                <a:latin typeface="Open Sans"/>
                <a:ea typeface="Open Sans"/>
                <a:cs typeface="Open Sans"/>
                <a:sym typeface="Open Sans"/>
              </a:rPr>
              <a:t>t was the first</a:t>
            </a:r>
            <a:r>
              <a:rPr lang="en-US" sz="2799">
                <a:solidFill>
                  <a:srgbClr val="000000"/>
                </a:solidFill>
                <a:latin typeface="Open Sans"/>
                <a:ea typeface="Open Sans"/>
                <a:cs typeface="Open Sans"/>
                <a:sym typeface="Open Sans"/>
              </a:rPr>
              <a:t> electronic general-purpose computer.</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Completed in 1946.</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Developed by John Presper Eckert and John Mauchly.</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106616" y="3471460"/>
            <a:ext cx="6190069" cy="2969220"/>
          </a:xfrm>
          <a:custGeom>
            <a:avLst/>
            <a:gdLst/>
            <a:ahLst/>
            <a:cxnLst/>
            <a:rect r="r" b="b" t="t" l="l"/>
            <a:pathLst>
              <a:path h="2969220" w="6190069">
                <a:moveTo>
                  <a:pt x="0" y="0"/>
                </a:moveTo>
                <a:lnTo>
                  <a:pt x="6190068" y="0"/>
                </a:lnTo>
                <a:lnTo>
                  <a:pt x="6190068" y="2969219"/>
                </a:lnTo>
                <a:lnTo>
                  <a:pt x="0" y="2969219"/>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7756178" y="2535898"/>
            <a:ext cx="2775645"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UNIVAC 1 </a:t>
            </a:r>
          </a:p>
        </p:txBody>
      </p:sp>
      <p:sp>
        <p:nvSpPr>
          <p:cNvPr name="TextBox 16" id="16"/>
          <p:cNvSpPr txBox="true"/>
          <p:nvPr/>
        </p:nvSpPr>
        <p:spPr>
          <a:xfrm rot="0">
            <a:off x="1569057" y="3414310"/>
            <a:ext cx="7574943" cy="2462530"/>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The UNIVAC I (UNIVersal Automatic Computer 1)</a:t>
            </a:r>
            <a:r>
              <a:rPr lang="en-US" sz="2799">
                <a:solidFill>
                  <a:srgbClr val="000000"/>
                </a:solidFill>
                <a:latin typeface="Open Sans"/>
                <a:ea typeface="Open Sans"/>
                <a:cs typeface="Open Sans"/>
                <a:sym typeface="Open Sans"/>
              </a:rPr>
              <a:t> was the first</a:t>
            </a:r>
            <a:r>
              <a:rPr lang="en-US" sz="2799">
                <a:solidFill>
                  <a:srgbClr val="000000"/>
                </a:solidFill>
                <a:latin typeface="Open Sans"/>
                <a:ea typeface="Open Sans"/>
                <a:cs typeface="Open Sans"/>
                <a:sym typeface="Open Sans"/>
              </a:rPr>
              <a:t> commercial computer.</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Designed by John Presper Eckert and John Mauchly.</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10495389" y="3471460"/>
            <a:ext cx="5412523" cy="4288090"/>
          </a:xfrm>
          <a:custGeom>
            <a:avLst/>
            <a:gdLst/>
            <a:ahLst/>
            <a:cxnLst/>
            <a:rect r="r" b="b" t="t" l="l"/>
            <a:pathLst>
              <a:path h="4288090" w="5412523">
                <a:moveTo>
                  <a:pt x="0" y="0"/>
                </a:moveTo>
                <a:lnTo>
                  <a:pt x="5412522" y="0"/>
                </a:lnTo>
                <a:lnTo>
                  <a:pt x="5412522" y="4288090"/>
                </a:lnTo>
                <a:lnTo>
                  <a:pt x="0" y="4288090"/>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8228409" y="2535898"/>
            <a:ext cx="1831181"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EDVAC</a:t>
            </a:r>
          </a:p>
        </p:txBody>
      </p:sp>
      <p:sp>
        <p:nvSpPr>
          <p:cNvPr name="TextBox 16" id="16"/>
          <p:cNvSpPr txBox="true"/>
          <p:nvPr/>
        </p:nvSpPr>
        <p:spPr>
          <a:xfrm rot="0">
            <a:off x="1569057" y="3414310"/>
            <a:ext cx="7574943" cy="29578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000000"/>
                </a:solidFill>
                <a:latin typeface="Open Sans"/>
                <a:ea typeface="Open Sans"/>
                <a:cs typeface="Open Sans"/>
                <a:sym typeface="Open Sans"/>
              </a:rPr>
              <a:t>EDVAC stands for Electronic Discrete Variable Automatic Computer</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The First</a:t>
            </a:r>
            <a:r>
              <a:rPr lang="en-US" sz="2799">
                <a:solidFill>
                  <a:srgbClr val="000000"/>
                </a:solidFill>
                <a:latin typeface="Open Sans"/>
                <a:ea typeface="Open Sans"/>
                <a:cs typeface="Open Sans"/>
                <a:sym typeface="Open Sans"/>
              </a:rPr>
              <a:t> Stored Program Computer</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Designed by Von Neumann in 1952.</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It has a memory to hold both a stored program as well as data. </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9991442" y="3471460"/>
            <a:ext cx="6420417" cy="4019181"/>
          </a:xfrm>
          <a:custGeom>
            <a:avLst/>
            <a:gdLst/>
            <a:ahLst/>
            <a:cxnLst/>
            <a:rect r="r" b="b" t="t" l="l"/>
            <a:pathLst>
              <a:path h="4019181" w="6420417">
                <a:moveTo>
                  <a:pt x="0" y="0"/>
                </a:moveTo>
                <a:lnTo>
                  <a:pt x="6420416" y="0"/>
                </a:lnTo>
                <a:lnTo>
                  <a:pt x="6420416" y="4019181"/>
                </a:lnTo>
                <a:lnTo>
                  <a:pt x="0" y="4019181"/>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5199013" y="2535898"/>
            <a:ext cx="7889974"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The First Portable Computer</a:t>
            </a:r>
          </a:p>
        </p:txBody>
      </p:sp>
      <p:sp>
        <p:nvSpPr>
          <p:cNvPr name="TextBox 16" id="16"/>
          <p:cNvSpPr txBox="true"/>
          <p:nvPr/>
        </p:nvSpPr>
        <p:spPr>
          <a:xfrm rot="0">
            <a:off x="1569057" y="3414310"/>
            <a:ext cx="7574943" cy="1471930"/>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Osborne 1 – t</a:t>
            </a:r>
            <a:r>
              <a:rPr lang="en-US" sz="2799">
                <a:solidFill>
                  <a:srgbClr val="000000"/>
                </a:solidFill>
                <a:latin typeface="Open Sans"/>
                <a:ea typeface="Open Sans"/>
                <a:cs typeface="Open Sans"/>
                <a:sym typeface="Open Sans"/>
              </a:rPr>
              <a:t>he first</a:t>
            </a:r>
            <a:r>
              <a:rPr lang="en-US" sz="2799">
                <a:solidFill>
                  <a:srgbClr val="000000"/>
                </a:solidFill>
                <a:latin typeface="Open Sans"/>
                <a:ea typeface="Open Sans"/>
                <a:cs typeface="Open Sans"/>
                <a:sym typeface="Open Sans"/>
              </a:rPr>
              <a:t> portable computer.</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Released in 1981 by the Osborne Computer Corporation.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718943" y="-989670"/>
            <a:ext cx="1080715" cy="2956684"/>
            <a:chOff x="0" y="0"/>
            <a:chExt cx="284633" cy="778715"/>
          </a:xfrm>
        </p:grpSpPr>
        <p:sp>
          <p:nvSpPr>
            <p:cNvPr name="Freeform 3" id="3"/>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4" id="4"/>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529352" y="9803843"/>
            <a:ext cx="19346704" cy="821917"/>
            <a:chOff x="0" y="0"/>
            <a:chExt cx="5095428" cy="216472"/>
          </a:xfrm>
        </p:grpSpPr>
        <p:sp>
          <p:nvSpPr>
            <p:cNvPr name="Freeform 6" id="6"/>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name="TextBox 7" id="7"/>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0" id="10"/>
          <p:cNvGrpSpPr/>
          <p:nvPr/>
        </p:nvGrpSpPr>
        <p:grpSpPr>
          <a:xfrm rot="0">
            <a:off x="488343" y="-989670"/>
            <a:ext cx="1080715" cy="2956684"/>
            <a:chOff x="0" y="0"/>
            <a:chExt cx="284633" cy="778715"/>
          </a:xfrm>
        </p:grpSpPr>
        <p:sp>
          <p:nvSpPr>
            <p:cNvPr name="Freeform 11" id="11"/>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2" id="12"/>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
        <p:nvSpPr>
          <p:cNvPr name="Freeform 13" id="13"/>
          <p:cNvSpPr/>
          <p:nvPr/>
        </p:nvSpPr>
        <p:spPr>
          <a:xfrm flipH="false" flipV="false" rot="0">
            <a:off x="9720733" y="3471460"/>
            <a:ext cx="6961833" cy="2657629"/>
          </a:xfrm>
          <a:custGeom>
            <a:avLst/>
            <a:gdLst/>
            <a:ahLst/>
            <a:cxnLst/>
            <a:rect r="r" b="b" t="t" l="l"/>
            <a:pathLst>
              <a:path h="2657629" w="6961833">
                <a:moveTo>
                  <a:pt x="0" y="0"/>
                </a:moveTo>
                <a:lnTo>
                  <a:pt x="6961834" y="0"/>
                </a:lnTo>
                <a:lnTo>
                  <a:pt x="6961834" y="2657629"/>
                </a:lnTo>
                <a:lnTo>
                  <a:pt x="0" y="2657629"/>
                </a:lnTo>
                <a:lnTo>
                  <a:pt x="0" y="0"/>
                </a:lnTo>
                <a:close/>
              </a:path>
            </a:pathLst>
          </a:custGeom>
          <a:blipFill>
            <a:blip r:embed="rId5"/>
            <a:stretch>
              <a:fillRect l="0" t="0" r="0" b="0"/>
            </a:stretch>
          </a:blipFill>
        </p:spPr>
      </p:sp>
      <p:sp>
        <p:nvSpPr>
          <p:cNvPr name="TextBox 14" id="14"/>
          <p:cNvSpPr txBox="true"/>
          <p:nvPr/>
        </p:nvSpPr>
        <p:spPr>
          <a:xfrm rot="0">
            <a:off x="1648767" y="615315"/>
            <a:ext cx="14990467" cy="854076"/>
          </a:xfrm>
          <a:prstGeom prst="rect">
            <a:avLst/>
          </a:prstGeom>
        </p:spPr>
        <p:txBody>
          <a:bodyPr anchor="t" rtlCol="false" tIns="0" lIns="0" bIns="0" rIns="0">
            <a:spAutoFit/>
          </a:bodyPr>
          <a:lstStyle/>
          <a:p>
            <a:pPr algn="ctr">
              <a:lnSpc>
                <a:spcPts val="6999"/>
              </a:lnSpc>
              <a:spcBef>
                <a:spcPct val="0"/>
              </a:spcBef>
            </a:pPr>
            <a:r>
              <a:rPr lang="en-US" b="true" sz="4999">
                <a:solidFill>
                  <a:srgbClr val="000000"/>
                </a:solidFill>
                <a:latin typeface="Open Sans Bold"/>
                <a:ea typeface="Open Sans Bold"/>
                <a:cs typeface="Open Sans Bold"/>
                <a:sym typeface="Open Sans Bold"/>
              </a:rPr>
              <a:t>FUNDAMENTALS</a:t>
            </a:r>
            <a:r>
              <a:rPr lang="en-US" b="true" sz="4999">
                <a:solidFill>
                  <a:srgbClr val="000000"/>
                </a:solidFill>
                <a:latin typeface="Open Sans Bold"/>
                <a:ea typeface="Open Sans Bold"/>
                <a:cs typeface="Open Sans Bold"/>
                <a:sym typeface="Open Sans Bold"/>
              </a:rPr>
              <a:t> OF ICT</a:t>
            </a:r>
          </a:p>
        </p:txBody>
      </p:sp>
      <p:sp>
        <p:nvSpPr>
          <p:cNvPr name="TextBox 15" id="15"/>
          <p:cNvSpPr txBox="true"/>
          <p:nvPr/>
        </p:nvSpPr>
        <p:spPr>
          <a:xfrm rot="0">
            <a:off x="5078016" y="2535898"/>
            <a:ext cx="8131969" cy="755015"/>
          </a:xfrm>
          <a:prstGeom prst="rect">
            <a:avLst/>
          </a:prstGeom>
        </p:spPr>
        <p:txBody>
          <a:bodyPr anchor="t" rtlCol="false" tIns="0" lIns="0" bIns="0" rIns="0">
            <a:spAutoFit/>
          </a:bodyPr>
          <a:lstStyle/>
          <a:p>
            <a:pPr algn="ctr">
              <a:lnSpc>
                <a:spcPts val="6159"/>
              </a:lnSpc>
              <a:spcBef>
                <a:spcPct val="0"/>
              </a:spcBef>
            </a:pPr>
            <a:r>
              <a:rPr lang="en-US" b="true" sz="4399">
                <a:solidFill>
                  <a:srgbClr val="000000"/>
                </a:solidFill>
                <a:latin typeface="Open Sans Bold"/>
                <a:ea typeface="Open Sans Bold"/>
                <a:cs typeface="Open Sans Bold"/>
                <a:sym typeface="Open Sans Bold"/>
              </a:rPr>
              <a:t>The First Computer Company</a:t>
            </a:r>
          </a:p>
        </p:txBody>
      </p:sp>
      <p:sp>
        <p:nvSpPr>
          <p:cNvPr name="TextBox 16" id="16"/>
          <p:cNvSpPr txBox="true"/>
          <p:nvPr/>
        </p:nvSpPr>
        <p:spPr>
          <a:xfrm rot="0">
            <a:off x="1569057" y="3414310"/>
            <a:ext cx="7574943" cy="2462530"/>
          </a:xfrm>
          <a:prstGeom prst="rect">
            <a:avLst/>
          </a:prstGeom>
        </p:spPr>
        <p:txBody>
          <a:bodyPr anchor="t" rtlCol="false" tIns="0" lIns="0" bIns="0" rIns="0">
            <a:spAutoFit/>
          </a:bodyPr>
          <a:lstStyle/>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T</a:t>
            </a:r>
            <a:r>
              <a:rPr lang="en-US" sz="2799">
                <a:solidFill>
                  <a:srgbClr val="000000"/>
                </a:solidFill>
                <a:latin typeface="Open Sans"/>
                <a:ea typeface="Open Sans"/>
                <a:cs typeface="Open Sans"/>
                <a:sym typeface="Open Sans"/>
              </a:rPr>
              <a:t>he first</a:t>
            </a:r>
            <a:r>
              <a:rPr lang="en-US" sz="2799">
                <a:solidFill>
                  <a:srgbClr val="000000"/>
                </a:solidFill>
                <a:latin typeface="Open Sans"/>
                <a:ea typeface="Open Sans"/>
                <a:cs typeface="Open Sans"/>
                <a:sym typeface="Open Sans"/>
              </a:rPr>
              <a:t> computer company was the Electronic Controls Company.</a:t>
            </a:r>
          </a:p>
          <a:p>
            <a:pPr algn="l" marL="604519" indent="-302260" lvl="1">
              <a:lnSpc>
                <a:spcPts val="3919"/>
              </a:lnSpc>
              <a:spcBef>
                <a:spcPct val="0"/>
              </a:spcBef>
              <a:buFont typeface="Arial"/>
              <a:buChar char="•"/>
            </a:pPr>
            <a:r>
              <a:rPr lang="en-US" sz="2799">
                <a:solidFill>
                  <a:srgbClr val="000000"/>
                </a:solidFill>
                <a:latin typeface="Open Sans"/>
                <a:ea typeface="Open Sans"/>
                <a:cs typeface="Open Sans"/>
                <a:sym typeface="Open Sans"/>
              </a:rPr>
              <a:t>Founded in 1949 by John Presper Eckert and John Mauchly. </a:t>
            </a:r>
          </a:p>
          <a:p>
            <a:pPr algn="l" marL="604519" indent="-302260" lvl="1">
              <a:lnSpc>
                <a:spcPts val="3919"/>
              </a:lnSpc>
              <a:spcBef>
                <a:spcPct val="0"/>
              </a:spcBef>
              <a:buFont typeface="Arial"/>
              <a:buChar char="•"/>
            </a:pP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950481" y="4013348"/>
            <a:ext cx="12387037" cy="2031703"/>
          </a:xfrm>
          <a:prstGeom prst="rect">
            <a:avLst/>
          </a:prstGeom>
        </p:spPr>
        <p:txBody>
          <a:bodyPr anchor="t" rtlCol="false" tIns="0" lIns="0" bIns="0" rIns="0">
            <a:spAutoFit/>
          </a:bodyPr>
          <a:lstStyle/>
          <a:p>
            <a:pPr algn="ctr">
              <a:lnSpc>
                <a:spcPts val="16641"/>
              </a:lnSpc>
            </a:pPr>
            <a:r>
              <a:rPr lang="en-US" b="true" sz="11886">
                <a:solidFill>
                  <a:srgbClr val="000000"/>
                </a:solidFill>
                <a:latin typeface="Century Gothic Paneuropean Bold"/>
                <a:ea typeface="Century Gothic Paneuropean Bold"/>
                <a:cs typeface="Century Gothic Paneuropean Bold"/>
                <a:sym typeface="Century Gothic Paneuropean Bold"/>
              </a:rPr>
              <a:t>THANK YOU</a:t>
            </a:r>
          </a:p>
        </p:txBody>
      </p:sp>
      <p:grpSp>
        <p:nvGrpSpPr>
          <p:cNvPr name="Group 3" id="3"/>
          <p:cNvGrpSpPr/>
          <p:nvPr/>
        </p:nvGrpSpPr>
        <p:grpSpPr>
          <a:xfrm rot="0">
            <a:off x="16718943" y="-989670"/>
            <a:ext cx="1080715" cy="2956684"/>
            <a:chOff x="0" y="0"/>
            <a:chExt cx="284633" cy="778715"/>
          </a:xfrm>
        </p:grpSpPr>
        <p:sp>
          <p:nvSpPr>
            <p:cNvPr name="Freeform 4" id="4"/>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5" id="5"/>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29352" y="9803843"/>
            <a:ext cx="19346704" cy="821917"/>
            <a:chOff x="0" y="0"/>
            <a:chExt cx="5095428" cy="216472"/>
          </a:xfrm>
        </p:grpSpPr>
        <p:sp>
          <p:nvSpPr>
            <p:cNvPr name="Freeform 7" id="7"/>
            <p:cNvSpPr/>
            <p:nvPr/>
          </p:nvSpPr>
          <p:spPr>
            <a:xfrm flipH="false" flipV="false" rot="0">
              <a:off x="0" y="0"/>
              <a:ext cx="5095428" cy="216472"/>
            </a:xfrm>
            <a:custGeom>
              <a:avLst/>
              <a:gdLst/>
              <a:ahLst/>
              <a:cxnLst/>
              <a:rect r="r" b="b" t="t" l="l"/>
              <a:pathLst>
                <a:path h="216472" w="5095428">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name="TextBox 8" id="8"/>
            <p:cNvSpPr txBox="true"/>
            <p:nvPr/>
          </p:nvSpPr>
          <p:spPr>
            <a:xfrm>
              <a:off x="0" y="-38100"/>
              <a:ext cx="5095428" cy="254572"/>
            </a:xfrm>
            <a:prstGeom prst="rect">
              <a:avLst/>
            </a:prstGeom>
          </p:spPr>
          <p:txBody>
            <a:bodyPr anchor="ctr" rtlCol="false" tIns="50800" lIns="50800" bIns="50800" rIns="50800"/>
            <a:lstStyle/>
            <a:p>
              <a:pPr algn="ctr">
                <a:lnSpc>
                  <a:spcPts val="2659"/>
                </a:lnSpc>
                <a:spcBef>
                  <a:spcPct val="0"/>
                </a:spcBef>
              </a:pPr>
            </a:p>
          </p:txBody>
        </p:sp>
      </p:grpSp>
      <p:sp>
        <p:nvSpPr>
          <p:cNvPr name="Freeform 9" id="9"/>
          <p:cNvSpPr/>
          <p:nvPr/>
        </p:nvSpPr>
        <p:spPr>
          <a:xfrm flipH="true" flipV="false" rot="0">
            <a:off x="17259300" y="3085173"/>
            <a:ext cx="4518707" cy="3939865"/>
          </a:xfrm>
          <a:custGeom>
            <a:avLst/>
            <a:gdLst/>
            <a:ahLst/>
            <a:cxnLst/>
            <a:rect r="r" b="b" t="t" l="l"/>
            <a:pathLst>
              <a:path h="3939865" w="4518707">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3486583" y="3085173"/>
            <a:ext cx="4518707" cy="3939865"/>
          </a:xfrm>
          <a:custGeom>
            <a:avLst/>
            <a:gdLst/>
            <a:ahLst/>
            <a:cxnLst/>
            <a:rect r="r" b="b" t="t" l="l"/>
            <a:pathLst>
              <a:path h="3939865" w="4518707">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1" id="11"/>
          <p:cNvGrpSpPr/>
          <p:nvPr/>
        </p:nvGrpSpPr>
        <p:grpSpPr>
          <a:xfrm rot="0">
            <a:off x="488343" y="-989670"/>
            <a:ext cx="1080715" cy="2956684"/>
            <a:chOff x="0" y="0"/>
            <a:chExt cx="284633" cy="778715"/>
          </a:xfrm>
        </p:grpSpPr>
        <p:sp>
          <p:nvSpPr>
            <p:cNvPr name="Freeform 12" id="12"/>
            <p:cNvSpPr/>
            <p:nvPr/>
          </p:nvSpPr>
          <p:spPr>
            <a:xfrm flipH="false" flipV="false" rot="0">
              <a:off x="0" y="0"/>
              <a:ext cx="284633" cy="778715"/>
            </a:xfrm>
            <a:custGeom>
              <a:avLst/>
              <a:gdLst/>
              <a:ahLst/>
              <a:cxnLst/>
              <a:rect r="r" b="b" t="t" l="l"/>
              <a:pathLst>
                <a:path h="778715" w="284633">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name="TextBox 13" id="13"/>
            <p:cNvSpPr txBox="true"/>
            <p:nvPr/>
          </p:nvSpPr>
          <p:spPr>
            <a:xfrm>
              <a:off x="0" y="-38100"/>
              <a:ext cx="284633" cy="816815"/>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DAHR5wlAuRw</dc:identifier>
  <dcterms:modified xsi:type="dcterms:W3CDTF">2011-08-01T06:04:30Z</dcterms:modified>
  <cp:revision>1</cp:revision>
  <dc:title>Fundamentals of ICT:</dc:title>
</cp:coreProperties>
</file>