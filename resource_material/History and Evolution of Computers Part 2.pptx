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10287000" cx="18288000"/>
  <p:notesSz cx="6858000" cy="9144000"/>
  <p:embeddedFontLst>
    <p:embeddedFont>
      <p:font typeface="Assistant"/>
      <p:regular r:id="rId32"/>
      <p:bold r:id="rId33"/>
    </p:embeddedFont>
    <p:embeddedFont>
      <p:font typeface="Harmattan"/>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Assistant-bold.fntdata"/><Relationship Id="rId10" Type="http://schemas.openxmlformats.org/officeDocument/2006/relationships/slide" Target="slides/slide5.xml"/><Relationship Id="rId32" Type="http://schemas.openxmlformats.org/officeDocument/2006/relationships/font" Target="fonts/Assistant-regular.fntdata"/><Relationship Id="rId13" Type="http://schemas.openxmlformats.org/officeDocument/2006/relationships/slide" Target="slides/slide8.xml"/><Relationship Id="rId35" Type="http://schemas.openxmlformats.org/officeDocument/2006/relationships/font" Target="fonts/Harmattan-bold.fntdata"/><Relationship Id="rId12" Type="http://schemas.openxmlformats.org/officeDocument/2006/relationships/slide" Target="slides/slide7.xml"/><Relationship Id="rId34" Type="http://schemas.openxmlformats.org/officeDocument/2006/relationships/font" Target="fonts/Harmattan-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Necessity is the mother of invention. The saying holds true for  computers too. Although computers seem like a modern invention, computing dates back to the early 1800s.  Computers were invented because of human’s search for accurate and fast calculating devices. Basic Pascal invented the first mechanical adding machine in 1642. Later, in 1671, Keyboard machines originated States around 1880, and we use them even today. Around the same period, Herman Hollerith came up with the concept of punched cards that were extensively used as an input medium in computers even in the late 1970s.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nineteenth-century Professor at Cambridge University, Charles Babbage, is considered the father of modern digital computers. Today computers are different from earlier days based on appearance and performance. However, present-day computers have undergone significant changes for the last seven decades.</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2" name="Google Shape;102;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3" name="Google Shape;103;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Necessity is the mother of invention. The saying holds true for  computers too. Although computers seem like a modern invention, computing dates back to the early 1800s.  Computers were invented because of human’s search for accurate and fast calculating devices. Basic Pascal invented the first mechanical adding machine in 1642. Later, in 1671, Keyboard machines originated States around 1880, and we use them even today. Around the same period, Herman Hollerith came up with the concept of punched cards that were extensively used as an input medium in computers even in the late 1970s.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nineteenth-century Professor at Cambridge University, Charles Babbage, is considered the father of modern digital computers. Today computers are different from earlier days based on appearance and performance. However, present-day computers have undergone significant changes for the last seven decades.</a:t>
            </a:r>
            <a:endParaRPr/>
          </a:p>
        </p:txBody>
      </p:sp>
      <p:sp>
        <p:nvSpPr>
          <p:cNvPr id="105" name="Google Shape;105;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6" name="Google Shape;106;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8" name="Google Shape;118;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9" name="Google Shape;119;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Primitive people used the first counting device. Earlier, people used their fingers, stones, bones, and pebbles as counting tools to do calculations. More computing devices were developed as the human mind and technology improved with time. The first use of the word “Computer” was documented in 1613, referring to an individual who carried out calculations or computations, and the term persisted in being used in that sense until the middle of the 20th century.</a:t>
            </a:r>
            <a:endParaRPr/>
          </a:p>
        </p:txBody>
      </p:sp>
      <p:sp>
        <p:nvSpPr>
          <p:cNvPr id="121" name="Google Shape;121;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2" name="Google Shape;122;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6" name="Google Shape;136;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7" name="Google Shape;137;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First-generation  computers bore little resemblance to today’s computers, either in appearance or performance. The first generation of computers occurred from 1940 AD to 1956 AD and was extremely large in size. The internal workings of the computers at that time were unsophisticated. These early machines required vacuum tubes that worked as switches, amplifiers, and magnetic drums for memory. The paper tapes and punch cards were used for input and printouts for output.</a:t>
            </a:r>
            <a:endParaRPr/>
          </a:p>
        </p:txBody>
      </p:sp>
      <p:sp>
        <p:nvSpPr>
          <p:cNvPr id="139" name="Google Shape;139;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40" name="Google Shape;140;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2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2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6" name="Google Shape;266;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7" name="Google Shape;267;p2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Electronic Numerical Integrator And Calculator (ENIAC) was the first all-electronic computer. It was constructed at the Moore School of Engineering of the University of Pennsylvania, U.S.A., by a design team led by Professors J. Presper Eckert and John Mauchly.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team developed ENIAC because of military needs. It was used for many years to solve ballistic-related problems. ENIAC took up wall space in a 20 x 40 square feet room and used 18,000 vacuum tubes. It could add two numbers in 200 microseconds and multiply them in 2000 microseconds.</a:t>
            </a:r>
            <a:endParaRPr/>
          </a:p>
        </p:txBody>
      </p:sp>
      <p:sp>
        <p:nvSpPr>
          <p:cNvPr id="269" name="Google Shape;269;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0" name="Google Shape;270;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6" name="Google Shape;286;p2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7" name="Google Shape;287;p2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major disadvantage of ENIAC was that its programs were wired on boards which made it difficult to change the programs. Dr. John Von Neumann later introduced the ―stored program concept that aided overcome this problem. The basic idea after this concept is that a sequence of instructions and data can be stored in a computer’s memory to direct operations flow automatically. This feature largely influenced the development of modern digital computers because of how various programs can be loaded and executed on the same computer. Because of this feature, we usually refer to modern digital computers as stored-program digital computers.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Electronic Discrete Variable Automatic Computer (EDVAC) used the stored’ program concept in its design. Von Neumann also has a share of the credit for introducing the idea of storing both instructions and data in binary form (a system that uses only two digits – 0 and 1 to represent all characters), instead of decimal numbers or human-readable words.</a:t>
            </a:r>
            <a:endParaRPr/>
          </a:p>
        </p:txBody>
      </p:sp>
      <p:sp>
        <p:nvSpPr>
          <p:cNvPr id="289" name="Google Shape;289;p2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0" name="Google Shape;290;p2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6" name="Google Shape;306;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7" name="Google Shape;307;p2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Universal Automatic Computer (UNIVAC) was the first digital computer that was not ―one of a kind. Many UNIVAC machines were manufactured, the first of which was installed in the Census Bureau in 1951 and was used continually for 10 years.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1952, the International Business Machines (IBM) Corporation introduced the IBM-701 commercial  computer. In quick succession, improved models of the UNIVAC I and other IBM 700-series machines were introduced. In 1953, IBM produced the IBM-650 and sold over 1000  computers.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UNIVAC marked the arrival of commercially available digital computers for business and scientific applications and was developed by General Electric Corporation in 1954.</a:t>
            </a:r>
            <a:endParaRPr/>
          </a:p>
        </p:txBody>
      </p:sp>
      <p:sp>
        <p:nvSpPr>
          <p:cNvPr id="309" name="Google Shape;309;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0" name="Google Shape;310;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26" name="Google Shape;326;p2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7" name="Google Shape;327;p2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2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interest in computer technology got fast after the first-generation computers. It was the generation of Transistorized Computers. Transistors replaced vacuum tubes from the first generation computers. As a result, first-generation computers were replaced by second-generation computers.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transistors were more reliable than vacuum tubes, smaller in size, faster in speed, and cheap[er than first-generation computers. Magnetic drums are replaced by magnetic disks and magnetic tape for secondary storage. As a result, the size of the machines began shrinking.</a:t>
            </a:r>
            <a:endParaRPr/>
          </a:p>
        </p:txBody>
      </p:sp>
      <p:sp>
        <p:nvSpPr>
          <p:cNvPr id="329" name="Google Shape;329;p2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0" name="Google Shape;330;p2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6" name="Google Shape;346;p3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7" name="Google Shape;347;p3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3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transistorized computer was TX-0. The first large-scale machines that took advantage of the transistor technology were the early supercomputers, LARC by Sperry Rand and Stretch by IBM. These machines were specially developed for atomic energy laboratories. IBM 1400 and IBM 7000 series, General Electric, and Honeywell 200 were the typical computers of the second generation.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IBM 1401 was accepted throughout the industry, and most prominent businesses routinely processed financial information using second-generation computers. The machine language was replaced by assembly language. Thus the long and challenging binary code was replaced with abbreviated programming code, which was relatively easy to understand.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High-level languages like FORTRAN, COBOL, and AL- GOL were developed.  Computers started finding varied and vast applications. The entire software industry began with second-generation computers. </a:t>
            </a:r>
            <a:endParaRPr/>
          </a:p>
        </p:txBody>
      </p:sp>
      <p:sp>
        <p:nvSpPr>
          <p:cNvPr id="349" name="Google Shape;349;p3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0" name="Google Shape;350;p3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3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3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66" name="Google Shape;466;p3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67" name="Google Shape;467;p3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3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Its period was around 1964 to 1971. Third-generation computers were characterized by the invention of Integrated Circuits (ICs). IC is a silicon chip made from quartz where multiple transistors were placed over it. Robert Noyce and Jack Kilby developed IC at Texas Instrument in 1958-1959. Later, even more components were rigged onto a single chip, called a semiconductor. It reduced the size even further in the third generation computers. Computers’ weight and power consumption decreased, and the speed boosted.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Operating systems were created, allowing the machine to run many different programs simultaneously. Multiprogramming was made possible, whereby the device could perform several jobs simultaneously.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Computers gained the speed of executing millions of instructions per second. Commercial production became more accessible and cheaper. Higher-level languages like Pascal and Report Program Generator (RPG) were introduced. And applications-oriented languages like FORTRAN, COBOL, and PL/1 were developed. Keyboards and mouse were introduced for the input of data. The monitor was introduced for the output of data.</a:t>
            </a:r>
            <a:endParaRPr/>
          </a:p>
        </p:txBody>
      </p:sp>
      <p:sp>
        <p:nvSpPr>
          <p:cNvPr id="469" name="Google Shape;469;p3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70" name="Google Shape;470;p3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3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3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3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3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56" name="Google Shape;556;p3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57" name="Google Shape;557;p3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3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fourth-generation computers were developed from 1971 to 1990 AD. The present-day computer we see is the fourth generation of computers. The third generation computers used Integrated Circuits with 10-20 components on each chip; this was Small Scale Integration (SSI).  The Fourth Generation acknowledged Large Scale Integration (LSI), which could hold hundreds of components on one chip, and Very Large Scale Integration (VLSI), which embraced thousand of components on one  silicon chip.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Intel 4004 chip hold all the components of a computer (central processing unit (CPU), input and output controls, memory unit) on a single chip called a Microprocessor, and microcomputers were introduced.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this generation, the concept of computer networks and CD-ROMS come into existence. GUI and pointing devices facilitate easy use and learning on the computer. Many new operating systems like the MS-DOS and MS-Windows developed during this time. Computer production became affordable, and the era of Personal Computers (PCs) began.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1981, IBM introduced its personal computer for home, office, and schools. In direct competition, the Macintosh was introduced in 1984 by Apple. Shared interactive systems and user-friendly environments were the features of these computers. </a:t>
            </a:r>
            <a:endParaRPr/>
          </a:p>
        </p:txBody>
      </p:sp>
      <p:sp>
        <p:nvSpPr>
          <p:cNvPr id="559" name="Google Shape;559;p3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60" name="Google Shape;560;p3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3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4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4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4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4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46" name="Google Shape;646;p4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47" name="Google Shape;647;p4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4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Defining the fifth generation of computers is tricky because the field is still in its infancy. Tomorrow’s computers would be characterized by Artificial Intelligence (AI) and ULSI (Ultra Large-Scale Integration) technology that can store millions of components in a single chip. An example of Al is Expert Systems. Computers could be developed to think and sense much the same way as humans. Computers would be able to accept verbal words as input (voice recognition).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Numerous advancements in the science of computer design and technology are coming together to enable the creation of fifth-generation  computers. Two such advances are in superconductor technology that allows electricity flow with little or no resistance, significantly enhancing the speed of information flow, and advances in parallel processing, where many CPUs work as one.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Scientists are now working on fifth-generation computers – a promise but not yet a reality. They seek to bring us machines with genuine I.Q., the ability to reason logically, and real-world knowledge. </a:t>
            </a:r>
            <a:endParaRPr/>
          </a:p>
        </p:txBody>
      </p:sp>
      <p:sp>
        <p:nvSpPr>
          <p:cNvPr id="649" name="Google Shape;649;p4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50" name="Google Shape;650;p4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4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p4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4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4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hyperlink" Target="https://notespress.com/evolution-of-computers-history/"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91" name="Shape 91"/>
        <p:cNvGrpSpPr/>
        <p:nvPr/>
      </p:nvGrpSpPr>
      <p:grpSpPr>
        <a:xfrm>
          <a:off x="0" y="0"/>
          <a:ext cx="0" cy="0"/>
          <a:chOff x="0" y="0"/>
          <a:chExt cx="0" cy="0"/>
        </a:xfrm>
      </p:grpSpPr>
      <p:grpSp>
        <p:nvGrpSpPr>
          <p:cNvPr id="92" name="Google Shape;92;p13"/>
          <p:cNvGrpSpPr/>
          <p:nvPr/>
        </p:nvGrpSpPr>
        <p:grpSpPr>
          <a:xfrm>
            <a:off x="0" y="-144661"/>
            <a:ext cx="18288000" cy="10431661"/>
            <a:chOff x="0" y="-38100"/>
            <a:chExt cx="4816593" cy="2747433"/>
          </a:xfrm>
        </p:grpSpPr>
        <p:sp>
          <p:nvSpPr>
            <p:cNvPr id="93" name="Google Shape;93;p13"/>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94" name="Google Shape;94;p13"/>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5" name="Google Shape;95;p13"/>
          <p:cNvSpPr/>
          <p:nvPr/>
        </p:nvSpPr>
        <p:spPr>
          <a:xfrm rot="-5400000">
            <a:off x="15077589" y="-862671"/>
            <a:ext cx="2024824" cy="4114800"/>
          </a:xfrm>
          <a:custGeom>
            <a:rect b="b" l="l" r="r" t="t"/>
            <a:pathLst>
              <a:path extrusionOk="0" h="4114800" w="2024824">
                <a:moveTo>
                  <a:pt x="0" y="0"/>
                </a:moveTo>
                <a:lnTo>
                  <a:pt x="2024825" y="0"/>
                </a:lnTo>
                <a:lnTo>
                  <a:pt x="2024825" y="4114800"/>
                </a:lnTo>
                <a:lnTo>
                  <a:pt x="0" y="4114800"/>
                </a:lnTo>
                <a:lnTo>
                  <a:pt x="0" y="0"/>
                </a:lnTo>
                <a:close/>
              </a:path>
            </a:pathLst>
          </a:custGeom>
          <a:blipFill rotWithShape="1">
            <a:blip r:embed="rId3">
              <a:alphaModFix/>
            </a:blip>
            <a:stretch>
              <a:fillRect b="0" l="0" r="0" t="0"/>
            </a:stretch>
          </a:blipFill>
          <a:ln>
            <a:noFill/>
          </a:ln>
        </p:spPr>
      </p:sp>
      <p:sp>
        <p:nvSpPr>
          <p:cNvPr id="96" name="Google Shape;96;p13"/>
          <p:cNvSpPr/>
          <p:nvPr/>
        </p:nvSpPr>
        <p:spPr>
          <a:xfrm rot="5400000">
            <a:off x="1284033" y="7006290"/>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97" name="Google Shape;97;p13"/>
          <p:cNvSpPr/>
          <p:nvPr/>
        </p:nvSpPr>
        <p:spPr>
          <a:xfrm>
            <a:off x="-2355237" y="369093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98" name="Google Shape;98;p13"/>
          <p:cNvSpPr/>
          <p:nvPr/>
        </p:nvSpPr>
        <p:spPr>
          <a:xfrm rot="10800000">
            <a:off x="15962159" y="2516980"/>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99" name="Google Shape;99;p13"/>
          <p:cNvSpPr txBox="1"/>
          <p:nvPr/>
        </p:nvSpPr>
        <p:spPr>
          <a:xfrm>
            <a:off x="2413314" y="2223636"/>
            <a:ext cx="13461300" cy="625380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i="0" lang="en-US" sz="10692" u="none" cap="none" strike="noStrike">
                <a:solidFill>
                  <a:srgbClr val="230E0E"/>
                </a:solidFill>
              </a:rPr>
              <a:t>HISTORY AND EVOLUTION OF COMPUTERS</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107" name="Shape 107"/>
        <p:cNvGrpSpPr/>
        <p:nvPr/>
      </p:nvGrpSpPr>
      <p:grpSpPr>
        <a:xfrm>
          <a:off x="0" y="0"/>
          <a:ext cx="0" cy="0"/>
          <a:chOff x="0" y="0"/>
          <a:chExt cx="0" cy="0"/>
        </a:xfrm>
      </p:grpSpPr>
      <p:grpSp>
        <p:nvGrpSpPr>
          <p:cNvPr id="108" name="Google Shape;108;p14"/>
          <p:cNvGrpSpPr/>
          <p:nvPr/>
        </p:nvGrpSpPr>
        <p:grpSpPr>
          <a:xfrm>
            <a:off x="0" y="-144661"/>
            <a:ext cx="18288000" cy="10431661"/>
            <a:chOff x="0" y="-38100"/>
            <a:chExt cx="4816593" cy="2747433"/>
          </a:xfrm>
        </p:grpSpPr>
        <p:sp>
          <p:nvSpPr>
            <p:cNvPr id="109" name="Google Shape;109;p14"/>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110" name="Google Shape;110;p14"/>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1" name="Google Shape;111;p14"/>
          <p:cNvSpPr/>
          <p:nvPr/>
        </p:nvSpPr>
        <p:spPr>
          <a:xfrm rot="-5400000">
            <a:off x="15077589" y="-862671"/>
            <a:ext cx="2024824" cy="4114800"/>
          </a:xfrm>
          <a:custGeom>
            <a:rect b="b" l="l" r="r" t="t"/>
            <a:pathLst>
              <a:path extrusionOk="0" h="4114800" w="2024824">
                <a:moveTo>
                  <a:pt x="0" y="0"/>
                </a:moveTo>
                <a:lnTo>
                  <a:pt x="2024825" y="0"/>
                </a:lnTo>
                <a:lnTo>
                  <a:pt x="2024825" y="4114800"/>
                </a:lnTo>
                <a:lnTo>
                  <a:pt x="0" y="4114800"/>
                </a:lnTo>
                <a:lnTo>
                  <a:pt x="0" y="0"/>
                </a:lnTo>
                <a:close/>
              </a:path>
            </a:pathLst>
          </a:custGeom>
          <a:blipFill rotWithShape="1">
            <a:blip r:embed="rId3">
              <a:alphaModFix/>
            </a:blip>
            <a:stretch>
              <a:fillRect b="0" l="0" r="0" t="0"/>
            </a:stretch>
          </a:blipFill>
          <a:ln>
            <a:noFill/>
          </a:ln>
        </p:spPr>
      </p:sp>
      <p:sp>
        <p:nvSpPr>
          <p:cNvPr id="112" name="Google Shape;112;p14"/>
          <p:cNvSpPr/>
          <p:nvPr/>
        </p:nvSpPr>
        <p:spPr>
          <a:xfrm rot="5400000">
            <a:off x="1284033" y="7006290"/>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113" name="Google Shape;113;p14"/>
          <p:cNvSpPr/>
          <p:nvPr/>
        </p:nvSpPr>
        <p:spPr>
          <a:xfrm>
            <a:off x="-2355237" y="369093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114" name="Google Shape;114;p14"/>
          <p:cNvSpPr/>
          <p:nvPr/>
        </p:nvSpPr>
        <p:spPr>
          <a:xfrm rot="10800000">
            <a:off x="15962159" y="2516980"/>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115" name="Google Shape;115;p14"/>
          <p:cNvSpPr txBox="1"/>
          <p:nvPr/>
        </p:nvSpPr>
        <p:spPr>
          <a:xfrm>
            <a:off x="2413314" y="1274933"/>
            <a:ext cx="13461300" cy="768390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i="0" lang="en-US" sz="9600" u="none" cap="none" strike="noStrike">
                <a:solidFill>
                  <a:srgbClr val="230E0E"/>
                </a:solidFill>
              </a:rPr>
              <a:t>EVOLUTION OF COMPUTERS [GENERATIONS OF COMPUTERS]</a:t>
            </a:r>
            <a:endParaRPr b="1" sz="9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123" name="Shape 123"/>
        <p:cNvGrpSpPr/>
        <p:nvPr/>
      </p:nvGrpSpPr>
      <p:grpSpPr>
        <a:xfrm>
          <a:off x="0" y="0"/>
          <a:ext cx="0" cy="0"/>
          <a:chOff x="0" y="0"/>
          <a:chExt cx="0" cy="0"/>
        </a:xfrm>
      </p:grpSpPr>
      <p:grpSp>
        <p:nvGrpSpPr>
          <p:cNvPr id="124" name="Google Shape;124;p15"/>
          <p:cNvGrpSpPr/>
          <p:nvPr/>
        </p:nvGrpSpPr>
        <p:grpSpPr>
          <a:xfrm>
            <a:off x="0" y="-144661"/>
            <a:ext cx="18288000" cy="10431661"/>
            <a:chOff x="0" y="-38100"/>
            <a:chExt cx="4816593" cy="2747433"/>
          </a:xfrm>
        </p:grpSpPr>
        <p:sp>
          <p:nvSpPr>
            <p:cNvPr id="125" name="Google Shape;125;p15"/>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126" name="Google Shape;126;p15"/>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7" name="Google Shape;127;p15"/>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128" name="Google Shape;128;p15"/>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129" name="Google Shape;129;p15"/>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130" name="Google Shape;130;p15"/>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131" name="Google Shape;131;p15"/>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132" name="Google Shape;132;p15"/>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133" name="Google Shape;133;p15"/>
          <p:cNvSpPr txBox="1"/>
          <p:nvPr/>
        </p:nvSpPr>
        <p:spPr>
          <a:xfrm>
            <a:off x="2325850" y="1085125"/>
            <a:ext cx="13636200" cy="8084400"/>
          </a:xfrm>
          <a:prstGeom prst="rect">
            <a:avLst/>
          </a:prstGeom>
          <a:noFill/>
          <a:ln>
            <a:noFill/>
          </a:ln>
        </p:spPr>
        <p:txBody>
          <a:bodyPr anchorCtr="0" anchor="t" bIns="0" lIns="0" spcFirstLastPara="1" rIns="0" wrap="square" tIns="0">
            <a:spAutoFit/>
          </a:bodyPr>
          <a:lstStyle/>
          <a:p>
            <a:pPr indent="0" lvl="0" marL="0" marR="0" rtl="0" algn="just">
              <a:lnSpc>
                <a:spcPct val="150995"/>
              </a:lnSpc>
              <a:spcBef>
                <a:spcPts val="0"/>
              </a:spcBef>
              <a:spcAft>
                <a:spcPts val="0"/>
              </a:spcAft>
              <a:buNone/>
            </a:pPr>
            <a:r>
              <a:rPr i="0" lang="en-US" sz="3600" u="none" cap="none" strike="noStrike">
                <a:solidFill>
                  <a:srgbClr val="230E0E"/>
                </a:solidFill>
              </a:rPr>
              <a:t>Computer generation is a classification of computers into different groups according to their manufacturing date, memory device, software and hardware technologies. There are five generations of computers. They are as follow:</a:t>
            </a:r>
            <a:endParaRPr sz="3600"/>
          </a:p>
          <a:p>
            <a:pPr indent="-442867" lvl="1" marL="1040674" marR="0" rtl="0" algn="just">
              <a:lnSpc>
                <a:spcPct val="150995"/>
              </a:lnSpc>
              <a:spcBef>
                <a:spcPts val="0"/>
              </a:spcBef>
              <a:spcAft>
                <a:spcPts val="0"/>
              </a:spcAft>
              <a:buClr>
                <a:srgbClr val="230E0E"/>
              </a:buClr>
              <a:buSzPts val="3600"/>
              <a:buAutoNum type="arabicPeriod"/>
            </a:pPr>
            <a:r>
              <a:rPr i="0" lang="en-US" sz="3600" u="none" cap="none" strike="noStrike">
                <a:solidFill>
                  <a:srgbClr val="230E0E"/>
                </a:solidFill>
              </a:rPr>
              <a:t>First Generation (1942-1955) </a:t>
            </a:r>
            <a:endParaRPr sz="3600"/>
          </a:p>
          <a:p>
            <a:pPr indent="-442867" lvl="1" marL="1040674" marR="0" rtl="0" algn="just">
              <a:lnSpc>
                <a:spcPct val="150995"/>
              </a:lnSpc>
              <a:spcBef>
                <a:spcPts val="0"/>
              </a:spcBef>
              <a:spcAft>
                <a:spcPts val="0"/>
              </a:spcAft>
              <a:buClr>
                <a:srgbClr val="230E0E"/>
              </a:buClr>
              <a:buSzPts val="3600"/>
              <a:buAutoNum type="arabicPeriod"/>
            </a:pPr>
            <a:r>
              <a:rPr i="0" lang="en-US" sz="3600" u="none" cap="none" strike="noStrike">
                <a:solidFill>
                  <a:srgbClr val="230E0E"/>
                </a:solidFill>
              </a:rPr>
              <a:t>Second Generation (1955-1964) </a:t>
            </a:r>
            <a:endParaRPr sz="3600"/>
          </a:p>
          <a:p>
            <a:pPr indent="-442867" lvl="1" marL="1040674" marR="0" rtl="0" algn="just">
              <a:lnSpc>
                <a:spcPct val="150995"/>
              </a:lnSpc>
              <a:spcBef>
                <a:spcPts val="0"/>
              </a:spcBef>
              <a:spcAft>
                <a:spcPts val="0"/>
              </a:spcAft>
              <a:buClr>
                <a:srgbClr val="230E0E"/>
              </a:buClr>
              <a:buSzPts val="3600"/>
              <a:buAutoNum type="arabicPeriod"/>
            </a:pPr>
            <a:r>
              <a:rPr i="0" lang="en-US" sz="3600" u="none" cap="none" strike="noStrike">
                <a:solidFill>
                  <a:srgbClr val="230E0E"/>
                </a:solidFill>
              </a:rPr>
              <a:t>Third Generation (1964-1975) </a:t>
            </a:r>
            <a:endParaRPr sz="3600"/>
          </a:p>
          <a:p>
            <a:pPr indent="-442867" lvl="1" marL="1040674" marR="0" rtl="0" algn="just">
              <a:lnSpc>
                <a:spcPct val="150995"/>
              </a:lnSpc>
              <a:spcBef>
                <a:spcPts val="0"/>
              </a:spcBef>
              <a:spcAft>
                <a:spcPts val="0"/>
              </a:spcAft>
              <a:buClr>
                <a:srgbClr val="230E0E"/>
              </a:buClr>
              <a:buSzPts val="3600"/>
              <a:buAutoNum type="arabicPeriod"/>
            </a:pPr>
            <a:r>
              <a:rPr i="0" lang="en-US" sz="3600" u="none" cap="none" strike="noStrike">
                <a:solidFill>
                  <a:srgbClr val="230E0E"/>
                </a:solidFill>
              </a:rPr>
              <a:t>Fourth Generation (1975-1989) </a:t>
            </a:r>
            <a:endParaRPr sz="3600"/>
          </a:p>
          <a:p>
            <a:pPr indent="-442867" lvl="1" marL="1040674" marR="0" rtl="0" algn="just">
              <a:lnSpc>
                <a:spcPct val="150995"/>
              </a:lnSpc>
              <a:spcBef>
                <a:spcPts val="0"/>
              </a:spcBef>
              <a:spcAft>
                <a:spcPts val="0"/>
              </a:spcAft>
              <a:buClr>
                <a:srgbClr val="230E0E"/>
              </a:buClr>
              <a:buSzPts val="3600"/>
              <a:buAutoNum type="arabicPeriod"/>
            </a:pPr>
            <a:r>
              <a:rPr i="0" lang="en-US" sz="3600" u="none" cap="none" strike="noStrike">
                <a:solidFill>
                  <a:srgbClr val="230E0E"/>
                </a:solidFill>
              </a:rPr>
              <a:t>Fifth Generation (1989-Present)</a:t>
            </a:r>
            <a:endParaRPr sz="3600"/>
          </a:p>
          <a:p>
            <a:pPr indent="0" lvl="0" marL="0" marR="0" rtl="0" algn="just">
              <a:lnSpc>
                <a:spcPct val="150995"/>
              </a:lnSpc>
              <a:spcBef>
                <a:spcPts val="0"/>
              </a:spcBef>
              <a:spcAft>
                <a:spcPts val="0"/>
              </a:spcAft>
              <a:buNone/>
            </a:pPr>
            <a:r>
              <a:t/>
            </a:r>
            <a:endParaRPr i="0" sz="3600" u="none" cap="none" strike="noStrike">
              <a:solidFill>
                <a:srgbClr val="230E0E"/>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141" name="Shape 141"/>
        <p:cNvGrpSpPr/>
        <p:nvPr/>
      </p:nvGrpSpPr>
      <p:grpSpPr>
        <a:xfrm>
          <a:off x="0" y="0"/>
          <a:ext cx="0" cy="0"/>
          <a:chOff x="0" y="0"/>
          <a:chExt cx="0" cy="0"/>
        </a:xfrm>
      </p:grpSpPr>
      <p:grpSp>
        <p:nvGrpSpPr>
          <p:cNvPr id="142" name="Google Shape;142;p16"/>
          <p:cNvGrpSpPr/>
          <p:nvPr/>
        </p:nvGrpSpPr>
        <p:grpSpPr>
          <a:xfrm>
            <a:off x="0" y="-144661"/>
            <a:ext cx="18288000" cy="10431661"/>
            <a:chOff x="0" y="-38100"/>
            <a:chExt cx="4816593" cy="2747433"/>
          </a:xfrm>
        </p:grpSpPr>
        <p:sp>
          <p:nvSpPr>
            <p:cNvPr id="143" name="Google Shape;143;p16"/>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144" name="Google Shape;144;p16"/>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5" name="Google Shape;145;p16"/>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146" name="Google Shape;146;p16"/>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147" name="Google Shape;147;p16"/>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148" name="Google Shape;148;p16"/>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149" name="Google Shape;149;p16"/>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150" name="Google Shape;150;p16"/>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151" name="Google Shape;151;p16"/>
          <p:cNvSpPr/>
          <p:nvPr/>
        </p:nvSpPr>
        <p:spPr>
          <a:xfrm>
            <a:off x="5676625" y="6204774"/>
            <a:ext cx="7153525" cy="3298638"/>
          </a:xfrm>
          <a:custGeom>
            <a:rect b="b" l="l" r="r" t="t"/>
            <a:pathLst>
              <a:path extrusionOk="0" h="3527955" w="7355810">
                <a:moveTo>
                  <a:pt x="0" y="0"/>
                </a:moveTo>
                <a:lnTo>
                  <a:pt x="7355810" y="0"/>
                </a:lnTo>
                <a:lnTo>
                  <a:pt x="7355810" y="3527955"/>
                </a:lnTo>
                <a:lnTo>
                  <a:pt x="0" y="3527955"/>
                </a:lnTo>
                <a:lnTo>
                  <a:pt x="0" y="0"/>
                </a:lnTo>
                <a:close/>
              </a:path>
            </a:pathLst>
          </a:custGeom>
          <a:blipFill rotWithShape="1">
            <a:blip r:embed="rId5">
              <a:alphaModFix/>
            </a:blip>
            <a:stretch>
              <a:fillRect b="-9497" l="0" r="0" t="-7784"/>
            </a:stretch>
          </a:blipFill>
          <a:ln>
            <a:noFill/>
          </a:ln>
        </p:spPr>
      </p:sp>
      <p:sp>
        <p:nvSpPr>
          <p:cNvPr id="152" name="Google Shape;152;p16"/>
          <p:cNvSpPr txBox="1"/>
          <p:nvPr/>
        </p:nvSpPr>
        <p:spPr>
          <a:xfrm>
            <a:off x="2057400" y="2004251"/>
            <a:ext cx="13661400" cy="4079700"/>
          </a:xfrm>
          <a:prstGeom prst="rect">
            <a:avLst/>
          </a:prstGeom>
          <a:noFill/>
          <a:ln>
            <a:noFill/>
          </a:ln>
        </p:spPr>
        <p:txBody>
          <a:bodyPr anchorCtr="0" anchor="t" bIns="0" lIns="0" spcFirstLastPara="1" rIns="0" wrap="square" tIns="0">
            <a:spAutoFit/>
          </a:bodyPr>
          <a:lstStyle/>
          <a:p>
            <a:pPr indent="0" lvl="0" marL="0" marR="0" rtl="0" algn="just">
              <a:lnSpc>
                <a:spcPct val="150999"/>
              </a:lnSpc>
              <a:spcBef>
                <a:spcPts val="0"/>
              </a:spcBef>
              <a:spcAft>
                <a:spcPts val="0"/>
              </a:spcAft>
              <a:buNone/>
            </a:pPr>
            <a:r>
              <a:rPr i="0" lang="en-US" sz="3100" u="none" cap="none" strike="noStrike">
                <a:solidFill>
                  <a:srgbClr val="230E0E"/>
                </a:solidFill>
              </a:rPr>
              <a:t>First-generation</a:t>
            </a:r>
            <a:r>
              <a:rPr lang="en-US" sz="3100" u="none">
                <a:solidFill>
                  <a:srgbClr val="230E0E"/>
                </a:solidFill>
              </a:rPr>
              <a:t> </a:t>
            </a:r>
            <a:r>
              <a:rPr b="1" i="0" lang="en-US" sz="3100" cap="none" strike="noStrike">
                <a:solidFill>
                  <a:srgbClr val="230E0E"/>
                </a:solidFill>
              </a:rPr>
              <a:t>computers </a:t>
            </a:r>
            <a:r>
              <a:rPr i="0" lang="en-US" sz="3100" u="none" cap="none" strike="noStrike">
                <a:solidFill>
                  <a:srgbClr val="230E0E"/>
                </a:solidFill>
              </a:rPr>
              <a:t>bore little resemblance to today’s computers, either in appearance or performance. The first generation of computers occurred from 1940 AD to 1956 AD and was extremely large in size. These early machines required </a:t>
            </a:r>
            <a:r>
              <a:rPr i="0" lang="en-US" sz="3100" u="sng" cap="none" strike="noStrike">
                <a:solidFill>
                  <a:srgbClr val="230E0E"/>
                </a:solidFill>
              </a:rPr>
              <a:t>vacuum tubes</a:t>
            </a:r>
            <a:r>
              <a:rPr i="0" lang="en-US" sz="3100" u="none" cap="none" strike="noStrike">
                <a:solidFill>
                  <a:srgbClr val="230E0E"/>
                </a:solidFill>
              </a:rPr>
              <a:t> that worked as switches, amplifiers, and </a:t>
            </a:r>
            <a:r>
              <a:rPr i="0" lang="en-US" sz="3100" u="sng" cap="none" strike="noStrike">
                <a:solidFill>
                  <a:srgbClr val="230E0E"/>
                </a:solidFill>
              </a:rPr>
              <a:t>magnetic drums</a:t>
            </a:r>
            <a:r>
              <a:rPr i="0" lang="en-US" sz="3100" u="none" cap="none" strike="noStrike">
                <a:solidFill>
                  <a:srgbClr val="230E0E"/>
                </a:solidFill>
              </a:rPr>
              <a:t> for memory. The paper tapes and punch cards were used for input and printouts for output.</a:t>
            </a:r>
            <a:endParaRPr sz="3100"/>
          </a:p>
        </p:txBody>
      </p:sp>
      <p:sp>
        <p:nvSpPr>
          <p:cNvPr id="153" name="Google Shape;153;p16"/>
          <p:cNvSpPr txBox="1"/>
          <p:nvPr/>
        </p:nvSpPr>
        <p:spPr>
          <a:xfrm>
            <a:off x="869075" y="712676"/>
            <a:ext cx="16390200" cy="789000"/>
          </a:xfrm>
          <a:prstGeom prst="rect">
            <a:avLst/>
          </a:prstGeom>
          <a:noFill/>
          <a:ln>
            <a:noFill/>
          </a:ln>
        </p:spPr>
        <p:txBody>
          <a:bodyPr anchorCtr="0" anchor="ctr" bIns="0" lIns="0" spcFirstLastPara="1" rIns="0" wrap="square" tIns="0">
            <a:noAutofit/>
          </a:bodyPr>
          <a:lstStyle/>
          <a:p>
            <a:pPr indent="0" lvl="0" marL="0" marR="0" rtl="0" algn="ctr">
              <a:lnSpc>
                <a:spcPct val="139988"/>
              </a:lnSpc>
              <a:spcBef>
                <a:spcPts val="0"/>
              </a:spcBef>
              <a:spcAft>
                <a:spcPts val="0"/>
              </a:spcAft>
              <a:buNone/>
            </a:pPr>
            <a:r>
              <a:rPr b="1" i="0" lang="en-US" sz="4200" u="none" cap="none" strike="noStrike">
                <a:solidFill>
                  <a:srgbClr val="230E0E"/>
                </a:solidFill>
              </a:rPr>
              <a:t>1.THE FIRST GENERATION COMPUTERS (1945-1956 AD)</a:t>
            </a:r>
            <a:endParaRPr b="1" sz="4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157" name="Shape 157"/>
        <p:cNvGrpSpPr/>
        <p:nvPr/>
      </p:nvGrpSpPr>
      <p:grpSpPr>
        <a:xfrm>
          <a:off x="0" y="0"/>
          <a:ext cx="0" cy="0"/>
          <a:chOff x="0" y="0"/>
          <a:chExt cx="0" cy="0"/>
        </a:xfrm>
      </p:grpSpPr>
      <p:grpSp>
        <p:nvGrpSpPr>
          <p:cNvPr id="158" name="Google Shape;158;p17"/>
          <p:cNvGrpSpPr/>
          <p:nvPr/>
        </p:nvGrpSpPr>
        <p:grpSpPr>
          <a:xfrm>
            <a:off x="0" y="-144661"/>
            <a:ext cx="18288000" cy="10431661"/>
            <a:chOff x="0" y="-38100"/>
            <a:chExt cx="4816593" cy="2747433"/>
          </a:xfrm>
        </p:grpSpPr>
        <p:sp>
          <p:nvSpPr>
            <p:cNvPr id="159" name="Google Shape;159;p17"/>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160" name="Google Shape;160;p17"/>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1" name="Google Shape;161;p17"/>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162" name="Google Shape;162;p17"/>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163" name="Google Shape;163;p17"/>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164" name="Google Shape;164;p17"/>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165" name="Google Shape;165;p17"/>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166" name="Google Shape;166;p17"/>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grpSp>
        <p:nvGrpSpPr>
          <p:cNvPr id="167" name="Google Shape;167;p17"/>
          <p:cNvGrpSpPr/>
          <p:nvPr/>
        </p:nvGrpSpPr>
        <p:grpSpPr>
          <a:xfrm>
            <a:off x="3125858" y="1155340"/>
            <a:ext cx="12029613" cy="1159463"/>
            <a:chOff x="0" y="-38100"/>
            <a:chExt cx="4092875" cy="394488"/>
          </a:xfrm>
        </p:grpSpPr>
        <p:sp>
          <p:nvSpPr>
            <p:cNvPr id="168" name="Google Shape;168;p17"/>
            <p:cNvSpPr/>
            <p:nvPr/>
          </p:nvSpPr>
          <p:spPr>
            <a:xfrm>
              <a:off x="0" y="0"/>
              <a:ext cx="4092875" cy="356388"/>
            </a:xfrm>
            <a:custGeom>
              <a:rect b="b" l="l" r="r" t="t"/>
              <a:pathLst>
                <a:path extrusionOk="0" h="356388" w="4092875">
                  <a:moveTo>
                    <a:pt x="0" y="0"/>
                  </a:moveTo>
                  <a:lnTo>
                    <a:pt x="4092875" y="0"/>
                  </a:lnTo>
                  <a:lnTo>
                    <a:pt x="4092875" y="356388"/>
                  </a:lnTo>
                  <a:lnTo>
                    <a:pt x="0" y="356388"/>
                  </a:lnTo>
                  <a:close/>
                </a:path>
              </a:pathLst>
            </a:custGeom>
            <a:solidFill>
              <a:srgbClr val="DFD0B8"/>
            </a:solidFill>
            <a:ln>
              <a:noFill/>
            </a:ln>
          </p:spPr>
        </p:sp>
        <p:sp>
          <p:nvSpPr>
            <p:cNvPr id="169" name="Google Shape;169;p17"/>
            <p:cNvSpPr txBox="1"/>
            <p:nvPr/>
          </p:nvSpPr>
          <p:spPr>
            <a:xfrm>
              <a:off x="0" y="-38100"/>
              <a:ext cx="4092875" cy="39448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0" name="Google Shape;170;p17"/>
          <p:cNvGrpSpPr/>
          <p:nvPr/>
        </p:nvGrpSpPr>
        <p:grpSpPr>
          <a:xfrm>
            <a:off x="3125858" y="2389305"/>
            <a:ext cx="12029613" cy="1417925"/>
            <a:chOff x="0" y="-38100"/>
            <a:chExt cx="4092875" cy="482425"/>
          </a:xfrm>
        </p:grpSpPr>
        <p:sp>
          <p:nvSpPr>
            <p:cNvPr id="171" name="Google Shape;171;p17"/>
            <p:cNvSpPr/>
            <p:nvPr/>
          </p:nvSpPr>
          <p:spPr>
            <a:xfrm>
              <a:off x="0" y="0"/>
              <a:ext cx="4092875" cy="444325"/>
            </a:xfrm>
            <a:custGeom>
              <a:rect b="b" l="l" r="r" t="t"/>
              <a:pathLst>
                <a:path extrusionOk="0" h="444325" w="4092875">
                  <a:moveTo>
                    <a:pt x="0" y="0"/>
                  </a:moveTo>
                  <a:lnTo>
                    <a:pt x="4092875" y="0"/>
                  </a:lnTo>
                  <a:lnTo>
                    <a:pt x="4092875" y="444325"/>
                  </a:lnTo>
                  <a:lnTo>
                    <a:pt x="0" y="444325"/>
                  </a:lnTo>
                  <a:close/>
                </a:path>
              </a:pathLst>
            </a:custGeom>
            <a:solidFill>
              <a:srgbClr val="DFD0B8"/>
            </a:solidFill>
            <a:ln>
              <a:noFill/>
            </a:ln>
          </p:spPr>
        </p:sp>
        <p:sp>
          <p:nvSpPr>
            <p:cNvPr id="172" name="Google Shape;172;p17"/>
            <p:cNvSpPr txBox="1"/>
            <p:nvPr/>
          </p:nvSpPr>
          <p:spPr>
            <a:xfrm>
              <a:off x="0" y="-38100"/>
              <a:ext cx="4092875" cy="4824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3" name="Google Shape;173;p17"/>
          <p:cNvSpPr txBox="1"/>
          <p:nvPr/>
        </p:nvSpPr>
        <p:spPr>
          <a:xfrm>
            <a:off x="3461389" y="2547886"/>
            <a:ext cx="10949491" cy="115456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It occupied large space, was low efficiency and unreliable due to low accuracy.</a:t>
            </a:r>
            <a:endParaRPr/>
          </a:p>
        </p:txBody>
      </p:sp>
      <p:sp>
        <p:nvSpPr>
          <p:cNvPr id="174" name="Google Shape;174;p17"/>
          <p:cNvSpPr txBox="1"/>
          <p:nvPr/>
        </p:nvSpPr>
        <p:spPr>
          <a:xfrm>
            <a:off x="3487639" y="1435213"/>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It was a large mainframe built with vacuum tube technology.</a:t>
            </a:r>
            <a:endParaRPr/>
          </a:p>
        </p:txBody>
      </p:sp>
      <p:sp>
        <p:nvSpPr>
          <p:cNvPr id="175" name="Google Shape;175;p17"/>
          <p:cNvSpPr txBox="1"/>
          <p:nvPr/>
        </p:nvSpPr>
        <p:spPr>
          <a:xfrm>
            <a:off x="2057400" y="326830"/>
            <a:ext cx="14159700" cy="646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200" u="none" cap="none" strike="noStrike">
                <a:solidFill>
                  <a:srgbClr val="230E0E"/>
                </a:solidFill>
              </a:rPr>
              <a:t>FEATURES OF FIRST GENERATION COMPUTERS</a:t>
            </a:r>
            <a:endParaRPr b="1" sz="4200"/>
          </a:p>
        </p:txBody>
      </p:sp>
      <p:grpSp>
        <p:nvGrpSpPr>
          <p:cNvPr id="176" name="Google Shape;176;p17"/>
          <p:cNvGrpSpPr/>
          <p:nvPr/>
        </p:nvGrpSpPr>
        <p:grpSpPr>
          <a:xfrm>
            <a:off x="3119028" y="3885748"/>
            <a:ext cx="12029613" cy="1417925"/>
            <a:chOff x="0" y="-38100"/>
            <a:chExt cx="4092875" cy="482425"/>
          </a:xfrm>
        </p:grpSpPr>
        <p:sp>
          <p:nvSpPr>
            <p:cNvPr id="177" name="Google Shape;177;p17"/>
            <p:cNvSpPr/>
            <p:nvPr/>
          </p:nvSpPr>
          <p:spPr>
            <a:xfrm>
              <a:off x="0" y="0"/>
              <a:ext cx="4092875" cy="444325"/>
            </a:xfrm>
            <a:custGeom>
              <a:rect b="b" l="l" r="r" t="t"/>
              <a:pathLst>
                <a:path extrusionOk="0" h="444325" w="4092875">
                  <a:moveTo>
                    <a:pt x="0" y="0"/>
                  </a:moveTo>
                  <a:lnTo>
                    <a:pt x="4092875" y="0"/>
                  </a:lnTo>
                  <a:lnTo>
                    <a:pt x="4092875" y="444325"/>
                  </a:lnTo>
                  <a:lnTo>
                    <a:pt x="0" y="444325"/>
                  </a:lnTo>
                  <a:close/>
                </a:path>
              </a:pathLst>
            </a:custGeom>
            <a:solidFill>
              <a:srgbClr val="DFD0B8"/>
            </a:solidFill>
            <a:ln>
              <a:noFill/>
            </a:ln>
          </p:spPr>
        </p:sp>
        <p:sp>
          <p:nvSpPr>
            <p:cNvPr id="178" name="Google Shape;178;p17"/>
            <p:cNvSpPr txBox="1"/>
            <p:nvPr/>
          </p:nvSpPr>
          <p:spPr>
            <a:xfrm>
              <a:off x="0" y="-38100"/>
              <a:ext cx="4092875" cy="4824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p17"/>
          <p:cNvGrpSpPr/>
          <p:nvPr/>
        </p:nvGrpSpPr>
        <p:grpSpPr>
          <a:xfrm>
            <a:off x="3119028" y="5382191"/>
            <a:ext cx="12029613" cy="1071205"/>
            <a:chOff x="0" y="-38100"/>
            <a:chExt cx="4092875" cy="364460"/>
          </a:xfrm>
        </p:grpSpPr>
        <p:sp>
          <p:nvSpPr>
            <p:cNvPr id="180" name="Google Shape;180;p17"/>
            <p:cNvSpPr/>
            <p:nvPr/>
          </p:nvSpPr>
          <p:spPr>
            <a:xfrm>
              <a:off x="0" y="0"/>
              <a:ext cx="4092875" cy="326360"/>
            </a:xfrm>
            <a:custGeom>
              <a:rect b="b" l="l" r="r" t="t"/>
              <a:pathLst>
                <a:path extrusionOk="0" h="326360" w="4092875">
                  <a:moveTo>
                    <a:pt x="0" y="0"/>
                  </a:moveTo>
                  <a:lnTo>
                    <a:pt x="4092875" y="0"/>
                  </a:lnTo>
                  <a:lnTo>
                    <a:pt x="4092875" y="326360"/>
                  </a:lnTo>
                  <a:lnTo>
                    <a:pt x="0" y="326360"/>
                  </a:lnTo>
                  <a:close/>
                </a:path>
              </a:pathLst>
            </a:custGeom>
            <a:solidFill>
              <a:srgbClr val="DFD0B8"/>
            </a:solidFill>
            <a:ln>
              <a:noFill/>
            </a:ln>
          </p:spPr>
        </p:sp>
        <p:sp>
          <p:nvSpPr>
            <p:cNvPr id="181" name="Google Shape;181;p17"/>
            <p:cNvSpPr txBox="1"/>
            <p:nvPr/>
          </p:nvSpPr>
          <p:spPr>
            <a:xfrm>
              <a:off x="0" y="-38100"/>
              <a:ext cx="4092875"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2" name="Google Shape;182;p17"/>
          <p:cNvSpPr txBox="1"/>
          <p:nvPr/>
        </p:nvSpPr>
        <p:spPr>
          <a:xfrm>
            <a:off x="3461389" y="5640757"/>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The operation of speed was in milliseconds.</a:t>
            </a:r>
            <a:endParaRPr/>
          </a:p>
        </p:txBody>
      </p:sp>
      <p:sp>
        <p:nvSpPr>
          <p:cNvPr id="183" name="Google Shape;183;p17"/>
          <p:cNvSpPr txBox="1"/>
          <p:nvPr/>
        </p:nvSpPr>
        <p:spPr>
          <a:xfrm>
            <a:off x="3461389" y="3988931"/>
            <a:ext cx="10949491" cy="115456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The power consumption was very high, and it produced massive heat.</a:t>
            </a:r>
            <a:endParaRPr/>
          </a:p>
        </p:txBody>
      </p:sp>
      <p:grpSp>
        <p:nvGrpSpPr>
          <p:cNvPr id="184" name="Google Shape;184;p17"/>
          <p:cNvGrpSpPr/>
          <p:nvPr/>
        </p:nvGrpSpPr>
        <p:grpSpPr>
          <a:xfrm>
            <a:off x="3119028" y="6531914"/>
            <a:ext cx="12029613" cy="1071205"/>
            <a:chOff x="0" y="-38100"/>
            <a:chExt cx="4092875" cy="364460"/>
          </a:xfrm>
        </p:grpSpPr>
        <p:sp>
          <p:nvSpPr>
            <p:cNvPr id="185" name="Google Shape;185;p17"/>
            <p:cNvSpPr/>
            <p:nvPr/>
          </p:nvSpPr>
          <p:spPr>
            <a:xfrm>
              <a:off x="0" y="0"/>
              <a:ext cx="4092875" cy="326360"/>
            </a:xfrm>
            <a:custGeom>
              <a:rect b="b" l="l" r="r" t="t"/>
              <a:pathLst>
                <a:path extrusionOk="0" h="326360" w="4092875">
                  <a:moveTo>
                    <a:pt x="0" y="0"/>
                  </a:moveTo>
                  <a:lnTo>
                    <a:pt x="4092875" y="0"/>
                  </a:lnTo>
                  <a:lnTo>
                    <a:pt x="4092875" y="326360"/>
                  </a:lnTo>
                  <a:lnTo>
                    <a:pt x="0" y="326360"/>
                  </a:lnTo>
                  <a:close/>
                </a:path>
              </a:pathLst>
            </a:custGeom>
            <a:solidFill>
              <a:srgbClr val="DFD0B8"/>
            </a:solidFill>
            <a:ln>
              <a:noFill/>
            </a:ln>
          </p:spPr>
        </p:sp>
        <p:sp>
          <p:nvSpPr>
            <p:cNvPr id="186" name="Google Shape;186;p17"/>
            <p:cNvSpPr txBox="1"/>
            <p:nvPr/>
          </p:nvSpPr>
          <p:spPr>
            <a:xfrm>
              <a:off x="0" y="-38100"/>
              <a:ext cx="4092875"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7" name="Google Shape;187;p17"/>
          <p:cNvGrpSpPr/>
          <p:nvPr/>
        </p:nvGrpSpPr>
        <p:grpSpPr>
          <a:xfrm>
            <a:off x="3129194" y="7729263"/>
            <a:ext cx="12029613" cy="1071205"/>
            <a:chOff x="0" y="-38100"/>
            <a:chExt cx="4092875" cy="364460"/>
          </a:xfrm>
        </p:grpSpPr>
        <p:sp>
          <p:nvSpPr>
            <p:cNvPr id="188" name="Google Shape;188;p17"/>
            <p:cNvSpPr/>
            <p:nvPr/>
          </p:nvSpPr>
          <p:spPr>
            <a:xfrm>
              <a:off x="0" y="0"/>
              <a:ext cx="4092875" cy="326360"/>
            </a:xfrm>
            <a:custGeom>
              <a:rect b="b" l="l" r="r" t="t"/>
              <a:pathLst>
                <a:path extrusionOk="0" h="326360" w="4092875">
                  <a:moveTo>
                    <a:pt x="0" y="0"/>
                  </a:moveTo>
                  <a:lnTo>
                    <a:pt x="4092875" y="0"/>
                  </a:lnTo>
                  <a:lnTo>
                    <a:pt x="4092875" y="326360"/>
                  </a:lnTo>
                  <a:lnTo>
                    <a:pt x="0" y="326360"/>
                  </a:lnTo>
                  <a:close/>
                </a:path>
              </a:pathLst>
            </a:custGeom>
            <a:solidFill>
              <a:srgbClr val="DFD0B8"/>
            </a:solidFill>
            <a:ln>
              <a:noFill/>
            </a:ln>
          </p:spPr>
        </p:sp>
        <p:sp>
          <p:nvSpPr>
            <p:cNvPr id="189" name="Google Shape;189;p17"/>
            <p:cNvSpPr txBox="1"/>
            <p:nvPr/>
          </p:nvSpPr>
          <p:spPr>
            <a:xfrm>
              <a:off x="0" y="-38100"/>
              <a:ext cx="4092875"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0" name="Google Shape;190;p17"/>
          <p:cNvGrpSpPr/>
          <p:nvPr/>
        </p:nvGrpSpPr>
        <p:grpSpPr>
          <a:xfrm>
            <a:off x="3119028" y="8878986"/>
            <a:ext cx="12029613" cy="1071205"/>
            <a:chOff x="0" y="-38100"/>
            <a:chExt cx="4092875" cy="364460"/>
          </a:xfrm>
        </p:grpSpPr>
        <p:sp>
          <p:nvSpPr>
            <p:cNvPr id="191" name="Google Shape;191;p17"/>
            <p:cNvSpPr/>
            <p:nvPr/>
          </p:nvSpPr>
          <p:spPr>
            <a:xfrm>
              <a:off x="0" y="0"/>
              <a:ext cx="4092875" cy="326360"/>
            </a:xfrm>
            <a:custGeom>
              <a:rect b="b" l="l" r="r" t="t"/>
              <a:pathLst>
                <a:path extrusionOk="0" h="326360" w="4092875">
                  <a:moveTo>
                    <a:pt x="0" y="0"/>
                  </a:moveTo>
                  <a:lnTo>
                    <a:pt x="4092875" y="0"/>
                  </a:lnTo>
                  <a:lnTo>
                    <a:pt x="4092875" y="326360"/>
                  </a:lnTo>
                  <a:lnTo>
                    <a:pt x="0" y="326360"/>
                  </a:lnTo>
                  <a:close/>
                </a:path>
              </a:pathLst>
            </a:custGeom>
            <a:solidFill>
              <a:srgbClr val="DFD0B8"/>
            </a:solidFill>
            <a:ln>
              <a:noFill/>
            </a:ln>
          </p:spPr>
        </p:sp>
        <p:sp>
          <p:nvSpPr>
            <p:cNvPr id="192" name="Google Shape;192;p17"/>
            <p:cNvSpPr txBox="1"/>
            <p:nvPr/>
          </p:nvSpPr>
          <p:spPr>
            <a:xfrm>
              <a:off x="0" y="-38100"/>
              <a:ext cx="4092875"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3" name="Google Shape;193;p17"/>
          <p:cNvSpPr txBox="1"/>
          <p:nvPr/>
        </p:nvSpPr>
        <p:spPr>
          <a:xfrm>
            <a:off x="3461389" y="6739146"/>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It was used only for scientific or research purposes.</a:t>
            </a:r>
            <a:endParaRPr/>
          </a:p>
        </p:txBody>
      </p:sp>
      <p:sp>
        <p:nvSpPr>
          <p:cNvPr id="194" name="Google Shape;194;p17"/>
          <p:cNvSpPr txBox="1"/>
          <p:nvPr/>
        </p:nvSpPr>
        <p:spPr>
          <a:xfrm>
            <a:off x="3461389" y="9143368"/>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They were very slow.</a:t>
            </a:r>
            <a:endParaRPr/>
          </a:p>
        </p:txBody>
      </p:sp>
      <p:sp>
        <p:nvSpPr>
          <p:cNvPr id="195" name="Google Shape;195;p17"/>
          <p:cNvSpPr txBox="1"/>
          <p:nvPr/>
        </p:nvSpPr>
        <p:spPr>
          <a:xfrm>
            <a:off x="3461389" y="8012695"/>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Low-level programming language was used in computers.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199" name="Shape 199"/>
        <p:cNvGrpSpPr/>
        <p:nvPr/>
      </p:nvGrpSpPr>
      <p:grpSpPr>
        <a:xfrm>
          <a:off x="0" y="0"/>
          <a:ext cx="0" cy="0"/>
          <a:chOff x="0" y="0"/>
          <a:chExt cx="0" cy="0"/>
        </a:xfrm>
      </p:grpSpPr>
      <p:grpSp>
        <p:nvGrpSpPr>
          <p:cNvPr id="200" name="Google Shape;200;p18"/>
          <p:cNvGrpSpPr/>
          <p:nvPr/>
        </p:nvGrpSpPr>
        <p:grpSpPr>
          <a:xfrm>
            <a:off x="0" y="-144661"/>
            <a:ext cx="18288000" cy="10431661"/>
            <a:chOff x="0" y="-38100"/>
            <a:chExt cx="4816593" cy="2747433"/>
          </a:xfrm>
        </p:grpSpPr>
        <p:sp>
          <p:nvSpPr>
            <p:cNvPr id="201" name="Google Shape;201;p18"/>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202" name="Google Shape;202;p18"/>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3" name="Google Shape;203;p18"/>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204" name="Google Shape;204;p18"/>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205" name="Google Shape;205;p18"/>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206" name="Google Shape;206;p18"/>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207" name="Google Shape;207;p18"/>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208" name="Google Shape;208;p18"/>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grpSp>
        <p:nvGrpSpPr>
          <p:cNvPr id="209" name="Google Shape;209;p18"/>
          <p:cNvGrpSpPr/>
          <p:nvPr/>
        </p:nvGrpSpPr>
        <p:grpSpPr>
          <a:xfrm>
            <a:off x="3127486" y="1929130"/>
            <a:ext cx="12029613" cy="1679370"/>
            <a:chOff x="0" y="-38100"/>
            <a:chExt cx="4092875" cy="571377"/>
          </a:xfrm>
        </p:grpSpPr>
        <p:sp>
          <p:nvSpPr>
            <p:cNvPr id="210" name="Google Shape;210;p18"/>
            <p:cNvSpPr/>
            <p:nvPr/>
          </p:nvSpPr>
          <p:spPr>
            <a:xfrm>
              <a:off x="0" y="0"/>
              <a:ext cx="4092875" cy="533277"/>
            </a:xfrm>
            <a:custGeom>
              <a:rect b="b" l="l" r="r" t="t"/>
              <a:pathLst>
                <a:path extrusionOk="0" h="533277" w="4092875">
                  <a:moveTo>
                    <a:pt x="0" y="0"/>
                  </a:moveTo>
                  <a:lnTo>
                    <a:pt x="4092875" y="0"/>
                  </a:lnTo>
                  <a:lnTo>
                    <a:pt x="4092875" y="533277"/>
                  </a:lnTo>
                  <a:lnTo>
                    <a:pt x="0" y="533277"/>
                  </a:lnTo>
                  <a:close/>
                </a:path>
              </a:pathLst>
            </a:custGeom>
            <a:solidFill>
              <a:srgbClr val="DFD0B8"/>
            </a:solidFill>
            <a:ln>
              <a:noFill/>
            </a:ln>
          </p:spPr>
        </p:sp>
        <p:sp>
          <p:nvSpPr>
            <p:cNvPr id="211" name="Google Shape;211;p18"/>
            <p:cNvSpPr txBox="1"/>
            <p:nvPr/>
          </p:nvSpPr>
          <p:spPr>
            <a:xfrm>
              <a:off x="0" y="-38100"/>
              <a:ext cx="4092875" cy="57137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2" name="Google Shape;212;p18"/>
          <p:cNvGrpSpPr/>
          <p:nvPr/>
        </p:nvGrpSpPr>
        <p:grpSpPr>
          <a:xfrm>
            <a:off x="3134316" y="3915618"/>
            <a:ext cx="12029613" cy="888265"/>
            <a:chOff x="0" y="-38100"/>
            <a:chExt cx="4092875" cy="302217"/>
          </a:xfrm>
        </p:grpSpPr>
        <p:sp>
          <p:nvSpPr>
            <p:cNvPr id="213" name="Google Shape;213;p18"/>
            <p:cNvSpPr/>
            <p:nvPr/>
          </p:nvSpPr>
          <p:spPr>
            <a:xfrm>
              <a:off x="0" y="0"/>
              <a:ext cx="4092875" cy="264117"/>
            </a:xfrm>
            <a:custGeom>
              <a:rect b="b" l="l" r="r" t="t"/>
              <a:pathLst>
                <a:path extrusionOk="0" h="264117" w="4092875">
                  <a:moveTo>
                    <a:pt x="0" y="0"/>
                  </a:moveTo>
                  <a:lnTo>
                    <a:pt x="4092875" y="0"/>
                  </a:lnTo>
                  <a:lnTo>
                    <a:pt x="4092875" y="264117"/>
                  </a:lnTo>
                  <a:lnTo>
                    <a:pt x="0" y="264117"/>
                  </a:lnTo>
                  <a:close/>
                </a:path>
              </a:pathLst>
            </a:custGeom>
            <a:solidFill>
              <a:srgbClr val="DFD0B8"/>
            </a:solidFill>
            <a:ln>
              <a:noFill/>
            </a:ln>
          </p:spPr>
        </p:sp>
        <p:sp>
          <p:nvSpPr>
            <p:cNvPr id="214" name="Google Shape;214;p18"/>
            <p:cNvSpPr txBox="1"/>
            <p:nvPr/>
          </p:nvSpPr>
          <p:spPr>
            <a:xfrm>
              <a:off x="0" y="-38100"/>
              <a:ext cx="4092875" cy="30221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5" name="Google Shape;215;p18"/>
          <p:cNvSpPr txBox="1"/>
          <p:nvPr/>
        </p:nvSpPr>
        <p:spPr>
          <a:xfrm>
            <a:off x="3469848" y="4086107"/>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They were not portable.</a:t>
            </a:r>
            <a:endParaRPr/>
          </a:p>
        </p:txBody>
      </p:sp>
      <p:sp>
        <p:nvSpPr>
          <p:cNvPr id="216" name="Google Shape;216;p18"/>
          <p:cNvSpPr txBox="1"/>
          <p:nvPr/>
        </p:nvSpPr>
        <p:spPr>
          <a:xfrm>
            <a:off x="3489267" y="2209003"/>
            <a:ext cx="10949491" cy="115456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The computer needed an air conditioner room, and constant maintenance.</a:t>
            </a:r>
            <a:endParaRPr/>
          </a:p>
        </p:txBody>
      </p:sp>
      <p:sp>
        <p:nvSpPr>
          <p:cNvPr id="217" name="Google Shape;217;p18"/>
          <p:cNvSpPr txBox="1"/>
          <p:nvPr/>
        </p:nvSpPr>
        <p:spPr>
          <a:xfrm>
            <a:off x="2057400" y="782792"/>
            <a:ext cx="14159698" cy="886845"/>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400" u="none" cap="none" strike="noStrike">
                <a:solidFill>
                  <a:srgbClr val="230E0E"/>
                </a:solidFill>
              </a:rPr>
              <a:t>LIMITATIONS OF FIRST GENERATION COMPUTERS</a:t>
            </a:r>
            <a:endParaRPr b="1" sz="4400"/>
          </a:p>
        </p:txBody>
      </p:sp>
      <p:grpSp>
        <p:nvGrpSpPr>
          <p:cNvPr id="218" name="Google Shape;218;p18"/>
          <p:cNvGrpSpPr/>
          <p:nvPr/>
        </p:nvGrpSpPr>
        <p:grpSpPr>
          <a:xfrm>
            <a:off x="3134316" y="5111001"/>
            <a:ext cx="12029613" cy="789275"/>
            <a:chOff x="0" y="-38100"/>
            <a:chExt cx="4092875" cy="268538"/>
          </a:xfrm>
        </p:grpSpPr>
        <p:sp>
          <p:nvSpPr>
            <p:cNvPr id="219" name="Google Shape;219;p18"/>
            <p:cNvSpPr/>
            <p:nvPr/>
          </p:nvSpPr>
          <p:spPr>
            <a:xfrm>
              <a:off x="0" y="0"/>
              <a:ext cx="4092875" cy="230438"/>
            </a:xfrm>
            <a:custGeom>
              <a:rect b="b" l="l" r="r" t="t"/>
              <a:pathLst>
                <a:path extrusionOk="0" h="230438" w="4092875">
                  <a:moveTo>
                    <a:pt x="0" y="0"/>
                  </a:moveTo>
                  <a:lnTo>
                    <a:pt x="4092875" y="0"/>
                  </a:lnTo>
                  <a:lnTo>
                    <a:pt x="4092875" y="230438"/>
                  </a:lnTo>
                  <a:lnTo>
                    <a:pt x="0" y="230438"/>
                  </a:lnTo>
                  <a:close/>
                </a:path>
              </a:pathLst>
            </a:custGeom>
            <a:solidFill>
              <a:srgbClr val="DFD0B8"/>
            </a:solidFill>
            <a:ln>
              <a:noFill/>
            </a:ln>
          </p:spPr>
        </p:sp>
        <p:sp>
          <p:nvSpPr>
            <p:cNvPr id="220" name="Google Shape;220;p18"/>
            <p:cNvSpPr txBox="1"/>
            <p:nvPr/>
          </p:nvSpPr>
          <p:spPr>
            <a:xfrm>
              <a:off x="0" y="-38100"/>
              <a:ext cx="4092875" cy="26853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1" name="Google Shape;221;p18"/>
          <p:cNvGrpSpPr/>
          <p:nvPr/>
        </p:nvGrpSpPr>
        <p:grpSpPr>
          <a:xfrm>
            <a:off x="3134316" y="6359794"/>
            <a:ext cx="12029613" cy="1071205"/>
            <a:chOff x="0" y="-38100"/>
            <a:chExt cx="4092875" cy="364460"/>
          </a:xfrm>
        </p:grpSpPr>
        <p:sp>
          <p:nvSpPr>
            <p:cNvPr id="222" name="Google Shape;222;p18"/>
            <p:cNvSpPr/>
            <p:nvPr/>
          </p:nvSpPr>
          <p:spPr>
            <a:xfrm>
              <a:off x="0" y="0"/>
              <a:ext cx="4092875" cy="326360"/>
            </a:xfrm>
            <a:custGeom>
              <a:rect b="b" l="l" r="r" t="t"/>
              <a:pathLst>
                <a:path extrusionOk="0" h="326360" w="4092875">
                  <a:moveTo>
                    <a:pt x="0" y="0"/>
                  </a:moveTo>
                  <a:lnTo>
                    <a:pt x="4092875" y="0"/>
                  </a:lnTo>
                  <a:lnTo>
                    <a:pt x="4092875" y="326360"/>
                  </a:lnTo>
                  <a:lnTo>
                    <a:pt x="0" y="326360"/>
                  </a:lnTo>
                  <a:close/>
                </a:path>
              </a:pathLst>
            </a:custGeom>
            <a:solidFill>
              <a:srgbClr val="DFD0B8"/>
            </a:solidFill>
            <a:ln>
              <a:noFill/>
            </a:ln>
          </p:spPr>
        </p:sp>
        <p:sp>
          <p:nvSpPr>
            <p:cNvPr id="223" name="Google Shape;223;p18"/>
            <p:cNvSpPr txBox="1"/>
            <p:nvPr/>
          </p:nvSpPr>
          <p:spPr>
            <a:xfrm>
              <a:off x="0" y="-38100"/>
              <a:ext cx="4092875"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18"/>
          <p:cNvSpPr txBox="1"/>
          <p:nvPr/>
        </p:nvSpPr>
        <p:spPr>
          <a:xfrm>
            <a:off x="3476677" y="6618360"/>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They have minimum programming capabilities.</a:t>
            </a:r>
            <a:endParaRPr/>
          </a:p>
        </p:txBody>
      </p:sp>
      <p:sp>
        <p:nvSpPr>
          <p:cNvPr id="225" name="Google Shape;225;p18"/>
          <p:cNvSpPr txBox="1"/>
          <p:nvPr/>
        </p:nvSpPr>
        <p:spPr>
          <a:xfrm>
            <a:off x="3476677" y="5214184"/>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It was expensive commercial product.</a:t>
            </a:r>
            <a:endParaRPr/>
          </a:p>
        </p:txBody>
      </p:sp>
      <p:grpSp>
        <p:nvGrpSpPr>
          <p:cNvPr id="226" name="Google Shape;226;p18"/>
          <p:cNvGrpSpPr/>
          <p:nvPr/>
        </p:nvGrpSpPr>
        <p:grpSpPr>
          <a:xfrm>
            <a:off x="3124071" y="7890517"/>
            <a:ext cx="12029613" cy="1071205"/>
            <a:chOff x="0" y="-38100"/>
            <a:chExt cx="4092875" cy="364460"/>
          </a:xfrm>
        </p:grpSpPr>
        <p:sp>
          <p:nvSpPr>
            <p:cNvPr id="227" name="Google Shape;227;p18"/>
            <p:cNvSpPr/>
            <p:nvPr/>
          </p:nvSpPr>
          <p:spPr>
            <a:xfrm>
              <a:off x="0" y="0"/>
              <a:ext cx="4092875" cy="326360"/>
            </a:xfrm>
            <a:custGeom>
              <a:rect b="b" l="l" r="r" t="t"/>
              <a:pathLst>
                <a:path extrusionOk="0" h="326360" w="4092875">
                  <a:moveTo>
                    <a:pt x="0" y="0"/>
                  </a:moveTo>
                  <a:lnTo>
                    <a:pt x="4092875" y="0"/>
                  </a:lnTo>
                  <a:lnTo>
                    <a:pt x="4092875" y="326360"/>
                  </a:lnTo>
                  <a:lnTo>
                    <a:pt x="0" y="326360"/>
                  </a:lnTo>
                  <a:close/>
                </a:path>
              </a:pathLst>
            </a:custGeom>
            <a:solidFill>
              <a:srgbClr val="DFD0B8"/>
            </a:solidFill>
            <a:ln>
              <a:noFill/>
            </a:ln>
          </p:spPr>
        </p:sp>
        <p:sp>
          <p:nvSpPr>
            <p:cNvPr id="228" name="Google Shape;228;p18"/>
            <p:cNvSpPr txBox="1"/>
            <p:nvPr/>
          </p:nvSpPr>
          <p:spPr>
            <a:xfrm>
              <a:off x="0" y="-38100"/>
              <a:ext cx="4092875"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9" name="Google Shape;229;p18"/>
          <p:cNvSpPr txBox="1"/>
          <p:nvPr/>
        </p:nvSpPr>
        <p:spPr>
          <a:xfrm>
            <a:off x="3466433" y="8097749"/>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0" i="0" lang="en-US" sz="3093" u="none" cap="none" strike="noStrike">
                <a:solidFill>
                  <a:srgbClr val="230E0E"/>
                </a:solidFill>
                <a:latin typeface="Assistant"/>
                <a:ea typeface="Assistant"/>
                <a:cs typeface="Assistant"/>
                <a:sym typeface="Assistant"/>
              </a:rPr>
              <a:t>The computers have limited uses only.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233" name="Shape 233"/>
        <p:cNvGrpSpPr/>
        <p:nvPr/>
      </p:nvGrpSpPr>
      <p:grpSpPr>
        <a:xfrm>
          <a:off x="0" y="0"/>
          <a:ext cx="0" cy="0"/>
          <a:chOff x="0" y="0"/>
          <a:chExt cx="0" cy="0"/>
        </a:xfrm>
      </p:grpSpPr>
      <p:grpSp>
        <p:nvGrpSpPr>
          <p:cNvPr id="234" name="Google Shape;234;p19"/>
          <p:cNvGrpSpPr/>
          <p:nvPr/>
        </p:nvGrpSpPr>
        <p:grpSpPr>
          <a:xfrm>
            <a:off x="0" y="-144661"/>
            <a:ext cx="18288000" cy="10431661"/>
            <a:chOff x="0" y="-38100"/>
            <a:chExt cx="4816593" cy="2747433"/>
          </a:xfrm>
        </p:grpSpPr>
        <p:sp>
          <p:nvSpPr>
            <p:cNvPr id="235" name="Google Shape;235;p19"/>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236" name="Google Shape;236;p19"/>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7" name="Google Shape;237;p19"/>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238" name="Google Shape;238;p19"/>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239" name="Google Shape;239;p19"/>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240" name="Google Shape;240;p19"/>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241" name="Google Shape;241;p19"/>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242" name="Google Shape;242;p19"/>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grpSp>
        <p:nvGrpSpPr>
          <p:cNvPr id="243" name="Google Shape;243;p19"/>
          <p:cNvGrpSpPr/>
          <p:nvPr/>
        </p:nvGrpSpPr>
        <p:grpSpPr>
          <a:xfrm>
            <a:off x="3127486" y="2627699"/>
            <a:ext cx="12029613" cy="980801"/>
            <a:chOff x="0" y="-38100"/>
            <a:chExt cx="4092875" cy="333701"/>
          </a:xfrm>
        </p:grpSpPr>
        <p:sp>
          <p:nvSpPr>
            <p:cNvPr id="244" name="Google Shape;244;p19"/>
            <p:cNvSpPr/>
            <p:nvPr/>
          </p:nvSpPr>
          <p:spPr>
            <a:xfrm>
              <a:off x="0" y="0"/>
              <a:ext cx="4092875" cy="295601"/>
            </a:xfrm>
            <a:custGeom>
              <a:rect b="b" l="l" r="r" t="t"/>
              <a:pathLst>
                <a:path extrusionOk="0" h="295601" w="4092875">
                  <a:moveTo>
                    <a:pt x="0" y="0"/>
                  </a:moveTo>
                  <a:lnTo>
                    <a:pt x="4092875" y="0"/>
                  </a:lnTo>
                  <a:lnTo>
                    <a:pt x="4092875" y="295601"/>
                  </a:lnTo>
                  <a:lnTo>
                    <a:pt x="0" y="295601"/>
                  </a:lnTo>
                  <a:close/>
                </a:path>
              </a:pathLst>
            </a:custGeom>
            <a:solidFill>
              <a:srgbClr val="DFD0B8"/>
            </a:solidFill>
            <a:ln>
              <a:noFill/>
            </a:ln>
          </p:spPr>
        </p:sp>
        <p:sp>
          <p:nvSpPr>
            <p:cNvPr id="245" name="Google Shape;245;p19"/>
            <p:cNvSpPr txBox="1"/>
            <p:nvPr/>
          </p:nvSpPr>
          <p:spPr>
            <a:xfrm>
              <a:off x="0" y="-38100"/>
              <a:ext cx="4092875" cy="33370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6" name="Google Shape;246;p19"/>
          <p:cNvGrpSpPr/>
          <p:nvPr/>
        </p:nvGrpSpPr>
        <p:grpSpPr>
          <a:xfrm>
            <a:off x="3134316" y="3915618"/>
            <a:ext cx="12029613" cy="888265"/>
            <a:chOff x="0" y="-38100"/>
            <a:chExt cx="4092875" cy="302217"/>
          </a:xfrm>
        </p:grpSpPr>
        <p:sp>
          <p:nvSpPr>
            <p:cNvPr id="247" name="Google Shape;247;p19"/>
            <p:cNvSpPr/>
            <p:nvPr/>
          </p:nvSpPr>
          <p:spPr>
            <a:xfrm>
              <a:off x="0" y="0"/>
              <a:ext cx="4092875" cy="264117"/>
            </a:xfrm>
            <a:custGeom>
              <a:rect b="b" l="l" r="r" t="t"/>
              <a:pathLst>
                <a:path extrusionOk="0" h="264117" w="4092875">
                  <a:moveTo>
                    <a:pt x="0" y="0"/>
                  </a:moveTo>
                  <a:lnTo>
                    <a:pt x="4092875" y="0"/>
                  </a:lnTo>
                  <a:lnTo>
                    <a:pt x="4092875" y="264117"/>
                  </a:lnTo>
                  <a:lnTo>
                    <a:pt x="0" y="264117"/>
                  </a:lnTo>
                  <a:close/>
                </a:path>
              </a:pathLst>
            </a:custGeom>
            <a:solidFill>
              <a:srgbClr val="DFD0B8"/>
            </a:solidFill>
            <a:ln>
              <a:noFill/>
            </a:ln>
          </p:spPr>
        </p:sp>
        <p:sp>
          <p:nvSpPr>
            <p:cNvPr id="248" name="Google Shape;248;p19"/>
            <p:cNvSpPr txBox="1"/>
            <p:nvPr/>
          </p:nvSpPr>
          <p:spPr>
            <a:xfrm>
              <a:off x="0" y="-38100"/>
              <a:ext cx="4092875" cy="30221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9" name="Google Shape;249;p19"/>
          <p:cNvSpPr txBox="1"/>
          <p:nvPr/>
        </p:nvSpPr>
        <p:spPr>
          <a:xfrm>
            <a:off x="3469848" y="4086107"/>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1" i="0" lang="en-US" sz="3093" u="none" cap="none" strike="noStrike">
                <a:solidFill>
                  <a:srgbClr val="230E0E"/>
                </a:solidFill>
                <a:latin typeface="Assistant"/>
                <a:ea typeface="Assistant"/>
                <a:cs typeface="Assistant"/>
                <a:sym typeface="Assistant"/>
              </a:rPr>
              <a:t>EDVAC </a:t>
            </a:r>
            <a:r>
              <a:rPr b="0" i="0" lang="en-US" sz="3093" u="none" cap="none" strike="noStrike">
                <a:solidFill>
                  <a:srgbClr val="230E0E"/>
                </a:solidFill>
                <a:latin typeface="Assistant"/>
                <a:ea typeface="Assistant"/>
                <a:cs typeface="Assistant"/>
                <a:sym typeface="Assistant"/>
              </a:rPr>
              <a:t>(Electronic Discrete Variable Automatic)</a:t>
            </a:r>
            <a:endParaRPr/>
          </a:p>
        </p:txBody>
      </p:sp>
      <p:sp>
        <p:nvSpPr>
          <p:cNvPr id="250" name="Google Shape;250;p19"/>
          <p:cNvSpPr txBox="1"/>
          <p:nvPr/>
        </p:nvSpPr>
        <p:spPr>
          <a:xfrm>
            <a:off x="3476677" y="2806356"/>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1" i="0" lang="en-US" sz="3093" u="none" cap="none" strike="noStrike">
                <a:solidFill>
                  <a:srgbClr val="230E0E"/>
                </a:solidFill>
                <a:latin typeface="Assistant"/>
                <a:ea typeface="Assistant"/>
                <a:cs typeface="Assistant"/>
                <a:sym typeface="Assistant"/>
              </a:rPr>
              <a:t>ENIAC </a:t>
            </a:r>
            <a:r>
              <a:rPr b="0" i="0" lang="en-US" sz="3093" u="none" cap="none" strike="noStrike">
                <a:solidFill>
                  <a:srgbClr val="230E0E"/>
                </a:solidFill>
                <a:latin typeface="Assistant"/>
                <a:ea typeface="Assistant"/>
                <a:cs typeface="Assistant"/>
                <a:sym typeface="Assistant"/>
              </a:rPr>
              <a:t>(Electronic Numerical Integrator and Calculator)</a:t>
            </a:r>
            <a:endParaRPr/>
          </a:p>
        </p:txBody>
      </p:sp>
      <p:sp>
        <p:nvSpPr>
          <p:cNvPr id="251" name="Google Shape;251;p19"/>
          <p:cNvSpPr txBox="1"/>
          <p:nvPr/>
        </p:nvSpPr>
        <p:spPr>
          <a:xfrm>
            <a:off x="2070902" y="1203130"/>
            <a:ext cx="14159698" cy="886845"/>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400" u="none" cap="none" strike="noStrike">
                <a:solidFill>
                  <a:srgbClr val="230E0E"/>
                </a:solidFill>
              </a:rPr>
              <a:t>EXAMPLES OF FIRST GENERATION COMPUTERS</a:t>
            </a:r>
            <a:endParaRPr b="1" sz="4400"/>
          </a:p>
        </p:txBody>
      </p:sp>
      <p:grpSp>
        <p:nvGrpSpPr>
          <p:cNvPr id="252" name="Google Shape;252;p19"/>
          <p:cNvGrpSpPr/>
          <p:nvPr/>
        </p:nvGrpSpPr>
        <p:grpSpPr>
          <a:xfrm>
            <a:off x="3134316" y="5111001"/>
            <a:ext cx="12029613" cy="789275"/>
            <a:chOff x="0" y="-38100"/>
            <a:chExt cx="4092875" cy="268538"/>
          </a:xfrm>
        </p:grpSpPr>
        <p:sp>
          <p:nvSpPr>
            <p:cNvPr id="253" name="Google Shape;253;p19"/>
            <p:cNvSpPr/>
            <p:nvPr/>
          </p:nvSpPr>
          <p:spPr>
            <a:xfrm>
              <a:off x="0" y="0"/>
              <a:ext cx="4092875" cy="230438"/>
            </a:xfrm>
            <a:custGeom>
              <a:rect b="b" l="l" r="r" t="t"/>
              <a:pathLst>
                <a:path extrusionOk="0" h="230438" w="4092875">
                  <a:moveTo>
                    <a:pt x="0" y="0"/>
                  </a:moveTo>
                  <a:lnTo>
                    <a:pt x="4092875" y="0"/>
                  </a:lnTo>
                  <a:lnTo>
                    <a:pt x="4092875" y="230438"/>
                  </a:lnTo>
                  <a:lnTo>
                    <a:pt x="0" y="230438"/>
                  </a:lnTo>
                  <a:close/>
                </a:path>
              </a:pathLst>
            </a:custGeom>
            <a:solidFill>
              <a:srgbClr val="DFD0B8"/>
            </a:solidFill>
            <a:ln>
              <a:noFill/>
            </a:ln>
          </p:spPr>
        </p:sp>
        <p:sp>
          <p:nvSpPr>
            <p:cNvPr id="254" name="Google Shape;254;p19"/>
            <p:cNvSpPr txBox="1"/>
            <p:nvPr/>
          </p:nvSpPr>
          <p:spPr>
            <a:xfrm>
              <a:off x="0" y="-38100"/>
              <a:ext cx="4092875" cy="26853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5" name="Google Shape;255;p19"/>
          <p:cNvGrpSpPr/>
          <p:nvPr/>
        </p:nvGrpSpPr>
        <p:grpSpPr>
          <a:xfrm>
            <a:off x="3134316" y="6359794"/>
            <a:ext cx="12029613" cy="1071205"/>
            <a:chOff x="0" y="-38100"/>
            <a:chExt cx="4092875" cy="364460"/>
          </a:xfrm>
        </p:grpSpPr>
        <p:sp>
          <p:nvSpPr>
            <p:cNvPr id="256" name="Google Shape;256;p19"/>
            <p:cNvSpPr/>
            <p:nvPr/>
          </p:nvSpPr>
          <p:spPr>
            <a:xfrm>
              <a:off x="0" y="0"/>
              <a:ext cx="4092875" cy="326360"/>
            </a:xfrm>
            <a:custGeom>
              <a:rect b="b" l="l" r="r" t="t"/>
              <a:pathLst>
                <a:path extrusionOk="0" h="326360" w="4092875">
                  <a:moveTo>
                    <a:pt x="0" y="0"/>
                  </a:moveTo>
                  <a:lnTo>
                    <a:pt x="4092875" y="0"/>
                  </a:lnTo>
                  <a:lnTo>
                    <a:pt x="4092875" y="326360"/>
                  </a:lnTo>
                  <a:lnTo>
                    <a:pt x="0" y="326360"/>
                  </a:lnTo>
                  <a:close/>
                </a:path>
              </a:pathLst>
            </a:custGeom>
            <a:solidFill>
              <a:srgbClr val="DFD0B8"/>
            </a:solidFill>
            <a:ln>
              <a:noFill/>
            </a:ln>
          </p:spPr>
        </p:sp>
        <p:sp>
          <p:nvSpPr>
            <p:cNvPr id="257" name="Google Shape;257;p19"/>
            <p:cNvSpPr txBox="1"/>
            <p:nvPr/>
          </p:nvSpPr>
          <p:spPr>
            <a:xfrm>
              <a:off x="0" y="-38100"/>
              <a:ext cx="4092875"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8" name="Google Shape;258;p19"/>
          <p:cNvSpPr txBox="1"/>
          <p:nvPr/>
        </p:nvSpPr>
        <p:spPr>
          <a:xfrm>
            <a:off x="3476677" y="6618360"/>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1" i="0" lang="en-US" sz="3093" u="none" cap="none" strike="noStrike">
                <a:solidFill>
                  <a:srgbClr val="230E0E"/>
                </a:solidFill>
                <a:latin typeface="Assistant"/>
                <a:ea typeface="Assistant"/>
                <a:cs typeface="Assistant"/>
                <a:sym typeface="Assistant"/>
              </a:rPr>
              <a:t>IBM-701</a:t>
            </a:r>
            <a:endParaRPr/>
          </a:p>
        </p:txBody>
      </p:sp>
      <p:sp>
        <p:nvSpPr>
          <p:cNvPr id="259" name="Google Shape;259;p19"/>
          <p:cNvSpPr txBox="1"/>
          <p:nvPr/>
        </p:nvSpPr>
        <p:spPr>
          <a:xfrm>
            <a:off x="3476677" y="5214184"/>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1" i="0" lang="en-US" sz="3093" u="none" cap="none" strike="noStrike">
                <a:solidFill>
                  <a:srgbClr val="230E0E"/>
                </a:solidFill>
                <a:latin typeface="Assistant"/>
                <a:ea typeface="Assistant"/>
                <a:cs typeface="Assistant"/>
                <a:sym typeface="Assistant"/>
              </a:rPr>
              <a:t>UNIVAC </a:t>
            </a:r>
            <a:r>
              <a:rPr b="0" i="0" lang="en-US" sz="3093" u="none" cap="none" strike="noStrike">
                <a:solidFill>
                  <a:srgbClr val="230E0E"/>
                </a:solidFill>
                <a:latin typeface="Assistant"/>
                <a:ea typeface="Assistant"/>
                <a:cs typeface="Assistant"/>
                <a:sym typeface="Assistant"/>
              </a:rPr>
              <a:t>(Universal Automatic Computers)</a:t>
            </a:r>
            <a:endParaRPr/>
          </a:p>
        </p:txBody>
      </p:sp>
      <p:grpSp>
        <p:nvGrpSpPr>
          <p:cNvPr id="260" name="Google Shape;260;p19"/>
          <p:cNvGrpSpPr/>
          <p:nvPr/>
        </p:nvGrpSpPr>
        <p:grpSpPr>
          <a:xfrm>
            <a:off x="3124071" y="7890517"/>
            <a:ext cx="12029613" cy="1071205"/>
            <a:chOff x="0" y="-38100"/>
            <a:chExt cx="4092875" cy="364460"/>
          </a:xfrm>
        </p:grpSpPr>
        <p:sp>
          <p:nvSpPr>
            <p:cNvPr id="261" name="Google Shape;261;p19"/>
            <p:cNvSpPr/>
            <p:nvPr/>
          </p:nvSpPr>
          <p:spPr>
            <a:xfrm>
              <a:off x="0" y="0"/>
              <a:ext cx="4092875" cy="326360"/>
            </a:xfrm>
            <a:custGeom>
              <a:rect b="b" l="l" r="r" t="t"/>
              <a:pathLst>
                <a:path extrusionOk="0" h="326360" w="4092875">
                  <a:moveTo>
                    <a:pt x="0" y="0"/>
                  </a:moveTo>
                  <a:lnTo>
                    <a:pt x="4092875" y="0"/>
                  </a:lnTo>
                  <a:lnTo>
                    <a:pt x="4092875" y="326360"/>
                  </a:lnTo>
                  <a:lnTo>
                    <a:pt x="0" y="326360"/>
                  </a:lnTo>
                  <a:close/>
                </a:path>
              </a:pathLst>
            </a:custGeom>
            <a:solidFill>
              <a:srgbClr val="DFD0B8"/>
            </a:solidFill>
            <a:ln>
              <a:noFill/>
            </a:ln>
          </p:spPr>
        </p:sp>
        <p:sp>
          <p:nvSpPr>
            <p:cNvPr id="262" name="Google Shape;262;p19"/>
            <p:cNvSpPr txBox="1"/>
            <p:nvPr/>
          </p:nvSpPr>
          <p:spPr>
            <a:xfrm>
              <a:off x="0" y="-38100"/>
              <a:ext cx="4092875"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3" name="Google Shape;263;p19"/>
          <p:cNvSpPr txBox="1"/>
          <p:nvPr/>
        </p:nvSpPr>
        <p:spPr>
          <a:xfrm>
            <a:off x="3466433" y="8097749"/>
            <a:ext cx="10949491" cy="564019"/>
          </a:xfrm>
          <a:prstGeom prst="rect">
            <a:avLst/>
          </a:prstGeom>
          <a:noFill/>
          <a:ln>
            <a:noFill/>
          </a:ln>
        </p:spPr>
        <p:txBody>
          <a:bodyPr anchorCtr="0" anchor="t" bIns="0" lIns="0" spcFirstLastPara="1" rIns="0" wrap="square" tIns="0">
            <a:spAutoFit/>
          </a:bodyPr>
          <a:lstStyle/>
          <a:p>
            <a:pPr indent="0" lvl="0" marL="0" marR="0" rtl="0" algn="just">
              <a:lnSpc>
                <a:spcPct val="150986"/>
              </a:lnSpc>
              <a:spcBef>
                <a:spcPts val="0"/>
              </a:spcBef>
              <a:spcAft>
                <a:spcPts val="0"/>
              </a:spcAft>
              <a:buNone/>
            </a:pPr>
            <a:r>
              <a:rPr b="1" i="0" lang="en-US" sz="3093" u="none" cap="none" strike="noStrike">
                <a:solidFill>
                  <a:srgbClr val="230E0E"/>
                </a:solidFill>
                <a:latin typeface="Assistant"/>
                <a:ea typeface="Assistant"/>
                <a:cs typeface="Assistant"/>
                <a:sym typeface="Assistant"/>
              </a:rPr>
              <a:t>IBM-650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271" name="Shape 271"/>
        <p:cNvGrpSpPr/>
        <p:nvPr/>
      </p:nvGrpSpPr>
      <p:grpSpPr>
        <a:xfrm>
          <a:off x="0" y="0"/>
          <a:ext cx="0" cy="0"/>
          <a:chOff x="0" y="0"/>
          <a:chExt cx="0" cy="0"/>
        </a:xfrm>
      </p:grpSpPr>
      <p:grpSp>
        <p:nvGrpSpPr>
          <p:cNvPr id="272" name="Google Shape;272;p20"/>
          <p:cNvGrpSpPr/>
          <p:nvPr/>
        </p:nvGrpSpPr>
        <p:grpSpPr>
          <a:xfrm>
            <a:off x="0" y="-144661"/>
            <a:ext cx="18288000" cy="10431661"/>
            <a:chOff x="0" y="-38100"/>
            <a:chExt cx="4816593" cy="2747433"/>
          </a:xfrm>
        </p:grpSpPr>
        <p:sp>
          <p:nvSpPr>
            <p:cNvPr id="273" name="Google Shape;273;p20"/>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274" name="Google Shape;274;p20"/>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5" name="Google Shape;275;p20"/>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276" name="Google Shape;276;p20"/>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277" name="Google Shape;277;p20"/>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278" name="Google Shape;278;p20"/>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279" name="Google Shape;279;p20"/>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280" name="Google Shape;280;p20"/>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281" name="Google Shape;281;p20"/>
          <p:cNvSpPr/>
          <p:nvPr/>
        </p:nvSpPr>
        <p:spPr>
          <a:xfrm>
            <a:off x="5685008" y="2679192"/>
            <a:ext cx="6917984" cy="4381390"/>
          </a:xfrm>
          <a:custGeom>
            <a:rect b="b" l="l" r="r" t="t"/>
            <a:pathLst>
              <a:path extrusionOk="0" h="4381390" w="6917984">
                <a:moveTo>
                  <a:pt x="0" y="0"/>
                </a:moveTo>
                <a:lnTo>
                  <a:pt x="6917984" y="0"/>
                </a:lnTo>
                <a:lnTo>
                  <a:pt x="6917984" y="4381390"/>
                </a:lnTo>
                <a:lnTo>
                  <a:pt x="0" y="4381390"/>
                </a:lnTo>
                <a:lnTo>
                  <a:pt x="0" y="0"/>
                </a:lnTo>
                <a:close/>
              </a:path>
            </a:pathLst>
          </a:custGeom>
          <a:blipFill rotWithShape="1">
            <a:blip r:embed="rId5">
              <a:alphaModFix/>
            </a:blip>
            <a:stretch>
              <a:fillRect b="0" l="0" r="0" t="0"/>
            </a:stretch>
          </a:blipFill>
          <a:ln>
            <a:noFill/>
          </a:ln>
        </p:spPr>
      </p:sp>
      <p:sp>
        <p:nvSpPr>
          <p:cNvPr id="282" name="Google Shape;282;p20"/>
          <p:cNvSpPr txBox="1"/>
          <p:nvPr/>
        </p:nvSpPr>
        <p:spPr>
          <a:xfrm>
            <a:off x="3359088" y="7117732"/>
            <a:ext cx="11569800" cy="3345300"/>
          </a:xfrm>
          <a:prstGeom prst="rect">
            <a:avLst/>
          </a:prstGeom>
          <a:noFill/>
          <a:ln>
            <a:noFill/>
          </a:ln>
        </p:spPr>
        <p:txBody>
          <a:bodyPr anchorCtr="0" anchor="t" bIns="0" lIns="0" spcFirstLastPara="1" rIns="0" wrap="square" tIns="0">
            <a:spAutoFit/>
          </a:bodyPr>
          <a:lstStyle/>
          <a:p>
            <a:pPr indent="0" lvl="0" marL="0" marR="0" rtl="0" algn="ctr">
              <a:lnSpc>
                <a:spcPct val="150999"/>
              </a:lnSpc>
              <a:spcBef>
                <a:spcPts val="0"/>
              </a:spcBef>
              <a:spcAft>
                <a:spcPts val="0"/>
              </a:spcAft>
              <a:buNone/>
            </a:pPr>
            <a:r>
              <a:rPr i="0" lang="en-US" sz="3002" u="none" cap="none" strike="noStrike">
                <a:solidFill>
                  <a:srgbClr val="230E0E"/>
                </a:solidFill>
              </a:rPr>
              <a:t>The Electronic Numerical Integrator And Calculator (ENIAC) was the first all-electronic computer. It was constructed at the Moore School of Engineering of the University of Pennsylvania, U.S.A., by a design team led by Professors J. Presper Eckert and John Mauchly.</a:t>
            </a:r>
            <a:endParaRPr sz="800"/>
          </a:p>
          <a:p>
            <a:pPr indent="0" lvl="0" marL="0" marR="0" rtl="0" algn="ctr">
              <a:lnSpc>
                <a:spcPct val="150999"/>
              </a:lnSpc>
              <a:spcBef>
                <a:spcPts val="0"/>
              </a:spcBef>
              <a:spcAft>
                <a:spcPts val="0"/>
              </a:spcAft>
              <a:buNone/>
            </a:pPr>
            <a:r>
              <a:t/>
            </a:r>
            <a:endParaRPr b="0" i="0" sz="3602" u="none" cap="none" strike="noStrike">
              <a:solidFill>
                <a:srgbClr val="230E0E"/>
              </a:solidFill>
              <a:latin typeface="Harmattan"/>
              <a:ea typeface="Harmattan"/>
              <a:cs typeface="Harmattan"/>
              <a:sym typeface="Harmattan"/>
            </a:endParaRPr>
          </a:p>
        </p:txBody>
      </p:sp>
      <p:sp>
        <p:nvSpPr>
          <p:cNvPr id="283" name="Google Shape;283;p20"/>
          <p:cNvSpPr txBox="1"/>
          <p:nvPr/>
        </p:nvSpPr>
        <p:spPr>
          <a:xfrm>
            <a:off x="869087" y="712672"/>
            <a:ext cx="16390200" cy="1440600"/>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None/>
            </a:pPr>
            <a:r>
              <a:rPr b="1" i="0" lang="en-US" sz="3900" u="none" cap="none" strike="noStrike">
                <a:solidFill>
                  <a:srgbClr val="230E0E"/>
                </a:solidFill>
              </a:rPr>
              <a:t>ENIAC (ELECTRONIC NUMERICAL INTEGRATOR AND CALCULATOR) (1943-46 AD)</a:t>
            </a:r>
            <a:endParaRPr b="1" sz="3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291" name="Shape 291"/>
        <p:cNvGrpSpPr/>
        <p:nvPr/>
      </p:nvGrpSpPr>
      <p:grpSpPr>
        <a:xfrm>
          <a:off x="0" y="0"/>
          <a:ext cx="0" cy="0"/>
          <a:chOff x="0" y="0"/>
          <a:chExt cx="0" cy="0"/>
        </a:xfrm>
      </p:grpSpPr>
      <p:grpSp>
        <p:nvGrpSpPr>
          <p:cNvPr id="292" name="Google Shape;292;p21"/>
          <p:cNvGrpSpPr/>
          <p:nvPr/>
        </p:nvGrpSpPr>
        <p:grpSpPr>
          <a:xfrm>
            <a:off x="0" y="-144661"/>
            <a:ext cx="18288000" cy="10431661"/>
            <a:chOff x="0" y="-38100"/>
            <a:chExt cx="4816593" cy="2747433"/>
          </a:xfrm>
        </p:grpSpPr>
        <p:sp>
          <p:nvSpPr>
            <p:cNvPr id="293" name="Google Shape;293;p21"/>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294" name="Google Shape;294;p21"/>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21"/>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296" name="Google Shape;296;p21"/>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297" name="Google Shape;297;p21"/>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298" name="Google Shape;298;p21"/>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299" name="Google Shape;299;p21"/>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300" name="Google Shape;300;p21"/>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301" name="Google Shape;301;p21"/>
          <p:cNvSpPr/>
          <p:nvPr/>
        </p:nvSpPr>
        <p:spPr>
          <a:xfrm>
            <a:off x="2057400" y="2841223"/>
            <a:ext cx="4715373" cy="6356958"/>
          </a:xfrm>
          <a:custGeom>
            <a:rect b="b" l="l" r="r" t="t"/>
            <a:pathLst>
              <a:path extrusionOk="0" h="6356958" w="4715373">
                <a:moveTo>
                  <a:pt x="0" y="0"/>
                </a:moveTo>
                <a:lnTo>
                  <a:pt x="4715373" y="0"/>
                </a:lnTo>
                <a:lnTo>
                  <a:pt x="4715373" y="6356958"/>
                </a:lnTo>
                <a:lnTo>
                  <a:pt x="0" y="6356958"/>
                </a:lnTo>
                <a:lnTo>
                  <a:pt x="0" y="0"/>
                </a:lnTo>
                <a:close/>
              </a:path>
            </a:pathLst>
          </a:custGeom>
          <a:blipFill rotWithShape="1">
            <a:blip r:embed="rId5">
              <a:alphaModFix/>
            </a:blip>
            <a:stretch>
              <a:fillRect b="0" l="-69021" r="-70643" t="0"/>
            </a:stretch>
          </a:blipFill>
          <a:ln>
            <a:noFill/>
          </a:ln>
        </p:spPr>
      </p:sp>
      <p:sp>
        <p:nvSpPr>
          <p:cNvPr id="302" name="Google Shape;302;p21"/>
          <p:cNvSpPr txBox="1"/>
          <p:nvPr/>
        </p:nvSpPr>
        <p:spPr>
          <a:xfrm>
            <a:off x="7139250" y="2736450"/>
            <a:ext cx="8456400" cy="6834600"/>
          </a:xfrm>
          <a:prstGeom prst="rect">
            <a:avLst/>
          </a:prstGeom>
          <a:noFill/>
          <a:ln>
            <a:noFill/>
          </a:ln>
        </p:spPr>
        <p:txBody>
          <a:bodyPr anchorCtr="0" anchor="ctr" bIns="0" lIns="0" spcFirstLastPara="1" rIns="0" wrap="square" tIns="0">
            <a:noAutofit/>
          </a:bodyPr>
          <a:lstStyle/>
          <a:p>
            <a:pPr indent="0" lvl="0" marL="0" marR="0" rtl="0" algn="ctr">
              <a:lnSpc>
                <a:spcPct val="150999"/>
              </a:lnSpc>
              <a:spcBef>
                <a:spcPts val="0"/>
              </a:spcBef>
              <a:spcAft>
                <a:spcPts val="0"/>
              </a:spcAft>
              <a:buNone/>
            </a:pPr>
            <a:r>
              <a:rPr i="0" lang="en-US" sz="3100" u="none" cap="none" strike="noStrike">
                <a:solidFill>
                  <a:srgbClr val="230E0E"/>
                </a:solidFill>
              </a:rPr>
              <a:t>Dr. John Von Neumann later introduced the ―stored program concept that aided overcome this problem. The basic idea after this concept is that a sequence of instructions and data can be stored in a computer’s memory to direct operations flow automatically. This feature largely influenced the development of modern digital computers because of how various programs can be loaded and executed on the same computer.</a:t>
            </a:r>
            <a:endParaRPr sz="3100"/>
          </a:p>
        </p:txBody>
      </p:sp>
      <p:sp>
        <p:nvSpPr>
          <p:cNvPr id="303" name="Google Shape;303;p21"/>
          <p:cNvSpPr txBox="1"/>
          <p:nvPr/>
        </p:nvSpPr>
        <p:spPr>
          <a:xfrm>
            <a:off x="869087" y="712672"/>
            <a:ext cx="16390200" cy="1736100"/>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None/>
            </a:pPr>
            <a:r>
              <a:rPr b="1" i="0" lang="en-US" sz="4700" u="none" cap="none" strike="noStrike">
                <a:solidFill>
                  <a:srgbClr val="230E0E"/>
                </a:solidFill>
              </a:rPr>
              <a:t>EDVAC (ELECTRONIC DISCRETE VARIABLE AUTOMATIC) (1946-52 AD)</a:t>
            </a:r>
            <a:endParaRPr b="1" sz="4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311" name="Shape 311"/>
        <p:cNvGrpSpPr/>
        <p:nvPr/>
      </p:nvGrpSpPr>
      <p:grpSpPr>
        <a:xfrm>
          <a:off x="0" y="0"/>
          <a:ext cx="0" cy="0"/>
          <a:chOff x="0" y="0"/>
          <a:chExt cx="0" cy="0"/>
        </a:xfrm>
      </p:grpSpPr>
      <p:grpSp>
        <p:nvGrpSpPr>
          <p:cNvPr id="312" name="Google Shape;312;p22"/>
          <p:cNvGrpSpPr/>
          <p:nvPr/>
        </p:nvGrpSpPr>
        <p:grpSpPr>
          <a:xfrm>
            <a:off x="0" y="-144661"/>
            <a:ext cx="18288000" cy="10431661"/>
            <a:chOff x="0" y="-38100"/>
            <a:chExt cx="4816593" cy="2747433"/>
          </a:xfrm>
        </p:grpSpPr>
        <p:sp>
          <p:nvSpPr>
            <p:cNvPr id="313" name="Google Shape;313;p22"/>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314" name="Google Shape;314;p22"/>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5" name="Google Shape;315;p22"/>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316" name="Google Shape;316;p22"/>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317" name="Google Shape;317;p22"/>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318" name="Google Shape;318;p22"/>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319" name="Google Shape;319;p22"/>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320" name="Google Shape;320;p22"/>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321" name="Google Shape;321;p22"/>
          <p:cNvSpPr/>
          <p:nvPr/>
        </p:nvSpPr>
        <p:spPr>
          <a:xfrm>
            <a:off x="5914593" y="1600200"/>
            <a:ext cx="6299200" cy="3543300"/>
          </a:xfrm>
          <a:custGeom>
            <a:rect b="b" l="l" r="r" t="t"/>
            <a:pathLst>
              <a:path extrusionOk="0" h="3543300" w="6299200">
                <a:moveTo>
                  <a:pt x="0" y="0"/>
                </a:moveTo>
                <a:lnTo>
                  <a:pt x="6299200" y="0"/>
                </a:lnTo>
                <a:lnTo>
                  <a:pt x="6299200" y="3543300"/>
                </a:lnTo>
                <a:lnTo>
                  <a:pt x="0" y="3543300"/>
                </a:lnTo>
                <a:lnTo>
                  <a:pt x="0" y="0"/>
                </a:lnTo>
                <a:close/>
              </a:path>
            </a:pathLst>
          </a:custGeom>
          <a:blipFill rotWithShape="1">
            <a:blip r:embed="rId5">
              <a:alphaModFix/>
            </a:blip>
            <a:stretch>
              <a:fillRect b="0" l="0" r="0" t="0"/>
            </a:stretch>
          </a:blipFill>
          <a:ln>
            <a:noFill/>
          </a:ln>
        </p:spPr>
      </p:sp>
      <p:sp>
        <p:nvSpPr>
          <p:cNvPr id="322" name="Google Shape;322;p22"/>
          <p:cNvSpPr txBox="1"/>
          <p:nvPr/>
        </p:nvSpPr>
        <p:spPr>
          <a:xfrm>
            <a:off x="2525155" y="5387440"/>
            <a:ext cx="13237800" cy="4335600"/>
          </a:xfrm>
          <a:prstGeom prst="rect">
            <a:avLst/>
          </a:prstGeom>
          <a:noFill/>
          <a:ln>
            <a:noFill/>
          </a:ln>
        </p:spPr>
        <p:txBody>
          <a:bodyPr anchorCtr="0" anchor="ctr" bIns="0" lIns="0" spcFirstLastPara="1" rIns="0" wrap="square" tIns="0">
            <a:noAutofit/>
          </a:bodyPr>
          <a:lstStyle/>
          <a:p>
            <a:pPr indent="0" lvl="0" marL="0" marR="0" rtl="0" algn="ctr">
              <a:lnSpc>
                <a:spcPct val="150995"/>
              </a:lnSpc>
              <a:spcBef>
                <a:spcPts val="0"/>
              </a:spcBef>
              <a:spcAft>
                <a:spcPts val="0"/>
              </a:spcAft>
              <a:buNone/>
            </a:pPr>
            <a:r>
              <a:rPr i="0" lang="en-US" sz="2800" u="none" cap="none" strike="noStrike">
                <a:solidFill>
                  <a:srgbClr val="230E0E"/>
                </a:solidFill>
              </a:rPr>
              <a:t>The Universal Automatic Computer (UNIVAC) was the first digital computer that was not ―one of a kind. Many UNIVAC machines were manufactured, the first of which was installed in the Census Bureau in 1951 and was used continually for 10 years.</a:t>
            </a:r>
            <a:endParaRPr sz="2800"/>
          </a:p>
          <a:p>
            <a:pPr indent="0" lvl="0" marL="0" marR="0" rtl="0" algn="ctr">
              <a:lnSpc>
                <a:spcPct val="150995"/>
              </a:lnSpc>
              <a:spcBef>
                <a:spcPts val="0"/>
              </a:spcBef>
              <a:spcAft>
                <a:spcPts val="0"/>
              </a:spcAft>
              <a:buNone/>
            </a:pPr>
            <a:r>
              <a:rPr i="0" lang="en-US" sz="2800" u="none" cap="none" strike="noStrike">
                <a:solidFill>
                  <a:srgbClr val="230E0E"/>
                </a:solidFill>
              </a:rPr>
              <a:t>In 1952, the International Business Machines (IBM) Corporation introduced the </a:t>
            </a:r>
            <a:r>
              <a:rPr i="0" lang="en-US" sz="2800" u="sng" cap="none" strike="noStrike">
                <a:solidFill>
                  <a:srgbClr val="230E0E"/>
                </a:solidFill>
              </a:rPr>
              <a:t>IBM-701</a:t>
            </a:r>
            <a:r>
              <a:rPr i="0" lang="en-US" sz="2800" u="none" cap="none" strike="noStrike">
                <a:solidFill>
                  <a:srgbClr val="230E0E"/>
                </a:solidFill>
              </a:rPr>
              <a:t> commercial </a:t>
            </a:r>
            <a:r>
              <a:rPr i="0" lang="en-US" sz="2800" cap="none" strike="noStrike">
                <a:solidFill>
                  <a:srgbClr val="230E0E"/>
                </a:solidFill>
              </a:rPr>
              <a:t> computer</a:t>
            </a:r>
            <a:r>
              <a:rPr i="0" lang="en-US" sz="2800" u="none" cap="none" strike="noStrike">
                <a:solidFill>
                  <a:srgbClr val="230E0E"/>
                </a:solidFill>
              </a:rPr>
              <a:t>. In quick succession, improved models of the UNIVAC I and other IBM 700-series machines were introduced. In 1953, IBM produced the IBM-650 and sold over 1000 </a:t>
            </a:r>
            <a:r>
              <a:rPr i="0" lang="en-US" sz="2800" cap="none" strike="noStrike">
                <a:solidFill>
                  <a:srgbClr val="230E0E"/>
                </a:solidFill>
              </a:rPr>
              <a:t> computers</a:t>
            </a:r>
            <a:r>
              <a:rPr i="0" lang="en-US" sz="2800" u="none" cap="none" strike="noStrike">
                <a:solidFill>
                  <a:srgbClr val="230E0E"/>
                </a:solidFill>
              </a:rPr>
              <a:t>.  </a:t>
            </a:r>
            <a:endParaRPr sz="2800"/>
          </a:p>
        </p:txBody>
      </p:sp>
      <p:sp>
        <p:nvSpPr>
          <p:cNvPr id="323" name="Google Shape;323;p22"/>
          <p:cNvSpPr txBox="1"/>
          <p:nvPr/>
        </p:nvSpPr>
        <p:spPr>
          <a:xfrm>
            <a:off x="869087" y="712672"/>
            <a:ext cx="16390200" cy="677400"/>
          </a:xfrm>
          <a:prstGeom prst="rect">
            <a:avLst/>
          </a:prstGeom>
          <a:noFill/>
          <a:ln>
            <a:noFill/>
          </a:ln>
        </p:spPr>
        <p:txBody>
          <a:bodyPr anchorCtr="0" anchor="ctr" bIns="0" lIns="0" spcFirstLastPara="1" rIns="0" wrap="square" tIns="0">
            <a:noAutofit/>
          </a:bodyPr>
          <a:lstStyle/>
          <a:p>
            <a:pPr indent="0" lvl="0" marL="0" marR="0" rtl="0" algn="ctr">
              <a:lnSpc>
                <a:spcPct val="139988"/>
              </a:lnSpc>
              <a:spcBef>
                <a:spcPts val="0"/>
              </a:spcBef>
              <a:spcAft>
                <a:spcPts val="0"/>
              </a:spcAft>
              <a:buNone/>
            </a:pPr>
            <a:r>
              <a:rPr b="1" i="0" lang="en-US" sz="4400" u="none" cap="none" strike="noStrike">
                <a:solidFill>
                  <a:srgbClr val="230E0E"/>
                </a:solidFill>
              </a:rPr>
              <a:t>UNIVAC (UNIVERSAL AUTOMATIC COMPUTERS) (1951)</a:t>
            </a:r>
            <a:endParaRPr b="1" sz="4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331" name="Shape 331"/>
        <p:cNvGrpSpPr/>
        <p:nvPr/>
      </p:nvGrpSpPr>
      <p:grpSpPr>
        <a:xfrm>
          <a:off x="0" y="0"/>
          <a:ext cx="0" cy="0"/>
          <a:chOff x="0" y="0"/>
          <a:chExt cx="0" cy="0"/>
        </a:xfrm>
      </p:grpSpPr>
      <p:grpSp>
        <p:nvGrpSpPr>
          <p:cNvPr id="332" name="Google Shape;332;p23"/>
          <p:cNvGrpSpPr/>
          <p:nvPr/>
        </p:nvGrpSpPr>
        <p:grpSpPr>
          <a:xfrm>
            <a:off x="0" y="-144661"/>
            <a:ext cx="18288000" cy="10431661"/>
            <a:chOff x="0" y="-38100"/>
            <a:chExt cx="4816593" cy="2747433"/>
          </a:xfrm>
        </p:grpSpPr>
        <p:sp>
          <p:nvSpPr>
            <p:cNvPr id="333" name="Google Shape;333;p23"/>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334" name="Google Shape;334;p23"/>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5" name="Google Shape;335;p23"/>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336" name="Google Shape;336;p23"/>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337" name="Google Shape;337;p23"/>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338" name="Google Shape;338;p23"/>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339" name="Google Shape;339;p23"/>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340" name="Google Shape;340;p23"/>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341" name="Google Shape;341;p23"/>
          <p:cNvSpPr/>
          <p:nvPr/>
        </p:nvSpPr>
        <p:spPr>
          <a:xfrm>
            <a:off x="5188357" y="4897984"/>
            <a:ext cx="7751673" cy="4360316"/>
          </a:xfrm>
          <a:custGeom>
            <a:rect b="b" l="l" r="r" t="t"/>
            <a:pathLst>
              <a:path extrusionOk="0" h="4360316" w="7751673">
                <a:moveTo>
                  <a:pt x="0" y="0"/>
                </a:moveTo>
                <a:lnTo>
                  <a:pt x="7751673" y="0"/>
                </a:lnTo>
                <a:lnTo>
                  <a:pt x="7751673" y="4360316"/>
                </a:lnTo>
                <a:lnTo>
                  <a:pt x="0" y="4360316"/>
                </a:lnTo>
                <a:lnTo>
                  <a:pt x="0" y="0"/>
                </a:lnTo>
                <a:close/>
              </a:path>
            </a:pathLst>
          </a:custGeom>
          <a:blipFill rotWithShape="1">
            <a:blip r:embed="rId5">
              <a:alphaModFix/>
            </a:blip>
            <a:stretch>
              <a:fillRect b="0" l="0" r="0" t="0"/>
            </a:stretch>
          </a:blipFill>
          <a:ln>
            <a:noFill/>
          </a:ln>
        </p:spPr>
      </p:sp>
      <p:sp>
        <p:nvSpPr>
          <p:cNvPr id="342" name="Google Shape;342;p23"/>
          <p:cNvSpPr txBox="1"/>
          <p:nvPr/>
        </p:nvSpPr>
        <p:spPr>
          <a:xfrm>
            <a:off x="2057400" y="2004251"/>
            <a:ext cx="13661400" cy="2553600"/>
          </a:xfrm>
          <a:prstGeom prst="rect">
            <a:avLst/>
          </a:prstGeom>
          <a:noFill/>
          <a:ln>
            <a:noFill/>
          </a:ln>
        </p:spPr>
        <p:txBody>
          <a:bodyPr anchorCtr="0" anchor="t" bIns="0" lIns="0" spcFirstLastPara="1" rIns="0" wrap="square" tIns="0">
            <a:spAutoFit/>
          </a:bodyPr>
          <a:lstStyle/>
          <a:p>
            <a:pPr indent="0" lvl="0" marL="0" marR="0" rtl="0" algn="just">
              <a:lnSpc>
                <a:spcPct val="150999"/>
              </a:lnSpc>
              <a:spcBef>
                <a:spcPts val="0"/>
              </a:spcBef>
              <a:spcAft>
                <a:spcPts val="0"/>
              </a:spcAft>
              <a:buNone/>
            </a:pPr>
            <a:r>
              <a:rPr i="0" lang="en-US" sz="3000" u="none" cap="none" strike="noStrike">
                <a:solidFill>
                  <a:srgbClr val="230E0E"/>
                </a:solidFill>
              </a:rPr>
              <a:t>The interest in computer technology got fast after the first-generation computers. It was the generation of </a:t>
            </a:r>
            <a:r>
              <a:rPr i="0" lang="en-US" sz="3000" u="sng" cap="none" strike="noStrike">
                <a:solidFill>
                  <a:srgbClr val="230E0E"/>
                </a:solidFill>
              </a:rPr>
              <a:t>Transistorized Computers</a:t>
            </a:r>
            <a:r>
              <a:rPr i="0" lang="en-US" sz="3000" u="none" cap="none" strike="noStrike">
                <a:solidFill>
                  <a:srgbClr val="230E0E"/>
                </a:solidFill>
              </a:rPr>
              <a:t>. Transistors replaced vacuum tubes from the first generation computers. As a result, first-generation computers were replaced by second-generation computers. </a:t>
            </a:r>
            <a:endParaRPr sz="3000"/>
          </a:p>
        </p:txBody>
      </p:sp>
      <p:sp>
        <p:nvSpPr>
          <p:cNvPr id="343" name="Google Shape;343;p23"/>
          <p:cNvSpPr txBox="1"/>
          <p:nvPr/>
        </p:nvSpPr>
        <p:spPr>
          <a:xfrm>
            <a:off x="869075" y="712677"/>
            <a:ext cx="16390200" cy="1104000"/>
          </a:xfrm>
          <a:prstGeom prst="rect">
            <a:avLst/>
          </a:prstGeom>
          <a:noFill/>
          <a:ln>
            <a:noFill/>
          </a:ln>
        </p:spPr>
        <p:txBody>
          <a:bodyPr anchorCtr="0" anchor="ctr" bIns="0" lIns="0" spcFirstLastPara="1" rIns="0" wrap="square" tIns="0">
            <a:noAutofit/>
          </a:bodyPr>
          <a:lstStyle/>
          <a:p>
            <a:pPr indent="0" lvl="0" marL="0" marR="0" rtl="0" algn="ctr">
              <a:lnSpc>
                <a:spcPct val="139988"/>
              </a:lnSpc>
              <a:spcBef>
                <a:spcPts val="0"/>
              </a:spcBef>
              <a:spcAft>
                <a:spcPts val="0"/>
              </a:spcAft>
              <a:buNone/>
            </a:pPr>
            <a:r>
              <a:rPr b="1" i="0" lang="en-US" sz="4400" u="none" cap="none" strike="noStrike">
                <a:solidFill>
                  <a:srgbClr val="230E0E"/>
                </a:solidFill>
              </a:rPr>
              <a:t>2.SECOND GENERATION COMPUTERS (1956-1963 AD)</a:t>
            </a:r>
            <a:endParaRPr b="1" sz="4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351" name="Shape 351"/>
        <p:cNvGrpSpPr/>
        <p:nvPr/>
      </p:nvGrpSpPr>
      <p:grpSpPr>
        <a:xfrm>
          <a:off x="0" y="0"/>
          <a:ext cx="0" cy="0"/>
          <a:chOff x="0" y="0"/>
          <a:chExt cx="0" cy="0"/>
        </a:xfrm>
      </p:grpSpPr>
      <p:grpSp>
        <p:nvGrpSpPr>
          <p:cNvPr id="352" name="Google Shape;352;p24"/>
          <p:cNvGrpSpPr/>
          <p:nvPr/>
        </p:nvGrpSpPr>
        <p:grpSpPr>
          <a:xfrm>
            <a:off x="0" y="-144661"/>
            <a:ext cx="18288000" cy="10431661"/>
            <a:chOff x="0" y="-38100"/>
            <a:chExt cx="4816593" cy="2747433"/>
          </a:xfrm>
        </p:grpSpPr>
        <p:sp>
          <p:nvSpPr>
            <p:cNvPr id="353" name="Google Shape;353;p24"/>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354" name="Google Shape;354;p24"/>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5" name="Google Shape;355;p24"/>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356" name="Google Shape;356;p24"/>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357" name="Google Shape;357;p24"/>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358" name="Google Shape;358;p24"/>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359" name="Google Shape;359;p24"/>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360" name="Google Shape;360;p24"/>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361" name="Google Shape;361;p24"/>
          <p:cNvSpPr txBox="1"/>
          <p:nvPr/>
        </p:nvSpPr>
        <p:spPr>
          <a:xfrm>
            <a:off x="2529150" y="465725"/>
            <a:ext cx="13433100" cy="9528600"/>
          </a:xfrm>
          <a:prstGeom prst="rect">
            <a:avLst/>
          </a:prstGeom>
          <a:noFill/>
          <a:ln>
            <a:noFill/>
          </a:ln>
        </p:spPr>
        <p:txBody>
          <a:bodyPr anchorCtr="0" anchor="t" bIns="0" lIns="0" spcFirstLastPara="1" rIns="0" wrap="square" tIns="0">
            <a:spAutoFit/>
          </a:bodyPr>
          <a:lstStyle/>
          <a:p>
            <a:pPr indent="0" lvl="0" marL="0" marR="0" rtl="0" algn="l">
              <a:lnSpc>
                <a:spcPct val="151037"/>
              </a:lnSpc>
              <a:spcBef>
                <a:spcPts val="0"/>
              </a:spcBef>
              <a:spcAft>
                <a:spcPts val="0"/>
              </a:spcAft>
              <a:buNone/>
            </a:pPr>
            <a:r>
              <a:rPr i="0" lang="en-US" sz="3000" u="none" cap="none" strike="noStrike">
                <a:solidFill>
                  <a:srgbClr val="230E0E"/>
                </a:solidFill>
              </a:rPr>
              <a:t>The first transistorized computer was TX-0. The first large-scale machines that took advantage of the transistor technology were the early supercomputers, LARC by Sperry Rand and Stretch by IBM. These machines were specially developed for atomic energy laboratories. IBM 1400 and IBM 7000 series, General Electric, and Honeywell 200 were the typical computers of the second generation. </a:t>
            </a:r>
            <a:endParaRPr sz="3000"/>
          </a:p>
          <a:p>
            <a:pPr indent="0" lvl="0" marL="0" marR="0" rtl="0" algn="l">
              <a:lnSpc>
                <a:spcPct val="151037"/>
              </a:lnSpc>
              <a:spcBef>
                <a:spcPts val="0"/>
              </a:spcBef>
              <a:spcAft>
                <a:spcPts val="0"/>
              </a:spcAft>
              <a:buNone/>
            </a:pPr>
            <a:r>
              <a:t/>
            </a:r>
            <a:endParaRPr i="0" sz="3000" u="none" cap="none" strike="noStrike">
              <a:solidFill>
                <a:srgbClr val="230E0E"/>
              </a:solidFill>
            </a:endParaRPr>
          </a:p>
          <a:p>
            <a:pPr indent="0" lvl="0" marL="0" marR="0" rtl="0" algn="l">
              <a:lnSpc>
                <a:spcPct val="151037"/>
              </a:lnSpc>
              <a:spcBef>
                <a:spcPts val="0"/>
              </a:spcBef>
              <a:spcAft>
                <a:spcPts val="0"/>
              </a:spcAft>
              <a:buNone/>
            </a:pPr>
            <a:r>
              <a:rPr i="0" lang="en-US" sz="3000" u="none" cap="none" strike="noStrike">
                <a:solidFill>
                  <a:srgbClr val="230E0E"/>
                </a:solidFill>
              </a:rPr>
              <a:t>IBM 1401 was accepted throughout the industry, and most prominent businesses routinely processed financial information using second-generation computers. </a:t>
            </a:r>
            <a:endParaRPr sz="3000"/>
          </a:p>
          <a:p>
            <a:pPr indent="0" lvl="0" marL="0" marR="0" rtl="0" algn="l">
              <a:lnSpc>
                <a:spcPct val="151037"/>
              </a:lnSpc>
              <a:spcBef>
                <a:spcPts val="0"/>
              </a:spcBef>
              <a:spcAft>
                <a:spcPts val="0"/>
              </a:spcAft>
              <a:buNone/>
            </a:pPr>
            <a:r>
              <a:t/>
            </a:r>
            <a:endParaRPr i="0" sz="3000" u="none" cap="none" strike="noStrike">
              <a:solidFill>
                <a:srgbClr val="230E0E"/>
              </a:solidFill>
            </a:endParaRPr>
          </a:p>
          <a:p>
            <a:pPr indent="0" lvl="0" marL="0" marR="0" rtl="0" algn="l">
              <a:lnSpc>
                <a:spcPct val="151037"/>
              </a:lnSpc>
              <a:spcBef>
                <a:spcPts val="0"/>
              </a:spcBef>
              <a:spcAft>
                <a:spcPts val="0"/>
              </a:spcAft>
              <a:buNone/>
            </a:pPr>
            <a:r>
              <a:rPr i="0" lang="en-US" sz="3000" u="none" cap="none" strike="noStrike">
                <a:solidFill>
                  <a:srgbClr val="230E0E"/>
                </a:solidFill>
              </a:rPr>
              <a:t>High-level languages like FORTRAN, COBOL, and AL- GOL were developed. </a:t>
            </a:r>
            <a:r>
              <a:rPr i="0" lang="en-US" sz="3000" cap="none" strike="noStrike">
                <a:solidFill>
                  <a:srgbClr val="230E0E"/>
                </a:solidFill>
              </a:rPr>
              <a:t> Computers</a:t>
            </a:r>
            <a:r>
              <a:rPr i="0" lang="en-US" sz="3000" u="none" cap="none" strike="noStrike">
                <a:solidFill>
                  <a:srgbClr val="230E0E"/>
                </a:solidFill>
              </a:rPr>
              <a:t> started finding varied and vast applications. The entire software industry began with second-generation computers. </a:t>
            </a:r>
            <a:endParaRPr sz="3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365" name="Shape 365"/>
        <p:cNvGrpSpPr/>
        <p:nvPr/>
      </p:nvGrpSpPr>
      <p:grpSpPr>
        <a:xfrm>
          <a:off x="0" y="0"/>
          <a:ext cx="0" cy="0"/>
          <a:chOff x="0" y="0"/>
          <a:chExt cx="0" cy="0"/>
        </a:xfrm>
      </p:grpSpPr>
      <p:grpSp>
        <p:nvGrpSpPr>
          <p:cNvPr id="366" name="Google Shape;366;p25"/>
          <p:cNvGrpSpPr/>
          <p:nvPr/>
        </p:nvGrpSpPr>
        <p:grpSpPr>
          <a:xfrm>
            <a:off x="0" y="-144661"/>
            <a:ext cx="18288000" cy="10431661"/>
            <a:chOff x="0" y="-38100"/>
            <a:chExt cx="4816593" cy="2747433"/>
          </a:xfrm>
        </p:grpSpPr>
        <p:sp>
          <p:nvSpPr>
            <p:cNvPr id="367" name="Google Shape;367;p25"/>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368" name="Google Shape;368;p25"/>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9" name="Google Shape;369;p25"/>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370" name="Google Shape;370;p25"/>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371" name="Google Shape;371;p25"/>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372" name="Google Shape;372;p25"/>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373" name="Google Shape;373;p25"/>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374" name="Google Shape;374;p25"/>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grpSp>
        <p:nvGrpSpPr>
          <p:cNvPr id="375" name="Google Shape;375;p25"/>
          <p:cNvGrpSpPr/>
          <p:nvPr/>
        </p:nvGrpSpPr>
        <p:grpSpPr>
          <a:xfrm>
            <a:off x="2333576" y="1472338"/>
            <a:ext cx="13624805" cy="1492113"/>
            <a:chOff x="0" y="-38100"/>
            <a:chExt cx="4635613" cy="507667"/>
          </a:xfrm>
        </p:grpSpPr>
        <p:sp>
          <p:nvSpPr>
            <p:cNvPr id="376" name="Google Shape;376;p25"/>
            <p:cNvSpPr/>
            <p:nvPr/>
          </p:nvSpPr>
          <p:spPr>
            <a:xfrm>
              <a:off x="0" y="0"/>
              <a:ext cx="4635613" cy="469567"/>
            </a:xfrm>
            <a:custGeom>
              <a:rect b="b" l="l" r="r" t="t"/>
              <a:pathLst>
                <a:path extrusionOk="0" h="469567" w="4635613">
                  <a:moveTo>
                    <a:pt x="0" y="0"/>
                  </a:moveTo>
                  <a:lnTo>
                    <a:pt x="4635613" y="0"/>
                  </a:lnTo>
                  <a:lnTo>
                    <a:pt x="4635613" y="469567"/>
                  </a:lnTo>
                  <a:lnTo>
                    <a:pt x="0" y="469567"/>
                  </a:lnTo>
                  <a:close/>
                </a:path>
              </a:pathLst>
            </a:custGeom>
            <a:solidFill>
              <a:srgbClr val="DFD0B8"/>
            </a:solidFill>
            <a:ln>
              <a:noFill/>
            </a:ln>
          </p:spPr>
        </p:sp>
        <p:sp>
          <p:nvSpPr>
            <p:cNvPr id="377" name="Google Shape;377;p25"/>
            <p:cNvSpPr txBox="1"/>
            <p:nvPr/>
          </p:nvSpPr>
          <p:spPr>
            <a:xfrm>
              <a:off x="0" y="-38100"/>
              <a:ext cx="4635613" cy="50766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8" name="Google Shape;378;p25"/>
          <p:cNvGrpSpPr/>
          <p:nvPr/>
        </p:nvGrpSpPr>
        <p:grpSpPr>
          <a:xfrm>
            <a:off x="2333576" y="3018134"/>
            <a:ext cx="13624805" cy="1417925"/>
            <a:chOff x="0" y="-38100"/>
            <a:chExt cx="4635613" cy="482425"/>
          </a:xfrm>
        </p:grpSpPr>
        <p:sp>
          <p:nvSpPr>
            <p:cNvPr id="379" name="Google Shape;379;p25"/>
            <p:cNvSpPr/>
            <p:nvPr/>
          </p:nvSpPr>
          <p:spPr>
            <a:xfrm>
              <a:off x="0" y="0"/>
              <a:ext cx="4635613" cy="444325"/>
            </a:xfrm>
            <a:custGeom>
              <a:rect b="b" l="l" r="r" t="t"/>
              <a:pathLst>
                <a:path extrusionOk="0" h="444325" w="4635613">
                  <a:moveTo>
                    <a:pt x="0" y="0"/>
                  </a:moveTo>
                  <a:lnTo>
                    <a:pt x="4635613" y="0"/>
                  </a:lnTo>
                  <a:lnTo>
                    <a:pt x="4635613" y="444325"/>
                  </a:lnTo>
                  <a:lnTo>
                    <a:pt x="0" y="444325"/>
                  </a:lnTo>
                  <a:close/>
                </a:path>
              </a:pathLst>
            </a:custGeom>
            <a:solidFill>
              <a:srgbClr val="DFD0B8"/>
            </a:solidFill>
            <a:ln>
              <a:noFill/>
            </a:ln>
          </p:spPr>
        </p:sp>
        <p:sp>
          <p:nvSpPr>
            <p:cNvPr id="380" name="Google Shape;380;p25"/>
            <p:cNvSpPr txBox="1"/>
            <p:nvPr/>
          </p:nvSpPr>
          <p:spPr>
            <a:xfrm>
              <a:off x="0" y="-38100"/>
              <a:ext cx="4635613" cy="4824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1" name="Google Shape;381;p25"/>
          <p:cNvSpPr txBox="1"/>
          <p:nvPr/>
        </p:nvSpPr>
        <p:spPr>
          <a:xfrm>
            <a:off x="2333575" y="3127775"/>
            <a:ext cx="13624800" cy="13260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The computer was much faster, more reliable, and better speed and could handle enormous data than first-generation computers.</a:t>
            </a:r>
            <a:endParaRPr b="0" i="0" sz="3093" u="none" cap="none" strike="noStrike">
              <a:solidFill>
                <a:srgbClr val="230E0E"/>
              </a:solidFill>
              <a:latin typeface="Assistant"/>
              <a:ea typeface="Assistant"/>
              <a:cs typeface="Assistant"/>
              <a:sym typeface="Assistant"/>
            </a:endParaRPr>
          </a:p>
        </p:txBody>
      </p:sp>
      <p:sp>
        <p:nvSpPr>
          <p:cNvPr id="382" name="Google Shape;382;p25"/>
          <p:cNvSpPr txBox="1"/>
          <p:nvPr/>
        </p:nvSpPr>
        <p:spPr>
          <a:xfrm>
            <a:off x="2333575" y="1638425"/>
            <a:ext cx="13624800" cy="13260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This generation’s most significant feature was introducing transistors that make the size smaller than the first-generation computer.</a:t>
            </a:r>
            <a:endParaRPr b="0" i="0" sz="3093" u="none" cap="none" strike="noStrike">
              <a:solidFill>
                <a:srgbClr val="230E0E"/>
              </a:solidFill>
              <a:latin typeface="Assistant"/>
              <a:ea typeface="Assistant"/>
              <a:cs typeface="Assistant"/>
              <a:sym typeface="Assistant"/>
            </a:endParaRPr>
          </a:p>
        </p:txBody>
      </p:sp>
      <p:sp>
        <p:nvSpPr>
          <p:cNvPr id="383" name="Google Shape;383;p25"/>
          <p:cNvSpPr txBox="1"/>
          <p:nvPr/>
        </p:nvSpPr>
        <p:spPr>
          <a:xfrm>
            <a:off x="2057400" y="643826"/>
            <a:ext cx="14159700" cy="9945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400" u="none" cap="none" strike="noStrike">
                <a:solidFill>
                  <a:srgbClr val="230E0E"/>
                </a:solidFill>
              </a:rPr>
              <a:t>FEATURES OF SECOND GENERATION COMPUTERS</a:t>
            </a:r>
            <a:endParaRPr b="1" sz="4400"/>
          </a:p>
        </p:txBody>
      </p:sp>
      <p:grpSp>
        <p:nvGrpSpPr>
          <p:cNvPr id="384" name="Google Shape;384;p25"/>
          <p:cNvGrpSpPr/>
          <p:nvPr/>
        </p:nvGrpSpPr>
        <p:grpSpPr>
          <a:xfrm>
            <a:off x="2324847" y="4486002"/>
            <a:ext cx="13624805" cy="1417925"/>
            <a:chOff x="0" y="-38100"/>
            <a:chExt cx="4635613" cy="482425"/>
          </a:xfrm>
        </p:grpSpPr>
        <p:sp>
          <p:nvSpPr>
            <p:cNvPr id="385" name="Google Shape;385;p25"/>
            <p:cNvSpPr/>
            <p:nvPr/>
          </p:nvSpPr>
          <p:spPr>
            <a:xfrm>
              <a:off x="0" y="0"/>
              <a:ext cx="4635613" cy="444325"/>
            </a:xfrm>
            <a:custGeom>
              <a:rect b="b" l="l" r="r" t="t"/>
              <a:pathLst>
                <a:path extrusionOk="0" h="444325" w="4635613">
                  <a:moveTo>
                    <a:pt x="0" y="0"/>
                  </a:moveTo>
                  <a:lnTo>
                    <a:pt x="4635613" y="0"/>
                  </a:lnTo>
                  <a:lnTo>
                    <a:pt x="4635613" y="444325"/>
                  </a:lnTo>
                  <a:lnTo>
                    <a:pt x="0" y="444325"/>
                  </a:lnTo>
                  <a:close/>
                </a:path>
              </a:pathLst>
            </a:custGeom>
            <a:solidFill>
              <a:srgbClr val="DFD0B8"/>
            </a:solidFill>
            <a:ln>
              <a:noFill/>
            </a:ln>
          </p:spPr>
        </p:sp>
        <p:sp>
          <p:nvSpPr>
            <p:cNvPr id="386" name="Google Shape;386;p25"/>
            <p:cNvSpPr txBox="1"/>
            <p:nvPr/>
          </p:nvSpPr>
          <p:spPr>
            <a:xfrm>
              <a:off x="0" y="-38100"/>
              <a:ext cx="4635613" cy="4824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7" name="Google Shape;387;p25"/>
          <p:cNvGrpSpPr/>
          <p:nvPr/>
        </p:nvGrpSpPr>
        <p:grpSpPr>
          <a:xfrm>
            <a:off x="2325841" y="5991970"/>
            <a:ext cx="13624805" cy="1071205"/>
            <a:chOff x="0" y="-38100"/>
            <a:chExt cx="4635613" cy="364460"/>
          </a:xfrm>
        </p:grpSpPr>
        <p:sp>
          <p:nvSpPr>
            <p:cNvPr id="388" name="Google Shape;388;p25"/>
            <p:cNvSpPr/>
            <p:nvPr/>
          </p:nvSpPr>
          <p:spPr>
            <a:xfrm>
              <a:off x="0" y="0"/>
              <a:ext cx="4635613" cy="326360"/>
            </a:xfrm>
            <a:custGeom>
              <a:rect b="b" l="l" r="r" t="t"/>
              <a:pathLst>
                <a:path extrusionOk="0" h="326360" w="4635613">
                  <a:moveTo>
                    <a:pt x="0" y="0"/>
                  </a:moveTo>
                  <a:lnTo>
                    <a:pt x="4635613" y="0"/>
                  </a:lnTo>
                  <a:lnTo>
                    <a:pt x="4635613" y="326360"/>
                  </a:lnTo>
                  <a:lnTo>
                    <a:pt x="0" y="326360"/>
                  </a:lnTo>
                  <a:close/>
                </a:path>
              </a:pathLst>
            </a:custGeom>
            <a:solidFill>
              <a:srgbClr val="DFD0B8"/>
            </a:solidFill>
            <a:ln>
              <a:noFill/>
            </a:ln>
          </p:spPr>
        </p:sp>
        <p:sp>
          <p:nvSpPr>
            <p:cNvPr id="389" name="Google Shape;389;p25"/>
            <p:cNvSpPr txBox="1"/>
            <p:nvPr/>
          </p:nvSpPr>
          <p:spPr>
            <a:xfrm>
              <a:off x="0" y="-38100"/>
              <a:ext cx="4635613"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0" name="Google Shape;390;p25"/>
          <p:cNvSpPr txBox="1"/>
          <p:nvPr/>
        </p:nvSpPr>
        <p:spPr>
          <a:xfrm>
            <a:off x="2333575" y="6068825"/>
            <a:ext cx="13624800" cy="9945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The significant change is in speed from millisecond to microsecond.</a:t>
            </a:r>
            <a:endParaRPr b="0" i="0" sz="3093" u="none" cap="none" strike="noStrike">
              <a:solidFill>
                <a:srgbClr val="230E0E"/>
              </a:solidFill>
              <a:latin typeface="Assistant"/>
              <a:ea typeface="Assistant"/>
              <a:cs typeface="Assistant"/>
              <a:sym typeface="Assistant"/>
            </a:endParaRPr>
          </a:p>
        </p:txBody>
      </p:sp>
      <p:sp>
        <p:nvSpPr>
          <p:cNvPr id="391" name="Google Shape;391;p25"/>
          <p:cNvSpPr txBox="1"/>
          <p:nvPr/>
        </p:nvSpPr>
        <p:spPr>
          <a:xfrm>
            <a:off x="2333575" y="4578925"/>
            <a:ext cx="13624800" cy="1326000"/>
          </a:xfrm>
          <a:prstGeom prst="rect">
            <a:avLst/>
          </a:prstGeom>
          <a:noFill/>
          <a:ln>
            <a:noFill/>
          </a:ln>
        </p:spPr>
        <p:txBody>
          <a:bodyPr anchorCtr="0" anchor="ctr" bIns="0" lIns="0" spcFirstLastPara="1" rIns="0" wrap="square" tIns="0">
            <a:noAutofit/>
          </a:bodyPr>
          <a:lstStyle/>
          <a:p>
            <a:pPr indent="-321661" lvl="1" marL="667832" marR="0" rtl="0" algn="just">
              <a:lnSpc>
                <a:spcPct val="150986"/>
              </a:lnSpc>
              <a:spcBef>
                <a:spcPts val="0"/>
              </a:spcBef>
              <a:spcAft>
                <a:spcPts val="0"/>
              </a:spcAft>
              <a:buClr>
                <a:srgbClr val="230E0E"/>
              </a:buClr>
              <a:buSzPts val="2900"/>
              <a:buFont typeface="Assistant"/>
              <a:buChar char="•"/>
            </a:pPr>
            <a:r>
              <a:rPr i="0" lang="en-US" sz="2900" u="none" cap="none" strike="noStrike">
                <a:solidFill>
                  <a:srgbClr val="230E0E"/>
                </a:solidFill>
                <a:latin typeface="Assistant"/>
                <a:ea typeface="Assistant"/>
                <a:cs typeface="Assistant"/>
                <a:sym typeface="Assistant"/>
              </a:rPr>
              <a:t>The machine-level language was replaced by assembly language and machine-independent language such as COBOL FORTRAN to simplify programming.</a:t>
            </a:r>
            <a:endParaRPr sz="2900">
              <a:latin typeface="Assistant"/>
              <a:ea typeface="Assistant"/>
              <a:cs typeface="Assistant"/>
              <a:sym typeface="Assistant"/>
            </a:endParaRPr>
          </a:p>
        </p:txBody>
      </p:sp>
      <p:grpSp>
        <p:nvGrpSpPr>
          <p:cNvPr id="392" name="Google Shape;392;p25"/>
          <p:cNvGrpSpPr/>
          <p:nvPr/>
        </p:nvGrpSpPr>
        <p:grpSpPr>
          <a:xfrm>
            <a:off x="2325841" y="7113118"/>
            <a:ext cx="13624805" cy="1466055"/>
            <a:chOff x="0" y="-38100"/>
            <a:chExt cx="4635613" cy="498801"/>
          </a:xfrm>
        </p:grpSpPr>
        <p:sp>
          <p:nvSpPr>
            <p:cNvPr id="393" name="Google Shape;393;p25"/>
            <p:cNvSpPr/>
            <p:nvPr/>
          </p:nvSpPr>
          <p:spPr>
            <a:xfrm>
              <a:off x="0" y="0"/>
              <a:ext cx="4635613" cy="460701"/>
            </a:xfrm>
            <a:custGeom>
              <a:rect b="b" l="l" r="r" t="t"/>
              <a:pathLst>
                <a:path extrusionOk="0" h="460701" w="4635613">
                  <a:moveTo>
                    <a:pt x="0" y="0"/>
                  </a:moveTo>
                  <a:lnTo>
                    <a:pt x="4635613" y="0"/>
                  </a:lnTo>
                  <a:lnTo>
                    <a:pt x="4635613" y="460701"/>
                  </a:lnTo>
                  <a:lnTo>
                    <a:pt x="0" y="460701"/>
                  </a:lnTo>
                  <a:close/>
                </a:path>
              </a:pathLst>
            </a:custGeom>
            <a:solidFill>
              <a:srgbClr val="DFD0B8"/>
            </a:solidFill>
            <a:ln>
              <a:noFill/>
            </a:ln>
          </p:spPr>
        </p:sp>
        <p:sp>
          <p:nvSpPr>
            <p:cNvPr id="394" name="Google Shape;394;p25"/>
            <p:cNvSpPr txBox="1"/>
            <p:nvPr/>
          </p:nvSpPr>
          <p:spPr>
            <a:xfrm>
              <a:off x="0" y="-38100"/>
              <a:ext cx="4635613" cy="49880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5" name="Google Shape;395;p25"/>
          <p:cNvGrpSpPr/>
          <p:nvPr/>
        </p:nvGrpSpPr>
        <p:grpSpPr>
          <a:xfrm>
            <a:off x="2324847" y="8667216"/>
            <a:ext cx="13624805" cy="1071205"/>
            <a:chOff x="0" y="-38100"/>
            <a:chExt cx="4635613" cy="364460"/>
          </a:xfrm>
        </p:grpSpPr>
        <p:sp>
          <p:nvSpPr>
            <p:cNvPr id="396" name="Google Shape;396;p25"/>
            <p:cNvSpPr/>
            <p:nvPr/>
          </p:nvSpPr>
          <p:spPr>
            <a:xfrm>
              <a:off x="0" y="0"/>
              <a:ext cx="4635613" cy="326360"/>
            </a:xfrm>
            <a:custGeom>
              <a:rect b="b" l="l" r="r" t="t"/>
              <a:pathLst>
                <a:path extrusionOk="0" h="326360" w="4635613">
                  <a:moveTo>
                    <a:pt x="0" y="0"/>
                  </a:moveTo>
                  <a:lnTo>
                    <a:pt x="4635613" y="0"/>
                  </a:lnTo>
                  <a:lnTo>
                    <a:pt x="4635613" y="326360"/>
                  </a:lnTo>
                  <a:lnTo>
                    <a:pt x="0" y="326360"/>
                  </a:lnTo>
                  <a:close/>
                </a:path>
              </a:pathLst>
            </a:custGeom>
            <a:solidFill>
              <a:srgbClr val="DFD0B8"/>
            </a:solidFill>
            <a:ln>
              <a:noFill/>
            </a:ln>
          </p:spPr>
        </p:sp>
        <p:sp>
          <p:nvSpPr>
            <p:cNvPr id="397" name="Google Shape;397;p25"/>
            <p:cNvSpPr txBox="1"/>
            <p:nvPr/>
          </p:nvSpPr>
          <p:spPr>
            <a:xfrm>
              <a:off x="0" y="-38100"/>
              <a:ext cx="4635613"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8" name="Google Shape;398;p25"/>
          <p:cNvSpPr txBox="1"/>
          <p:nvPr/>
        </p:nvSpPr>
        <p:spPr>
          <a:xfrm>
            <a:off x="2337300" y="7239276"/>
            <a:ext cx="13624800" cy="1326000"/>
          </a:xfrm>
          <a:prstGeom prst="rect">
            <a:avLst/>
          </a:prstGeom>
          <a:noFill/>
          <a:ln>
            <a:noFill/>
          </a:ln>
        </p:spPr>
        <p:txBody>
          <a:bodyPr anchorCtr="0" anchor="ctr" bIns="0" lIns="0" spcFirstLastPara="1" rIns="0" wrap="square" tIns="0">
            <a:noAutofit/>
          </a:bodyPr>
          <a:lstStyle/>
          <a:p>
            <a:pPr indent="-334361" lvl="1" marL="667832" marR="0" rtl="0" algn="just">
              <a:lnSpc>
                <a:spcPct val="150986"/>
              </a:lnSpc>
              <a:spcBef>
                <a:spcPts val="0"/>
              </a:spcBef>
              <a:spcAft>
                <a:spcPts val="0"/>
              </a:spcAft>
              <a:buClr>
                <a:srgbClr val="230E0E"/>
              </a:buClr>
              <a:buSzPts val="3100"/>
              <a:buFont typeface="Assistant"/>
              <a:buChar char="•"/>
            </a:pPr>
            <a:r>
              <a:rPr i="0" lang="en-US" sz="3100" u="none" cap="none" strike="noStrike">
                <a:solidFill>
                  <a:srgbClr val="230E0E"/>
                </a:solidFill>
                <a:latin typeface="Assistant"/>
                <a:ea typeface="Assistant"/>
                <a:cs typeface="Assistant"/>
                <a:sym typeface="Assistant"/>
              </a:rPr>
              <a:t>The computer consumes less electrical power than a first-generation computer.</a:t>
            </a:r>
            <a:endParaRPr sz="3100">
              <a:latin typeface="Assistant"/>
              <a:ea typeface="Assistant"/>
              <a:cs typeface="Assistant"/>
              <a:sym typeface="Assistant"/>
            </a:endParaRPr>
          </a:p>
        </p:txBody>
      </p:sp>
      <p:sp>
        <p:nvSpPr>
          <p:cNvPr id="399" name="Google Shape;399;p25"/>
          <p:cNvSpPr txBox="1"/>
          <p:nvPr/>
        </p:nvSpPr>
        <p:spPr>
          <a:xfrm>
            <a:off x="2324800" y="8744050"/>
            <a:ext cx="13624800" cy="9945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The computer is widely used in commercial areas.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403" name="Shape 403"/>
        <p:cNvGrpSpPr/>
        <p:nvPr/>
      </p:nvGrpSpPr>
      <p:grpSpPr>
        <a:xfrm>
          <a:off x="0" y="0"/>
          <a:ext cx="0" cy="0"/>
          <a:chOff x="0" y="0"/>
          <a:chExt cx="0" cy="0"/>
        </a:xfrm>
      </p:grpSpPr>
      <p:grpSp>
        <p:nvGrpSpPr>
          <p:cNvPr id="404" name="Google Shape;404;p26"/>
          <p:cNvGrpSpPr/>
          <p:nvPr/>
        </p:nvGrpSpPr>
        <p:grpSpPr>
          <a:xfrm>
            <a:off x="0" y="-144661"/>
            <a:ext cx="18288000" cy="10431661"/>
            <a:chOff x="0" y="-38100"/>
            <a:chExt cx="4816593" cy="2747433"/>
          </a:xfrm>
        </p:grpSpPr>
        <p:sp>
          <p:nvSpPr>
            <p:cNvPr id="405" name="Google Shape;405;p26"/>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406" name="Google Shape;406;p26"/>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7" name="Google Shape;407;p26"/>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408" name="Google Shape;408;p26"/>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409" name="Google Shape;409;p26"/>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410" name="Google Shape;410;p26"/>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411" name="Google Shape;411;p26"/>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412" name="Google Shape;412;p26"/>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grpSp>
        <p:nvGrpSpPr>
          <p:cNvPr id="413" name="Google Shape;413;p26"/>
          <p:cNvGrpSpPr/>
          <p:nvPr/>
        </p:nvGrpSpPr>
        <p:grpSpPr>
          <a:xfrm>
            <a:off x="3677525" y="2698125"/>
            <a:ext cx="11159278" cy="903575"/>
            <a:chOff x="0" y="-38100"/>
            <a:chExt cx="3796706" cy="333940"/>
          </a:xfrm>
        </p:grpSpPr>
        <p:sp>
          <p:nvSpPr>
            <p:cNvPr id="414" name="Google Shape;414;p26"/>
            <p:cNvSpPr/>
            <p:nvPr/>
          </p:nvSpPr>
          <p:spPr>
            <a:xfrm>
              <a:off x="0" y="0"/>
              <a:ext cx="3796706" cy="295840"/>
            </a:xfrm>
            <a:custGeom>
              <a:rect b="b" l="l" r="r" t="t"/>
              <a:pathLst>
                <a:path extrusionOk="0" h="295840" w="3796706">
                  <a:moveTo>
                    <a:pt x="0" y="0"/>
                  </a:moveTo>
                  <a:lnTo>
                    <a:pt x="3796706" y="0"/>
                  </a:lnTo>
                  <a:lnTo>
                    <a:pt x="3796706" y="295840"/>
                  </a:lnTo>
                  <a:lnTo>
                    <a:pt x="0" y="295840"/>
                  </a:lnTo>
                  <a:close/>
                </a:path>
              </a:pathLst>
            </a:custGeom>
            <a:solidFill>
              <a:srgbClr val="DFD0B8"/>
            </a:solidFill>
            <a:ln>
              <a:noFill/>
            </a:ln>
          </p:spPr>
        </p:sp>
        <p:sp>
          <p:nvSpPr>
            <p:cNvPr id="415" name="Google Shape;415;p26"/>
            <p:cNvSpPr txBox="1"/>
            <p:nvPr/>
          </p:nvSpPr>
          <p:spPr>
            <a:xfrm>
              <a:off x="0" y="-38100"/>
              <a:ext cx="3796706" cy="33394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6" name="Google Shape;416;p26"/>
          <p:cNvGrpSpPr/>
          <p:nvPr/>
        </p:nvGrpSpPr>
        <p:grpSpPr>
          <a:xfrm>
            <a:off x="3677536" y="4165999"/>
            <a:ext cx="11159124" cy="903575"/>
            <a:chOff x="0" y="-38100"/>
            <a:chExt cx="3796706" cy="307426"/>
          </a:xfrm>
        </p:grpSpPr>
        <p:sp>
          <p:nvSpPr>
            <p:cNvPr id="417" name="Google Shape;417;p26"/>
            <p:cNvSpPr/>
            <p:nvPr/>
          </p:nvSpPr>
          <p:spPr>
            <a:xfrm>
              <a:off x="0" y="0"/>
              <a:ext cx="3796706" cy="269326"/>
            </a:xfrm>
            <a:custGeom>
              <a:rect b="b" l="l" r="r" t="t"/>
              <a:pathLst>
                <a:path extrusionOk="0" h="269326" w="3796706">
                  <a:moveTo>
                    <a:pt x="0" y="0"/>
                  </a:moveTo>
                  <a:lnTo>
                    <a:pt x="3796706" y="0"/>
                  </a:lnTo>
                  <a:lnTo>
                    <a:pt x="3796706" y="269326"/>
                  </a:lnTo>
                  <a:lnTo>
                    <a:pt x="0" y="269326"/>
                  </a:lnTo>
                  <a:close/>
                </a:path>
              </a:pathLst>
            </a:custGeom>
            <a:solidFill>
              <a:srgbClr val="DFD0B8"/>
            </a:solidFill>
            <a:ln>
              <a:noFill/>
            </a:ln>
          </p:spPr>
        </p:sp>
        <p:sp>
          <p:nvSpPr>
            <p:cNvPr id="418" name="Google Shape;418;p26"/>
            <p:cNvSpPr txBox="1"/>
            <p:nvPr/>
          </p:nvSpPr>
          <p:spPr>
            <a:xfrm>
              <a:off x="0" y="-38100"/>
              <a:ext cx="3796706" cy="3074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9" name="Google Shape;419;p26"/>
          <p:cNvSpPr txBox="1"/>
          <p:nvPr/>
        </p:nvSpPr>
        <p:spPr>
          <a:xfrm>
            <a:off x="3677525" y="4292275"/>
            <a:ext cx="11159100" cy="7773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It needs constant maintenance.</a:t>
            </a:r>
            <a:endParaRPr/>
          </a:p>
        </p:txBody>
      </p:sp>
      <p:sp>
        <p:nvSpPr>
          <p:cNvPr id="420" name="Google Shape;420;p26"/>
          <p:cNvSpPr txBox="1"/>
          <p:nvPr/>
        </p:nvSpPr>
        <p:spPr>
          <a:xfrm>
            <a:off x="3677525" y="2786300"/>
            <a:ext cx="11159100" cy="7773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It still used a cooling system to cool down the computer.</a:t>
            </a:r>
            <a:endParaRPr b="0" i="0" sz="3093" u="none" cap="none" strike="noStrike">
              <a:solidFill>
                <a:srgbClr val="230E0E"/>
              </a:solidFill>
              <a:latin typeface="Assistant"/>
              <a:ea typeface="Assistant"/>
              <a:cs typeface="Assistant"/>
              <a:sym typeface="Assistant"/>
            </a:endParaRPr>
          </a:p>
        </p:txBody>
      </p:sp>
      <p:sp>
        <p:nvSpPr>
          <p:cNvPr id="421" name="Google Shape;421;p26"/>
          <p:cNvSpPr txBox="1"/>
          <p:nvPr/>
        </p:nvSpPr>
        <p:spPr>
          <a:xfrm>
            <a:off x="1838850" y="1150388"/>
            <a:ext cx="14610300" cy="1470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500" u="none" cap="none" strike="noStrike">
                <a:solidFill>
                  <a:srgbClr val="230E0E"/>
                </a:solidFill>
              </a:rPr>
              <a:t>LIMITATIONS OF SECOND GENERATION COMPUTERS</a:t>
            </a:r>
            <a:endParaRPr b="1" sz="4500"/>
          </a:p>
        </p:txBody>
      </p:sp>
      <p:grpSp>
        <p:nvGrpSpPr>
          <p:cNvPr id="422" name="Google Shape;422;p26"/>
          <p:cNvGrpSpPr/>
          <p:nvPr/>
        </p:nvGrpSpPr>
        <p:grpSpPr>
          <a:xfrm>
            <a:off x="3670387" y="5633867"/>
            <a:ext cx="11159124" cy="937405"/>
            <a:chOff x="0" y="-38100"/>
            <a:chExt cx="3796706" cy="318937"/>
          </a:xfrm>
        </p:grpSpPr>
        <p:sp>
          <p:nvSpPr>
            <p:cNvPr id="423" name="Google Shape;423;p26"/>
            <p:cNvSpPr/>
            <p:nvPr/>
          </p:nvSpPr>
          <p:spPr>
            <a:xfrm>
              <a:off x="0" y="0"/>
              <a:ext cx="3796706" cy="280837"/>
            </a:xfrm>
            <a:custGeom>
              <a:rect b="b" l="l" r="r" t="t"/>
              <a:pathLst>
                <a:path extrusionOk="0" h="280837" w="3796706">
                  <a:moveTo>
                    <a:pt x="0" y="0"/>
                  </a:moveTo>
                  <a:lnTo>
                    <a:pt x="3796706" y="0"/>
                  </a:lnTo>
                  <a:lnTo>
                    <a:pt x="3796706" y="280837"/>
                  </a:lnTo>
                  <a:lnTo>
                    <a:pt x="0" y="280837"/>
                  </a:lnTo>
                  <a:close/>
                </a:path>
              </a:pathLst>
            </a:custGeom>
            <a:solidFill>
              <a:srgbClr val="DFD0B8"/>
            </a:solidFill>
            <a:ln>
              <a:noFill/>
            </a:ln>
          </p:spPr>
        </p:sp>
        <p:sp>
          <p:nvSpPr>
            <p:cNvPr id="424" name="Google Shape;424;p26"/>
            <p:cNvSpPr txBox="1"/>
            <p:nvPr/>
          </p:nvSpPr>
          <p:spPr>
            <a:xfrm>
              <a:off x="0" y="-38100"/>
              <a:ext cx="3796706" cy="31893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5" name="Google Shape;425;p26"/>
          <p:cNvGrpSpPr/>
          <p:nvPr/>
        </p:nvGrpSpPr>
        <p:grpSpPr>
          <a:xfrm>
            <a:off x="3671201" y="7139835"/>
            <a:ext cx="11159124" cy="1071205"/>
            <a:chOff x="0" y="-38100"/>
            <a:chExt cx="3796706" cy="364460"/>
          </a:xfrm>
        </p:grpSpPr>
        <p:sp>
          <p:nvSpPr>
            <p:cNvPr id="426" name="Google Shape;426;p26"/>
            <p:cNvSpPr/>
            <p:nvPr/>
          </p:nvSpPr>
          <p:spPr>
            <a:xfrm>
              <a:off x="0" y="0"/>
              <a:ext cx="3796706" cy="326360"/>
            </a:xfrm>
            <a:custGeom>
              <a:rect b="b" l="l" r="r" t="t"/>
              <a:pathLst>
                <a:path extrusionOk="0" h="326360" w="3796706">
                  <a:moveTo>
                    <a:pt x="0" y="0"/>
                  </a:moveTo>
                  <a:lnTo>
                    <a:pt x="3796706" y="0"/>
                  </a:lnTo>
                  <a:lnTo>
                    <a:pt x="3796706" y="326360"/>
                  </a:lnTo>
                  <a:lnTo>
                    <a:pt x="0" y="326360"/>
                  </a:lnTo>
                  <a:close/>
                </a:path>
              </a:pathLst>
            </a:custGeom>
            <a:solidFill>
              <a:srgbClr val="DFD0B8"/>
            </a:solidFill>
            <a:ln>
              <a:noFill/>
            </a:ln>
          </p:spPr>
        </p:sp>
        <p:sp>
          <p:nvSpPr>
            <p:cNvPr id="427" name="Google Shape;427;p26"/>
            <p:cNvSpPr txBox="1"/>
            <p:nvPr/>
          </p:nvSpPr>
          <p:spPr>
            <a:xfrm>
              <a:off x="0" y="-38100"/>
              <a:ext cx="3796706"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8" name="Google Shape;428;p26"/>
          <p:cNvSpPr txBox="1"/>
          <p:nvPr/>
        </p:nvSpPr>
        <p:spPr>
          <a:xfrm>
            <a:off x="3677525" y="7266650"/>
            <a:ext cx="11159100" cy="9375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It was still costly and versatile.</a:t>
            </a:r>
            <a:endParaRPr/>
          </a:p>
        </p:txBody>
      </p:sp>
      <p:sp>
        <p:nvSpPr>
          <p:cNvPr id="429" name="Google Shape;429;p26"/>
          <p:cNvSpPr txBox="1"/>
          <p:nvPr/>
        </p:nvSpPr>
        <p:spPr>
          <a:xfrm>
            <a:off x="3677525" y="5793975"/>
            <a:ext cx="11151900" cy="7773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Punch cards are still used for inputs.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433" name="Shape 433"/>
        <p:cNvGrpSpPr/>
        <p:nvPr/>
      </p:nvGrpSpPr>
      <p:grpSpPr>
        <a:xfrm>
          <a:off x="0" y="0"/>
          <a:ext cx="0" cy="0"/>
          <a:chOff x="0" y="0"/>
          <a:chExt cx="0" cy="0"/>
        </a:xfrm>
      </p:grpSpPr>
      <p:grpSp>
        <p:nvGrpSpPr>
          <p:cNvPr id="434" name="Google Shape;434;p27"/>
          <p:cNvGrpSpPr/>
          <p:nvPr/>
        </p:nvGrpSpPr>
        <p:grpSpPr>
          <a:xfrm>
            <a:off x="0" y="-144661"/>
            <a:ext cx="18288000" cy="10431661"/>
            <a:chOff x="0" y="-38100"/>
            <a:chExt cx="4816593" cy="2747433"/>
          </a:xfrm>
        </p:grpSpPr>
        <p:sp>
          <p:nvSpPr>
            <p:cNvPr id="435" name="Google Shape;435;p27"/>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436" name="Google Shape;436;p27"/>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7" name="Google Shape;437;p27"/>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438" name="Google Shape;438;p27"/>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439" name="Google Shape;439;p27"/>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440" name="Google Shape;440;p27"/>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441" name="Google Shape;441;p27"/>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442" name="Google Shape;442;p27"/>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grpSp>
        <p:nvGrpSpPr>
          <p:cNvPr id="443" name="Google Shape;443;p27"/>
          <p:cNvGrpSpPr/>
          <p:nvPr/>
        </p:nvGrpSpPr>
        <p:grpSpPr>
          <a:xfrm>
            <a:off x="3677536" y="2620202"/>
            <a:ext cx="11159124" cy="981503"/>
            <a:chOff x="0" y="-38100"/>
            <a:chExt cx="3796706" cy="333940"/>
          </a:xfrm>
        </p:grpSpPr>
        <p:sp>
          <p:nvSpPr>
            <p:cNvPr id="444" name="Google Shape;444;p27"/>
            <p:cNvSpPr/>
            <p:nvPr/>
          </p:nvSpPr>
          <p:spPr>
            <a:xfrm>
              <a:off x="0" y="0"/>
              <a:ext cx="3796706" cy="295840"/>
            </a:xfrm>
            <a:custGeom>
              <a:rect b="b" l="l" r="r" t="t"/>
              <a:pathLst>
                <a:path extrusionOk="0" h="295840" w="3796706">
                  <a:moveTo>
                    <a:pt x="0" y="0"/>
                  </a:moveTo>
                  <a:lnTo>
                    <a:pt x="3796706" y="0"/>
                  </a:lnTo>
                  <a:lnTo>
                    <a:pt x="3796706" y="295840"/>
                  </a:lnTo>
                  <a:lnTo>
                    <a:pt x="0" y="295840"/>
                  </a:lnTo>
                  <a:close/>
                </a:path>
              </a:pathLst>
            </a:custGeom>
            <a:solidFill>
              <a:srgbClr val="DFD0B8"/>
            </a:solidFill>
            <a:ln>
              <a:noFill/>
            </a:ln>
          </p:spPr>
        </p:sp>
        <p:sp>
          <p:nvSpPr>
            <p:cNvPr id="445" name="Google Shape;445;p27"/>
            <p:cNvSpPr txBox="1"/>
            <p:nvPr/>
          </p:nvSpPr>
          <p:spPr>
            <a:xfrm>
              <a:off x="0" y="-38100"/>
              <a:ext cx="3796706" cy="33394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6" name="Google Shape;446;p27"/>
          <p:cNvGrpSpPr/>
          <p:nvPr/>
        </p:nvGrpSpPr>
        <p:grpSpPr>
          <a:xfrm>
            <a:off x="3677536" y="3882916"/>
            <a:ext cx="11159124" cy="903575"/>
            <a:chOff x="0" y="-38100"/>
            <a:chExt cx="3796706" cy="307426"/>
          </a:xfrm>
        </p:grpSpPr>
        <p:sp>
          <p:nvSpPr>
            <p:cNvPr id="447" name="Google Shape;447;p27"/>
            <p:cNvSpPr/>
            <p:nvPr/>
          </p:nvSpPr>
          <p:spPr>
            <a:xfrm>
              <a:off x="0" y="0"/>
              <a:ext cx="3796706" cy="269326"/>
            </a:xfrm>
            <a:custGeom>
              <a:rect b="b" l="l" r="r" t="t"/>
              <a:pathLst>
                <a:path extrusionOk="0" h="269326" w="3796706">
                  <a:moveTo>
                    <a:pt x="0" y="0"/>
                  </a:moveTo>
                  <a:lnTo>
                    <a:pt x="3796706" y="0"/>
                  </a:lnTo>
                  <a:lnTo>
                    <a:pt x="3796706" y="269326"/>
                  </a:lnTo>
                  <a:lnTo>
                    <a:pt x="0" y="269326"/>
                  </a:lnTo>
                  <a:close/>
                </a:path>
              </a:pathLst>
            </a:custGeom>
            <a:solidFill>
              <a:srgbClr val="DFD0B8"/>
            </a:solidFill>
            <a:ln>
              <a:noFill/>
            </a:ln>
          </p:spPr>
        </p:sp>
        <p:sp>
          <p:nvSpPr>
            <p:cNvPr id="448" name="Google Shape;448;p27"/>
            <p:cNvSpPr txBox="1"/>
            <p:nvPr/>
          </p:nvSpPr>
          <p:spPr>
            <a:xfrm>
              <a:off x="0" y="-38100"/>
              <a:ext cx="3796706" cy="3074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9" name="Google Shape;449;p27"/>
          <p:cNvSpPr txBox="1"/>
          <p:nvPr/>
        </p:nvSpPr>
        <p:spPr>
          <a:xfrm>
            <a:off x="3671250" y="4009175"/>
            <a:ext cx="11159100" cy="7773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IBM 1620 (Used for Scientific Purposes)</a:t>
            </a:r>
            <a:endParaRPr b="0" i="0" sz="3093" u="none" cap="none" strike="noStrike">
              <a:solidFill>
                <a:srgbClr val="230E0E"/>
              </a:solidFill>
              <a:latin typeface="Assistant"/>
              <a:ea typeface="Assistant"/>
              <a:cs typeface="Assistant"/>
              <a:sym typeface="Assistant"/>
            </a:endParaRPr>
          </a:p>
        </p:txBody>
      </p:sp>
      <p:sp>
        <p:nvSpPr>
          <p:cNvPr id="450" name="Google Shape;450;p27"/>
          <p:cNvSpPr txBox="1"/>
          <p:nvPr/>
        </p:nvSpPr>
        <p:spPr>
          <a:xfrm>
            <a:off x="3677525" y="2786300"/>
            <a:ext cx="11159100" cy="8154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IBM 1401 (Used in </a:t>
            </a:r>
            <a:r>
              <a:rPr lang="en-US" sz="3093">
                <a:solidFill>
                  <a:srgbClr val="230E0E"/>
                </a:solidFill>
                <a:latin typeface="Assistant"/>
                <a:ea typeface="Assistant"/>
                <a:cs typeface="Assistant"/>
                <a:sym typeface="Assistant"/>
              </a:rPr>
              <a:t>Business</a:t>
            </a:r>
            <a:r>
              <a:rPr b="0" i="0" lang="en-US" sz="3093" u="none" cap="none" strike="noStrike">
                <a:solidFill>
                  <a:srgbClr val="230E0E"/>
                </a:solidFill>
                <a:latin typeface="Assistant"/>
                <a:ea typeface="Assistant"/>
                <a:cs typeface="Assistant"/>
                <a:sym typeface="Assistant"/>
              </a:rPr>
              <a:t> Application) </a:t>
            </a:r>
            <a:endParaRPr b="0" i="0" sz="3093" u="none" cap="none" strike="noStrike">
              <a:solidFill>
                <a:srgbClr val="230E0E"/>
              </a:solidFill>
              <a:latin typeface="Assistant"/>
              <a:ea typeface="Assistant"/>
              <a:cs typeface="Assistant"/>
              <a:sym typeface="Assistant"/>
            </a:endParaRPr>
          </a:p>
        </p:txBody>
      </p:sp>
      <p:sp>
        <p:nvSpPr>
          <p:cNvPr id="451" name="Google Shape;451;p27"/>
          <p:cNvSpPr txBox="1"/>
          <p:nvPr/>
        </p:nvSpPr>
        <p:spPr>
          <a:xfrm>
            <a:off x="2057400" y="952496"/>
            <a:ext cx="14159700" cy="13131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500" u="none" cap="none" strike="noStrike">
                <a:solidFill>
                  <a:srgbClr val="230E0E"/>
                </a:solidFill>
              </a:rPr>
              <a:t>EXAMPLES OF SECOND GENERATION COMPUTERS</a:t>
            </a:r>
            <a:endParaRPr b="1" sz="4500"/>
          </a:p>
        </p:txBody>
      </p:sp>
      <p:grpSp>
        <p:nvGrpSpPr>
          <p:cNvPr id="452" name="Google Shape;452;p27"/>
          <p:cNvGrpSpPr/>
          <p:nvPr/>
        </p:nvGrpSpPr>
        <p:grpSpPr>
          <a:xfrm>
            <a:off x="3677536" y="5108918"/>
            <a:ext cx="11159124" cy="937405"/>
            <a:chOff x="0" y="-38100"/>
            <a:chExt cx="3796706" cy="318937"/>
          </a:xfrm>
        </p:grpSpPr>
        <p:sp>
          <p:nvSpPr>
            <p:cNvPr id="453" name="Google Shape;453;p27"/>
            <p:cNvSpPr/>
            <p:nvPr/>
          </p:nvSpPr>
          <p:spPr>
            <a:xfrm>
              <a:off x="0" y="0"/>
              <a:ext cx="3796706" cy="280837"/>
            </a:xfrm>
            <a:custGeom>
              <a:rect b="b" l="l" r="r" t="t"/>
              <a:pathLst>
                <a:path extrusionOk="0" h="280837" w="3796706">
                  <a:moveTo>
                    <a:pt x="0" y="0"/>
                  </a:moveTo>
                  <a:lnTo>
                    <a:pt x="3796706" y="0"/>
                  </a:lnTo>
                  <a:lnTo>
                    <a:pt x="3796706" y="280837"/>
                  </a:lnTo>
                  <a:lnTo>
                    <a:pt x="0" y="280837"/>
                  </a:lnTo>
                  <a:close/>
                </a:path>
              </a:pathLst>
            </a:custGeom>
            <a:solidFill>
              <a:srgbClr val="DFD0B8"/>
            </a:solidFill>
            <a:ln>
              <a:noFill/>
            </a:ln>
          </p:spPr>
        </p:sp>
        <p:sp>
          <p:nvSpPr>
            <p:cNvPr id="454" name="Google Shape;454;p27"/>
            <p:cNvSpPr txBox="1"/>
            <p:nvPr/>
          </p:nvSpPr>
          <p:spPr>
            <a:xfrm>
              <a:off x="0" y="-38100"/>
              <a:ext cx="3796706" cy="31893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5" name="Google Shape;455;p27"/>
          <p:cNvGrpSpPr/>
          <p:nvPr/>
        </p:nvGrpSpPr>
        <p:grpSpPr>
          <a:xfrm>
            <a:off x="3671201" y="6433382"/>
            <a:ext cx="11159124" cy="1071205"/>
            <a:chOff x="0" y="-38100"/>
            <a:chExt cx="3796706" cy="364460"/>
          </a:xfrm>
        </p:grpSpPr>
        <p:sp>
          <p:nvSpPr>
            <p:cNvPr id="456" name="Google Shape;456;p27"/>
            <p:cNvSpPr/>
            <p:nvPr/>
          </p:nvSpPr>
          <p:spPr>
            <a:xfrm>
              <a:off x="0" y="0"/>
              <a:ext cx="3796706" cy="326360"/>
            </a:xfrm>
            <a:custGeom>
              <a:rect b="b" l="l" r="r" t="t"/>
              <a:pathLst>
                <a:path extrusionOk="0" h="326360" w="3796706">
                  <a:moveTo>
                    <a:pt x="0" y="0"/>
                  </a:moveTo>
                  <a:lnTo>
                    <a:pt x="3796706" y="0"/>
                  </a:lnTo>
                  <a:lnTo>
                    <a:pt x="3796706" y="326360"/>
                  </a:lnTo>
                  <a:lnTo>
                    <a:pt x="0" y="326360"/>
                  </a:lnTo>
                  <a:close/>
                </a:path>
              </a:pathLst>
            </a:custGeom>
            <a:solidFill>
              <a:srgbClr val="DFD0B8"/>
            </a:solidFill>
            <a:ln>
              <a:noFill/>
            </a:ln>
          </p:spPr>
        </p:sp>
        <p:sp>
          <p:nvSpPr>
            <p:cNvPr id="457" name="Google Shape;457;p27"/>
            <p:cNvSpPr txBox="1"/>
            <p:nvPr/>
          </p:nvSpPr>
          <p:spPr>
            <a:xfrm>
              <a:off x="0" y="-38100"/>
              <a:ext cx="3796706"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8" name="Google Shape;458;p27"/>
          <p:cNvSpPr txBox="1"/>
          <p:nvPr/>
        </p:nvSpPr>
        <p:spPr>
          <a:xfrm>
            <a:off x="3677550" y="6561950"/>
            <a:ext cx="11159100" cy="9375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IBM 7000</a:t>
            </a:r>
            <a:endParaRPr b="0" i="0" sz="3093" u="none" cap="none" strike="noStrike">
              <a:solidFill>
                <a:srgbClr val="230E0E"/>
              </a:solidFill>
              <a:latin typeface="Assistant"/>
              <a:ea typeface="Assistant"/>
              <a:cs typeface="Assistant"/>
              <a:sym typeface="Assistant"/>
            </a:endParaRPr>
          </a:p>
        </p:txBody>
      </p:sp>
      <p:sp>
        <p:nvSpPr>
          <p:cNvPr id="459" name="Google Shape;459;p27"/>
          <p:cNvSpPr txBox="1"/>
          <p:nvPr/>
        </p:nvSpPr>
        <p:spPr>
          <a:xfrm>
            <a:off x="3677550" y="5230850"/>
            <a:ext cx="11159100" cy="8154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CDC 3600 (Used for Scientific Purposes)</a:t>
            </a:r>
            <a:endParaRPr b="0" i="0" sz="3093" u="none" cap="none" strike="noStrike">
              <a:solidFill>
                <a:srgbClr val="230E0E"/>
              </a:solidFill>
              <a:latin typeface="Assistant"/>
              <a:ea typeface="Assistant"/>
              <a:cs typeface="Assistant"/>
              <a:sym typeface="Assistant"/>
            </a:endParaRPr>
          </a:p>
        </p:txBody>
      </p:sp>
      <p:grpSp>
        <p:nvGrpSpPr>
          <p:cNvPr id="460" name="Google Shape;460;p27"/>
          <p:cNvGrpSpPr/>
          <p:nvPr/>
        </p:nvGrpSpPr>
        <p:grpSpPr>
          <a:xfrm>
            <a:off x="3677536" y="7859331"/>
            <a:ext cx="11159124" cy="1071205"/>
            <a:chOff x="0" y="-38100"/>
            <a:chExt cx="3796706" cy="364460"/>
          </a:xfrm>
        </p:grpSpPr>
        <p:sp>
          <p:nvSpPr>
            <p:cNvPr id="461" name="Google Shape;461;p27"/>
            <p:cNvSpPr/>
            <p:nvPr/>
          </p:nvSpPr>
          <p:spPr>
            <a:xfrm>
              <a:off x="0" y="0"/>
              <a:ext cx="3796706" cy="326360"/>
            </a:xfrm>
            <a:custGeom>
              <a:rect b="b" l="l" r="r" t="t"/>
              <a:pathLst>
                <a:path extrusionOk="0" h="326360" w="3796706">
                  <a:moveTo>
                    <a:pt x="0" y="0"/>
                  </a:moveTo>
                  <a:lnTo>
                    <a:pt x="3796706" y="0"/>
                  </a:lnTo>
                  <a:lnTo>
                    <a:pt x="3796706" y="326360"/>
                  </a:lnTo>
                  <a:lnTo>
                    <a:pt x="0" y="326360"/>
                  </a:lnTo>
                  <a:close/>
                </a:path>
              </a:pathLst>
            </a:custGeom>
            <a:solidFill>
              <a:srgbClr val="DFD0B8"/>
            </a:solidFill>
            <a:ln>
              <a:noFill/>
            </a:ln>
          </p:spPr>
        </p:sp>
        <p:sp>
          <p:nvSpPr>
            <p:cNvPr id="462" name="Google Shape;462;p27"/>
            <p:cNvSpPr txBox="1"/>
            <p:nvPr/>
          </p:nvSpPr>
          <p:spPr>
            <a:xfrm>
              <a:off x="0" y="-38100"/>
              <a:ext cx="3796706" cy="36446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3" name="Google Shape;463;p27"/>
          <p:cNvSpPr txBox="1"/>
          <p:nvPr/>
        </p:nvSpPr>
        <p:spPr>
          <a:xfrm>
            <a:off x="3677550" y="8015075"/>
            <a:ext cx="11159100" cy="903600"/>
          </a:xfrm>
          <a:prstGeom prst="rect">
            <a:avLst/>
          </a:prstGeom>
          <a:noFill/>
          <a:ln>
            <a:noFill/>
          </a:ln>
        </p:spPr>
        <p:txBody>
          <a:bodyPr anchorCtr="0" anchor="ctr" bIns="0" lIns="0" spcFirstLastPara="1" rIns="0" wrap="square" tIns="0">
            <a:noAutofit/>
          </a:bodyPr>
          <a:lstStyle/>
          <a:p>
            <a:pPr indent="-333916" lvl="1" marL="667832" marR="0" rtl="0" algn="just">
              <a:lnSpc>
                <a:spcPct val="150986"/>
              </a:lnSpc>
              <a:spcBef>
                <a:spcPts val="0"/>
              </a:spcBef>
              <a:spcAft>
                <a:spcPts val="0"/>
              </a:spcAft>
              <a:buClr>
                <a:srgbClr val="230E0E"/>
              </a:buClr>
              <a:buSzPts val="3093"/>
              <a:buFont typeface="Arial"/>
              <a:buChar char="•"/>
            </a:pPr>
            <a:r>
              <a:rPr b="0" i="0" lang="en-US" sz="3093" u="none" cap="none" strike="noStrike">
                <a:solidFill>
                  <a:srgbClr val="230E0E"/>
                </a:solidFill>
                <a:latin typeface="Assistant"/>
                <a:ea typeface="Assistant"/>
                <a:cs typeface="Assistant"/>
                <a:sym typeface="Assistant"/>
              </a:rPr>
              <a:t>Honeywell 200</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471" name="Shape 471"/>
        <p:cNvGrpSpPr/>
        <p:nvPr/>
      </p:nvGrpSpPr>
      <p:grpSpPr>
        <a:xfrm>
          <a:off x="0" y="0"/>
          <a:ext cx="0" cy="0"/>
          <a:chOff x="0" y="0"/>
          <a:chExt cx="0" cy="0"/>
        </a:xfrm>
      </p:grpSpPr>
      <p:grpSp>
        <p:nvGrpSpPr>
          <p:cNvPr id="472" name="Google Shape;472;p28"/>
          <p:cNvGrpSpPr/>
          <p:nvPr/>
        </p:nvGrpSpPr>
        <p:grpSpPr>
          <a:xfrm>
            <a:off x="0" y="-144661"/>
            <a:ext cx="18288000" cy="10431661"/>
            <a:chOff x="0" y="-38100"/>
            <a:chExt cx="4816593" cy="2747433"/>
          </a:xfrm>
        </p:grpSpPr>
        <p:sp>
          <p:nvSpPr>
            <p:cNvPr id="473" name="Google Shape;473;p28"/>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474" name="Google Shape;474;p28"/>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5" name="Google Shape;475;p28"/>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476" name="Google Shape;476;p28"/>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477" name="Google Shape;477;p28"/>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478" name="Google Shape;478;p28"/>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479" name="Google Shape;479;p28"/>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480" name="Google Shape;480;p28"/>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481" name="Google Shape;481;p28"/>
          <p:cNvSpPr txBox="1"/>
          <p:nvPr/>
        </p:nvSpPr>
        <p:spPr>
          <a:xfrm>
            <a:off x="2057400" y="2004251"/>
            <a:ext cx="13661400" cy="4955100"/>
          </a:xfrm>
          <a:prstGeom prst="rect">
            <a:avLst/>
          </a:prstGeom>
          <a:noFill/>
          <a:ln>
            <a:noFill/>
          </a:ln>
        </p:spPr>
        <p:txBody>
          <a:bodyPr anchorCtr="0" anchor="t" bIns="0" lIns="0" spcFirstLastPara="1" rIns="0" wrap="square" tIns="0">
            <a:spAutoFit/>
          </a:bodyPr>
          <a:lstStyle/>
          <a:p>
            <a:pPr indent="0" lvl="0" marL="0" marR="0" rtl="0" algn="just">
              <a:lnSpc>
                <a:spcPct val="150999"/>
              </a:lnSpc>
              <a:spcBef>
                <a:spcPts val="0"/>
              </a:spcBef>
              <a:spcAft>
                <a:spcPts val="0"/>
              </a:spcAft>
              <a:buNone/>
            </a:pPr>
            <a:r>
              <a:rPr i="0" lang="en-US" sz="3200" u="none" cap="none" strike="noStrike">
                <a:solidFill>
                  <a:srgbClr val="230E0E"/>
                </a:solidFill>
                <a:latin typeface="Assistant"/>
                <a:ea typeface="Assistant"/>
                <a:cs typeface="Assistant"/>
                <a:sym typeface="Assistant"/>
              </a:rPr>
              <a:t>Third-generation computers were characterized by the invention of </a:t>
            </a:r>
            <a:r>
              <a:rPr i="0" lang="en-US" sz="3200" u="sng" cap="none" strike="noStrike">
                <a:solidFill>
                  <a:srgbClr val="230E0E"/>
                </a:solidFill>
                <a:latin typeface="Assistant"/>
                <a:ea typeface="Assistant"/>
                <a:cs typeface="Assistant"/>
                <a:sym typeface="Assistant"/>
              </a:rPr>
              <a:t>Integrated Circuits (ICs)</a:t>
            </a:r>
            <a:r>
              <a:rPr i="0" lang="en-US" sz="3200" u="none" cap="none" strike="noStrike">
                <a:solidFill>
                  <a:srgbClr val="230E0E"/>
                </a:solidFill>
                <a:latin typeface="Assistant"/>
                <a:ea typeface="Assistant"/>
                <a:cs typeface="Assistant"/>
                <a:sym typeface="Assistant"/>
              </a:rPr>
              <a:t>. IC is a silicon chip made from quartz where multiple transistors were placed over it. Robert Noyce and Jack Kilby developed IC at Texas Instrument in 1958-1959. Later, even more components were rigged onto a single chip, called a </a:t>
            </a:r>
            <a:r>
              <a:rPr i="0" lang="en-US" sz="3200" u="sng" cap="none" strike="noStrike">
                <a:solidFill>
                  <a:srgbClr val="230E0E"/>
                </a:solidFill>
                <a:latin typeface="Assistant"/>
                <a:ea typeface="Assistant"/>
                <a:cs typeface="Assistant"/>
                <a:sym typeface="Assistant"/>
              </a:rPr>
              <a:t>semiconductor</a:t>
            </a:r>
            <a:r>
              <a:rPr i="0" lang="en-US" sz="3200" u="none" cap="none" strike="noStrike">
                <a:solidFill>
                  <a:srgbClr val="230E0E"/>
                </a:solidFill>
                <a:latin typeface="Assistant"/>
                <a:ea typeface="Assistant"/>
                <a:cs typeface="Assistant"/>
                <a:sym typeface="Assistant"/>
              </a:rPr>
              <a:t>. It reduced the size even further in the third generation computers. Computers’ weight and power consumption decreased, and the speed boosted. </a:t>
            </a:r>
            <a:endParaRPr sz="3200">
              <a:latin typeface="Assistant"/>
              <a:ea typeface="Assistant"/>
              <a:cs typeface="Assistant"/>
              <a:sym typeface="Assistant"/>
            </a:endParaRPr>
          </a:p>
        </p:txBody>
      </p:sp>
      <p:sp>
        <p:nvSpPr>
          <p:cNvPr id="482" name="Google Shape;482;p28"/>
          <p:cNvSpPr/>
          <p:nvPr/>
        </p:nvSpPr>
        <p:spPr>
          <a:xfrm>
            <a:off x="8399602" y="6788673"/>
            <a:ext cx="4762589" cy="2913693"/>
          </a:xfrm>
          <a:custGeom>
            <a:rect b="b" l="l" r="r" t="t"/>
            <a:pathLst>
              <a:path extrusionOk="0" h="3796343" w="5790382">
                <a:moveTo>
                  <a:pt x="0" y="0"/>
                </a:moveTo>
                <a:lnTo>
                  <a:pt x="5790382" y="0"/>
                </a:lnTo>
                <a:lnTo>
                  <a:pt x="5790382" y="3796342"/>
                </a:lnTo>
                <a:lnTo>
                  <a:pt x="0" y="3796342"/>
                </a:lnTo>
                <a:lnTo>
                  <a:pt x="0" y="0"/>
                </a:lnTo>
                <a:close/>
              </a:path>
            </a:pathLst>
          </a:custGeom>
          <a:blipFill rotWithShape="1">
            <a:blip r:embed="rId5">
              <a:alphaModFix/>
            </a:blip>
            <a:stretch>
              <a:fillRect b="0" l="0" r="0" t="0"/>
            </a:stretch>
          </a:blipFill>
          <a:ln>
            <a:noFill/>
          </a:ln>
        </p:spPr>
      </p:sp>
      <p:sp>
        <p:nvSpPr>
          <p:cNvPr id="483" name="Google Shape;483;p28"/>
          <p:cNvSpPr txBox="1"/>
          <p:nvPr/>
        </p:nvSpPr>
        <p:spPr>
          <a:xfrm>
            <a:off x="869075" y="712676"/>
            <a:ext cx="16390200" cy="939300"/>
          </a:xfrm>
          <a:prstGeom prst="rect">
            <a:avLst/>
          </a:prstGeom>
          <a:noFill/>
          <a:ln>
            <a:noFill/>
          </a:ln>
        </p:spPr>
        <p:txBody>
          <a:bodyPr anchorCtr="0" anchor="ctr" bIns="0" lIns="0" spcFirstLastPara="1" rIns="0" wrap="square" tIns="0">
            <a:noAutofit/>
          </a:bodyPr>
          <a:lstStyle/>
          <a:p>
            <a:pPr indent="0" lvl="0" marL="0" marR="0" rtl="0" algn="ctr">
              <a:lnSpc>
                <a:spcPct val="139988"/>
              </a:lnSpc>
              <a:spcBef>
                <a:spcPts val="0"/>
              </a:spcBef>
              <a:spcAft>
                <a:spcPts val="0"/>
              </a:spcAft>
              <a:buNone/>
            </a:pPr>
            <a:r>
              <a:rPr b="1" i="0" lang="en-US" sz="4800" u="none" cap="none" strike="noStrike">
                <a:solidFill>
                  <a:srgbClr val="230E0E"/>
                </a:solidFill>
              </a:rPr>
              <a:t>3.THIRD GENERATION COMPUTERS (1964-1971 AD)</a:t>
            </a:r>
            <a:endParaRPr b="1" sz="4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487" name="Shape 487"/>
        <p:cNvGrpSpPr/>
        <p:nvPr/>
      </p:nvGrpSpPr>
      <p:grpSpPr>
        <a:xfrm>
          <a:off x="0" y="0"/>
          <a:ext cx="0" cy="0"/>
          <a:chOff x="0" y="0"/>
          <a:chExt cx="0" cy="0"/>
        </a:xfrm>
      </p:grpSpPr>
      <p:grpSp>
        <p:nvGrpSpPr>
          <p:cNvPr id="488" name="Google Shape;488;p29"/>
          <p:cNvGrpSpPr/>
          <p:nvPr/>
        </p:nvGrpSpPr>
        <p:grpSpPr>
          <a:xfrm>
            <a:off x="0" y="-144661"/>
            <a:ext cx="18288000" cy="10431661"/>
            <a:chOff x="0" y="-38100"/>
            <a:chExt cx="4816593" cy="2747433"/>
          </a:xfrm>
        </p:grpSpPr>
        <p:sp>
          <p:nvSpPr>
            <p:cNvPr id="489" name="Google Shape;489;p29"/>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490" name="Google Shape;490;p29"/>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1" name="Google Shape;491;p29"/>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492" name="Google Shape;492;p29"/>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493" name="Google Shape;493;p29"/>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494" name="Google Shape;494;p29"/>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495" name="Google Shape;495;p29"/>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496" name="Google Shape;496;p29"/>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497" name="Google Shape;497;p29"/>
          <p:cNvSpPr txBox="1"/>
          <p:nvPr/>
        </p:nvSpPr>
        <p:spPr>
          <a:xfrm>
            <a:off x="2057400" y="862899"/>
            <a:ext cx="14159700" cy="8943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600" u="none" cap="none" strike="noStrike">
                <a:solidFill>
                  <a:srgbClr val="230E0E"/>
                </a:solidFill>
              </a:rPr>
              <a:t>FEATURES OF THIRD GENERATION COMPUTERS</a:t>
            </a:r>
            <a:endParaRPr b="1" sz="4600"/>
          </a:p>
        </p:txBody>
      </p:sp>
      <p:sp>
        <p:nvSpPr>
          <p:cNvPr id="498" name="Google Shape;498;p29"/>
          <p:cNvSpPr txBox="1"/>
          <p:nvPr/>
        </p:nvSpPr>
        <p:spPr>
          <a:xfrm>
            <a:off x="2634550" y="1889625"/>
            <a:ext cx="13018800" cy="8198100"/>
          </a:xfrm>
          <a:prstGeom prst="rect">
            <a:avLst/>
          </a:prstGeom>
          <a:noFill/>
          <a:ln>
            <a:noFill/>
          </a:ln>
        </p:spPr>
        <p:txBody>
          <a:bodyPr anchorCtr="0" anchor="ctr" bIns="0" lIns="0" spcFirstLastPara="1" rIns="0" wrap="square" tIns="0">
            <a:noAutofit/>
          </a:bodyPr>
          <a:lstStyle/>
          <a:p>
            <a:pPr indent="-350541" lvl="1" marL="701082" marR="0" rtl="0" algn="just">
              <a:lnSpc>
                <a:spcPct val="151000"/>
              </a:lnSpc>
              <a:spcBef>
                <a:spcPts val="0"/>
              </a:spcBef>
              <a:spcAft>
                <a:spcPts val="0"/>
              </a:spcAft>
              <a:buClr>
                <a:srgbClr val="230E0E"/>
              </a:buClr>
              <a:buSzPts val="3247"/>
              <a:buFont typeface="Assistant"/>
              <a:buChar char="•"/>
            </a:pPr>
            <a:r>
              <a:rPr i="0" lang="en-US" sz="3247" u="none" cap="none" strike="noStrike">
                <a:solidFill>
                  <a:srgbClr val="230E0E"/>
                </a:solidFill>
                <a:latin typeface="Assistant"/>
                <a:ea typeface="Assistant"/>
                <a:cs typeface="Assistant"/>
                <a:sym typeface="Assistant"/>
              </a:rPr>
              <a:t>IC was used in the </a:t>
            </a:r>
            <a:r>
              <a:rPr i="0" lang="en-US" sz="3247" cap="none" strike="noStrike">
                <a:solidFill>
                  <a:srgbClr val="230E0E"/>
                </a:solidFill>
                <a:latin typeface="Assistant"/>
                <a:ea typeface="Assistant"/>
                <a:cs typeface="Assistant"/>
                <a:sym typeface="Assistant"/>
              </a:rPr>
              <a:t> computer</a:t>
            </a:r>
            <a:r>
              <a:rPr i="0" lang="en-US" sz="3247" u="none" cap="none" strike="noStrike">
                <a:solidFill>
                  <a:srgbClr val="230E0E"/>
                </a:solidFill>
                <a:latin typeface="Assistant"/>
                <a:ea typeface="Assistant"/>
                <a:cs typeface="Assistant"/>
                <a:sym typeface="Assistant"/>
              </a:rPr>
              <a:t>, replacing transistors.</a:t>
            </a:r>
            <a:endParaRPr>
              <a:latin typeface="Assistant"/>
              <a:ea typeface="Assistant"/>
              <a:cs typeface="Assistant"/>
              <a:sym typeface="Assistant"/>
            </a:endParaRPr>
          </a:p>
          <a:p>
            <a:pPr indent="-350541" lvl="1" marL="701082" marR="0" rtl="0" algn="just">
              <a:lnSpc>
                <a:spcPct val="151000"/>
              </a:lnSpc>
              <a:spcBef>
                <a:spcPts val="0"/>
              </a:spcBef>
              <a:spcAft>
                <a:spcPts val="0"/>
              </a:spcAft>
              <a:buClr>
                <a:srgbClr val="230E0E"/>
              </a:buClr>
              <a:buSzPts val="3247"/>
              <a:buFont typeface="Assistant"/>
              <a:buChar char="•"/>
            </a:pPr>
            <a:r>
              <a:rPr i="0" lang="en-US" sz="3247" u="none" cap="none" strike="noStrike">
                <a:solidFill>
                  <a:srgbClr val="230E0E"/>
                </a:solidFill>
                <a:latin typeface="Assistant"/>
                <a:ea typeface="Assistant"/>
                <a:cs typeface="Assistant"/>
                <a:sym typeface="Assistant"/>
              </a:rPr>
              <a:t>The mass audience was using computers.</a:t>
            </a:r>
            <a:endParaRPr>
              <a:latin typeface="Assistant"/>
              <a:ea typeface="Assistant"/>
              <a:cs typeface="Assistant"/>
              <a:sym typeface="Assistant"/>
            </a:endParaRPr>
          </a:p>
          <a:p>
            <a:pPr indent="-350541" lvl="1" marL="701082" marR="0" rtl="0" algn="just">
              <a:lnSpc>
                <a:spcPct val="151000"/>
              </a:lnSpc>
              <a:spcBef>
                <a:spcPts val="0"/>
              </a:spcBef>
              <a:spcAft>
                <a:spcPts val="0"/>
              </a:spcAft>
              <a:buClr>
                <a:srgbClr val="230E0E"/>
              </a:buClr>
              <a:buSzPts val="3247"/>
              <a:buFont typeface="Assistant"/>
              <a:buChar char="•"/>
            </a:pPr>
            <a:r>
              <a:rPr i="0" lang="en-US" sz="3247" u="none" cap="none" strike="noStrike">
                <a:solidFill>
                  <a:srgbClr val="230E0E"/>
                </a:solidFill>
                <a:latin typeface="Assistant"/>
                <a:ea typeface="Assistant"/>
                <a:cs typeface="Assistant"/>
                <a:sym typeface="Assistant"/>
              </a:rPr>
              <a:t>The computers were highly reliable, relatively inexpensive, faster, and more accurate.</a:t>
            </a:r>
            <a:endParaRPr>
              <a:latin typeface="Assistant"/>
              <a:ea typeface="Assistant"/>
              <a:cs typeface="Assistant"/>
              <a:sym typeface="Assistant"/>
            </a:endParaRPr>
          </a:p>
          <a:p>
            <a:pPr indent="-350541" lvl="1" marL="701082" marR="0" rtl="0" algn="just">
              <a:lnSpc>
                <a:spcPct val="151000"/>
              </a:lnSpc>
              <a:spcBef>
                <a:spcPts val="0"/>
              </a:spcBef>
              <a:spcAft>
                <a:spcPts val="0"/>
              </a:spcAft>
              <a:buClr>
                <a:srgbClr val="230E0E"/>
              </a:buClr>
              <a:buSzPts val="3247"/>
              <a:buFont typeface="Assistant"/>
              <a:buChar char="•"/>
            </a:pPr>
            <a:r>
              <a:rPr i="0" lang="en-US" sz="3247" u="none" cap="none" strike="noStrike">
                <a:solidFill>
                  <a:srgbClr val="230E0E"/>
                </a:solidFill>
                <a:latin typeface="Assistant"/>
                <a:ea typeface="Assistant"/>
                <a:cs typeface="Assistant"/>
                <a:sym typeface="Assistant"/>
              </a:rPr>
              <a:t>It can be operated with low energy, and maintenance cost was low also.</a:t>
            </a:r>
            <a:endParaRPr>
              <a:latin typeface="Assistant"/>
              <a:ea typeface="Assistant"/>
              <a:cs typeface="Assistant"/>
              <a:sym typeface="Assistant"/>
            </a:endParaRPr>
          </a:p>
          <a:p>
            <a:pPr indent="-350541" lvl="1" marL="701082" marR="0" rtl="0" algn="just">
              <a:lnSpc>
                <a:spcPct val="151000"/>
              </a:lnSpc>
              <a:spcBef>
                <a:spcPts val="0"/>
              </a:spcBef>
              <a:spcAft>
                <a:spcPts val="0"/>
              </a:spcAft>
              <a:buClr>
                <a:srgbClr val="230E0E"/>
              </a:buClr>
              <a:buSzPts val="3247"/>
              <a:buFont typeface="Assistant"/>
              <a:buChar char="•"/>
            </a:pPr>
            <a:r>
              <a:rPr i="0" lang="en-US" sz="3247" u="none" cap="none" strike="noStrike">
                <a:solidFill>
                  <a:srgbClr val="230E0E"/>
                </a:solidFill>
                <a:latin typeface="Assistant"/>
                <a:ea typeface="Assistant"/>
                <a:cs typeface="Assistant"/>
                <a:sym typeface="Assistant"/>
              </a:rPr>
              <a:t>The keyboard and monitor were introduced for data input and output.</a:t>
            </a:r>
            <a:endParaRPr>
              <a:latin typeface="Assistant"/>
              <a:ea typeface="Assistant"/>
              <a:cs typeface="Assistant"/>
              <a:sym typeface="Assistant"/>
            </a:endParaRPr>
          </a:p>
          <a:p>
            <a:pPr indent="-350541" lvl="1" marL="701082" marR="0" rtl="0" algn="just">
              <a:lnSpc>
                <a:spcPct val="151000"/>
              </a:lnSpc>
              <a:spcBef>
                <a:spcPts val="0"/>
              </a:spcBef>
              <a:spcAft>
                <a:spcPts val="0"/>
              </a:spcAft>
              <a:buClr>
                <a:srgbClr val="230E0E"/>
              </a:buClr>
              <a:buSzPts val="3247"/>
              <a:buFont typeface="Assistant"/>
              <a:buChar char="•"/>
            </a:pPr>
            <a:r>
              <a:rPr i="0" lang="en-US" sz="3247" u="none" cap="none" strike="noStrike">
                <a:solidFill>
                  <a:srgbClr val="230E0E"/>
                </a:solidFill>
                <a:latin typeface="Assistant"/>
                <a:ea typeface="Assistant"/>
                <a:cs typeface="Assistant"/>
                <a:sym typeface="Assistant"/>
              </a:rPr>
              <a:t>It had a more prominent space capacity.</a:t>
            </a:r>
            <a:endParaRPr>
              <a:latin typeface="Assistant"/>
              <a:ea typeface="Assistant"/>
              <a:cs typeface="Assistant"/>
              <a:sym typeface="Assistant"/>
            </a:endParaRPr>
          </a:p>
          <a:p>
            <a:pPr indent="-350541" lvl="1" marL="701082" marR="0" rtl="0" algn="just">
              <a:lnSpc>
                <a:spcPct val="151000"/>
              </a:lnSpc>
              <a:spcBef>
                <a:spcPts val="0"/>
              </a:spcBef>
              <a:spcAft>
                <a:spcPts val="0"/>
              </a:spcAft>
              <a:buClr>
                <a:srgbClr val="230E0E"/>
              </a:buClr>
              <a:buSzPts val="3247"/>
              <a:buFont typeface="Assistant"/>
              <a:buChar char="•"/>
            </a:pPr>
            <a:r>
              <a:rPr i="0" lang="en-US" sz="3247" u="none" cap="none" strike="noStrike">
                <a:solidFill>
                  <a:srgbClr val="230E0E"/>
                </a:solidFill>
                <a:latin typeface="Assistant"/>
                <a:ea typeface="Assistant"/>
                <a:cs typeface="Assistant"/>
                <a:sym typeface="Assistant"/>
              </a:rPr>
              <a:t>A computer has more high-level computer language such as ALGOL-68, FORTRAN-II TO IV, BASIC, COBOL, PASCAL PL/1.</a:t>
            </a:r>
            <a:endParaRPr>
              <a:latin typeface="Assistant"/>
              <a:ea typeface="Assistant"/>
              <a:cs typeface="Assistant"/>
              <a:sym typeface="Assistant"/>
            </a:endParaRPr>
          </a:p>
          <a:p>
            <a:pPr indent="-350541" lvl="1" marL="701082" marR="0" rtl="0" algn="just">
              <a:lnSpc>
                <a:spcPct val="151000"/>
              </a:lnSpc>
              <a:spcBef>
                <a:spcPts val="0"/>
              </a:spcBef>
              <a:spcAft>
                <a:spcPts val="0"/>
              </a:spcAft>
              <a:buClr>
                <a:srgbClr val="230E0E"/>
              </a:buClr>
              <a:buSzPts val="3247"/>
              <a:buFont typeface="Assistant"/>
              <a:buChar char="•"/>
            </a:pPr>
            <a:r>
              <a:rPr i="0" lang="en-US" sz="3247" u="none" cap="none" strike="noStrike">
                <a:solidFill>
                  <a:srgbClr val="230E0E"/>
                </a:solidFill>
                <a:latin typeface="Assistant"/>
                <a:ea typeface="Assistant"/>
                <a:cs typeface="Assistant"/>
                <a:sym typeface="Assistant"/>
              </a:rPr>
              <a:t>They were produced commercially and was cheaper than both generations of computer.</a:t>
            </a:r>
            <a:endParaRPr>
              <a:latin typeface="Assistant"/>
              <a:ea typeface="Assistant"/>
              <a:cs typeface="Assistant"/>
              <a:sym typeface="Assistan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502" name="Shape 502"/>
        <p:cNvGrpSpPr/>
        <p:nvPr/>
      </p:nvGrpSpPr>
      <p:grpSpPr>
        <a:xfrm>
          <a:off x="0" y="0"/>
          <a:ext cx="0" cy="0"/>
          <a:chOff x="0" y="0"/>
          <a:chExt cx="0" cy="0"/>
        </a:xfrm>
      </p:grpSpPr>
      <p:grpSp>
        <p:nvGrpSpPr>
          <p:cNvPr id="503" name="Google Shape;503;p30"/>
          <p:cNvGrpSpPr/>
          <p:nvPr/>
        </p:nvGrpSpPr>
        <p:grpSpPr>
          <a:xfrm>
            <a:off x="0" y="-144661"/>
            <a:ext cx="18288000" cy="10431661"/>
            <a:chOff x="0" y="-38100"/>
            <a:chExt cx="4816593" cy="2747433"/>
          </a:xfrm>
        </p:grpSpPr>
        <p:sp>
          <p:nvSpPr>
            <p:cNvPr id="504" name="Google Shape;504;p30"/>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505" name="Google Shape;505;p30"/>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6" name="Google Shape;506;p30"/>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507" name="Google Shape;507;p30"/>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508" name="Google Shape;508;p30"/>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509" name="Google Shape;509;p30"/>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510" name="Google Shape;510;p30"/>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511" name="Google Shape;511;p30"/>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512" name="Google Shape;512;p30"/>
          <p:cNvSpPr txBox="1"/>
          <p:nvPr/>
        </p:nvSpPr>
        <p:spPr>
          <a:xfrm>
            <a:off x="2057400" y="1589403"/>
            <a:ext cx="14159700" cy="17733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800" u="none" cap="none" strike="noStrike">
                <a:solidFill>
                  <a:srgbClr val="230E0E"/>
                </a:solidFill>
              </a:rPr>
              <a:t>LIMITATIONS OF THIRD GENERATION COMPUTERS</a:t>
            </a:r>
            <a:endParaRPr b="1" sz="4800"/>
          </a:p>
        </p:txBody>
      </p:sp>
      <p:grpSp>
        <p:nvGrpSpPr>
          <p:cNvPr id="513" name="Google Shape;513;p30"/>
          <p:cNvGrpSpPr/>
          <p:nvPr/>
        </p:nvGrpSpPr>
        <p:grpSpPr>
          <a:xfrm>
            <a:off x="2634550" y="3449700"/>
            <a:ext cx="12911614" cy="959341"/>
            <a:chOff x="-2" y="-2"/>
            <a:chExt cx="4392961" cy="326400"/>
          </a:xfrm>
        </p:grpSpPr>
        <p:sp>
          <p:nvSpPr>
            <p:cNvPr id="514" name="Google Shape;514;p30"/>
            <p:cNvSpPr/>
            <p:nvPr/>
          </p:nvSpPr>
          <p:spPr>
            <a:xfrm>
              <a:off x="0" y="0"/>
              <a:ext cx="4392959" cy="326360"/>
            </a:xfrm>
            <a:custGeom>
              <a:rect b="b" l="l" r="r" t="t"/>
              <a:pathLst>
                <a:path extrusionOk="0" h="326360" w="4392959">
                  <a:moveTo>
                    <a:pt x="0" y="0"/>
                  </a:moveTo>
                  <a:lnTo>
                    <a:pt x="4392959" y="0"/>
                  </a:lnTo>
                  <a:lnTo>
                    <a:pt x="4392959" y="326360"/>
                  </a:lnTo>
                  <a:lnTo>
                    <a:pt x="0" y="326360"/>
                  </a:lnTo>
                  <a:close/>
                </a:path>
              </a:pathLst>
            </a:custGeom>
            <a:solidFill>
              <a:srgbClr val="DFD0B8"/>
            </a:solidFill>
            <a:ln>
              <a:noFill/>
            </a:ln>
          </p:spPr>
        </p:sp>
        <p:sp>
          <p:nvSpPr>
            <p:cNvPr id="515" name="Google Shape;515;p30"/>
            <p:cNvSpPr txBox="1"/>
            <p:nvPr/>
          </p:nvSpPr>
          <p:spPr>
            <a:xfrm>
              <a:off x="-2" y="-2"/>
              <a:ext cx="4392900" cy="326400"/>
            </a:xfrm>
            <a:prstGeom prst="rect">
              <a:avLst/>
            </a:prstGeom>
            <a:noFill/>
            <a:ln>
              <a:noFill/>
            </a:ln>
          </p:spPr>
          <p:txBody>
            <a:bodyPr anchorCtr="0" anchor="ctr" bIns="50800" lIns="50800" spcFirstLastPara="1" rIns="50800" wrap="square" tIns="50800">
              <a:noAutofit/>
            </a:bodyPr>
            <a:lstStyle/>
            <a:p>
              <a:pPr indent="-385831" lvl="1" marL="771660" rtl="0" algn="just">
                <a:lnSpc>
                  <a:spcPct val="150979"/>
                </a:lnSpc>
                <a:spcBef>
                  <a:spcPts val="0"/>
                </a:spcBef>
                <a:spcAft>
                  <a:spcPts val="0"/>
                </a:spcAft>
                <a:buClr>
                  <a:srgbClr val="230E0E"/>
                </a:buClr>
                <a:buSzPts val="3574"/>
                <a:buChar char="•"/>
              </a:pPr>
              <a:r>
                <a:rPr lang="en-US" sz="3574">
                  <a:solidFill>
                    <a:srgbClr val="230E0E"/>
                  </a:solidFill>
                  <a:latin typeface="Assistant"/>
                  <a:ea typeface="Assistant"/>
                  <a:cs typeface="Assistant"/>
                  <a:sym typeface="Assistant"/>
                </a:rPr>
                <a:t>Still, the air conditioner is used for cooling purposes.</a:t>
              </a:r>
              <a:endParaRPr sz="1800">
                <a:solidFill>
                  <a:schemeClr val="dk1"/>
                </a:solidFill>
                <a:latin typeface="Calibri"/>
                <a:ea typeface="Calibri"/>
                <a:cs typeface="Calibri"/>
                <a:sym typeface="Calibri"/>
              </a:endParaRPr>
            </a:p>
          </p:txBody>
        </p:sp>
      </p:grpSp>
      <p:grpSp>
        <p:nvGrpSpPr>
          <p:cNvPr id="516" name="Google Shape;516;p30"/>
          <p:cNvGrpSpPr/>
          <p:nvPr/>
        </p:nvGrpSpPr>
        <p:grpSpPr>
          <a:xfrm>
            <a:off x="2634550" y="5016225"/>
            <a:ext cx="12911614" cy="1439896"/>
            <a:chOff x="-2" y="-2"/>
            <a:chExt cx="4392961" cy="489900"/>
          </a:xfrm>
        </p:grpSpPr>
        <p:sp>
          <p:nvSpPr>
            <p:cNvPr id="517" name="Google Shape;517;p30"/>
            <p:cNvSpPr/>
            <p:nvPr/>
          </p:nvSpPr>
          <p:spPr>
            <a:xfrm>
              <a:off x="0" y="0"/>
              <a:ext cx="4392959" cy="489848"/>
            </a:xfrm>
            <a:custGeom>
              <a:rect b="b" l="l" r="r" t="t"/>
              <a:pathLst>
                <a:path extrusionOk="0" h="489848" w="4392959">
                  <a:moveTo>
                    <a:pt x="0" y="0"/>
                  </a:moveTo>
                  <a:lnTo>
                    <a:pt x="4392959" y="0"/>
                  </a:lnTo>
                  <a:lnTo>
                    <a:pt x="4392959" y="489848"/>
                  </a:lnTo>
                  <a:lnTo>
                    <a:pt x="0" y="489848"/>
                  </a:lnTo>
                  <a:close/>
                </a:path>
              </a:pathLst>
            </a:custGeom>
            <a:solidFill>
              <a:srgbClr val="DFD0B8"/>
            </a:solidFill>
            <a:ln>
              <a:noFill/>
            </a:ln>
          </p:spPr>
        </p:sp>
        <p:sp>
          <p:nvSpPr>
            <p:cNvPr id="518" name="Google Shape;518;p30"/>
            <p:cNvSpPr txBox="1"/>
            <p:nvPr/>
          </p:nvSpPr>
          <p:spPr>
            <a:xfrm>
              <a:off x="-2" y="-2"/>
              <a:ext cx="4392900" cy="489900"/>
            </a:xfrm>
            <a:prstGeom prst="rect">
              <a:avLst/>
            </a:prstGeom>
            <a:noFill/>
            <a:ln>
              <a:noFill/>
            </a:ln>
          </p:spPr>
          <p:txBody>
            <a:bodyPr anchorCtr="0" anchor="ctr" bIns="50800" lIns="50800" spcFirstLastPara="1" rIns="50800" wrap="square" tIns="50800">
              <a:noAutofit/>
            </a:bodyPr>
            <a:lstStyle/>
            <a:p>
              <a:pPr indent="-385831" lvl="1" marL="771660" rtl="0" algn="just">
                <a:lnSpc>
                  <a:spcPct val="150979"/>
                </a:lnSpc>
                <a:spcBef>
                  <a:spcPts val="0"/>
                </a:spcBef>
                <a:spcAft>
                  <a:spcPts val="0"/>
                </a:spcAft>
                <a:buClr>
                  <a:srgbClr val="230E0E"/>
                </a:buClr>
                <a:buSzPts val="3574"/>
                <a:buChar char="•"/>
              </a:pPr>
              <a:r>
                <a:rPr lang="en-US" sz="3574">
                  <a:solidFill>
                    <a:srgbClr val="230E0E"/>
                  </a:solidFill>
                  <a:latin typeface="Assistant"/>
                  <a:ea typeface="Assistant"/>
                  <a:cs typeface="Assistant"/>
                  <a:sym typeface="Assistant"/>
                </a:rPr>
                <a:t>Highly sophisticated technology was required for the maintenance of the ICS chip.</a:t>
              </a:r>
              <a:endParaRPr sz="1800">
                <a:solidFill>
                  <a:schemeClr val="dk1"/>
                </a:solidFill>
                <a:latin typeface="Calibri"/>
                <a:ea typeface="Calibri"/>
                <a:cs typeface="Calibri"/>
                <a:sym typeface="Calibri"/>
              </a:endParaRPr>
            </a:p>
          </p:txBody>
        </p:sp>
      </p:grpSp>
      <p:grpSp>
        <p:nvGrpSpPr>
          <p:cNvPr id="519" name="Google Shape;519;p30"/>
          <p:cNvGrpSpPr/>
          <p:nvPr/>
        </p:nvGrpSpPr>
        <p:grpSpPr>
          <a:xfrm>
            <a:off x="2634550" y="6891395"/>
            <a:ext cx="12911614" cy="959345"/>
            <a:chOff x="-2" y="0"/>
            <a:chExt cx="4392961" cy="326401"/>
          </a:xfrm>
        </p:grpSpPr>
        <p:sp>
          <p:nvSpPr>
            <p:cNvPr id="520" name="Google Shape;520;p30"/>
            <p:cNvSpPr/>
            <p:nvPr/>
          </p:nvSpPr>
          <p:spPr>
            <a:xfrm>
              <a:off x="0" y="0"/>
              <a:ext cx="4392959" cy="326360"/>
            </a:xfrm>
            <a:custGeom>
              <a:rect b="b" l="l" r="r" t="t"/>
              <a:pathLst>
                <a:path extrusionOk="0" h="326360" w="4392959">
                  <a:moveTo>
                    <a:pt x="0" y="0"/>
                  </a:moveTo>
                  <a:lnTo>
                    <a:pt x="4392959" y="0"/>
                  </a:lnTo>
                  <a:lnTo>
                    <a:pt x="4392959" y="326360"/>
                  </a:lnTo>
                  <a:lnTo>
                    <a:pt x="0" y="326360"/>
                  </a:lnTo>
                  <a:close/>
                </a:path>
              </a:pathLst>
            </a:custGeom>
            <a:solidFill>
              <a:srgbClr val="DFD0B8"/>
            </a:solidFill>
            <a:ln>
              <a:noFill/>
            </a:ln>
          </p:spPr>
        </p:sp>
        <p:sp>
          <p:nvSpPr>
            <p:cNvPr id="521" name="Google Shape;521;p30"/>
            <p:cNvSpPr txBox="1"/>
            <p:nvPr/>
          </p:nvSpPr>
          <p:spPr>
            <a:xfrm>
              <a:off x="-2" y="1"/>
              <a:ext cx="4392900" cy="326400"/>
            </a:xfrm>
            <a:prstGeom prst="rect">
              <a:avLst/>
            </a:prstGeom>
            <a:noFill/>
            <a:ln>
              <a:noFill/>
            </a:ln>
          </p:spPr>
          <p:txBody>
            <a:bodyPr anchorCtr="0" anchor="ctr" bIns="50800" lIns="50800" spcFirstLastPara="1" rIns="50800" wrap="square" tIns="50800">
              <a:noAutofit/>
            </a:bodyPr>
            <a:lstStyle/>
            <a:p>
              <a:pPr indent="-385831" lvl="1" marL="771660" rtl="0" algn="just">
                <a:lnSpc>
                  <a:spcPct val="150979"/>
                </a:lnSpc>
                <a:spcBef>
                  <a:spcPts val="0"/>
                </a:spcBef>
                <a:spcAft>
                  <a:spcPts val="0"/>
                </a:spcAft>
                <a:buClr>
                  <a:srgbClr val="230E0E"/>
                </a:buClr>
                <a:buSzPts val="3574"/>
                <a:buChar char="•"/>
              </a:pPr>
              <a:r>
                <a:rPr lang="en-US" sz="3574">
                  <a:solidFill>
                    <a:srgbClr val="230E0E"/>
                  </a:solidFill>
                  <a:latin typeface="Assistant"/>
                  <a:ea typeface="Assistant"/>
                  <a:cs typeface="Assistant"/>
                  <a:sym typeface="Assistant"/>
                </a:rPr>
                <a:t>For third-generation computers, formal training was needed.</a:t>
              </a:r>
              <a:endParaRPr sz="1800">
                <a:solidFill>
                  <a:schemeClr val="dk1"/>
                </a:solidFill>
                <a:latin typeface="Calibri"/>
                <a:ea typeface="Calibri"/>
                <a:cs typeface="Calibri"/>
                <a:sym typeface="Calibri"/>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525" name="Shape 525"/>
        <p:cNvGrpSpPr/>
        <p:nvPr/>
      </p:nvGrpSpPr>
      <p:grpSpPr>
        <a:xfrm>
          <a:off x="0" y="0"/>
          <a:ext cx="0" cy="0"/>
          <a:chOff x="0" y="0"/>
          <a:chExt cx="0" cy="0"/>
        </a:xfrm>
      </p:grpSpPr>
      <p:grpSp>
        <p:nvGrpSpPr>
          <p:cNvPr id="526" name="Google Shape;526;p31"/>
          <p:cNvGrpSpPr/>
          <p:nvPr/>
        </p:nvGrpSpPr>
        <p:grpSpPr>
          <a:xfrm>
            <a:off x="0" y="-144661"/>
            <a:ext cx="18288000" cy="10431661"/>
            <a:chOff x="0" y="-38100"/>
            <a:chExt cx="4816593" cy="2747433"/>
          </a:xfrm>
        </p:grpSpPr>
        <p:sp>
          <p:nvSpPr>
            <p:cNvPr id="527" name="Google Shape;527;p31"/>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528" name="Google Shape;528;p31"/>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29" name="Google Shape;529;p31"/>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530" name="Google Shape;530;p31"/>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531" name="Google Shape;531;p31"/>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532" name="Google Shape;532;p31"/>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533" name="Google Shape;533;p31"/>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534" name="Google Shape;534;p31"/>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535" name="Google Shape;535;p31"/>
          <p:cNvSpPr txBox="1"/>
          <p:nvPr/>
        </p:nvSpPr>
        <p:spPr>
          <a:xfrm>
            <a:off x="2057400" y="1589399"/>
            <a:ext cx="14159700" cy="6927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500" u="none" cap="none" strike="noStrike">
                <a:solidFill>
                  <a:srgbClr val="230E0E"/>
                </a:solidFill>
              </a:rPr>
              <a:t>EXAMPLES OF THIRD </a:t>
            </a:r>
            <a:r>
              <a:rPr b="1" lang="en-US" sz="4500">
                <a:solidFill>
                  <a:srgbClr val="230E0E"/>
                </a:solidFill>
              </a:rPr>
              <a:t>GENERATION COMPUTERS</a:t>
            </a:r>
            <a:endParaRPr b="1" sz="4500"/>
          </a:p>
        </p:txBody>
      </p:sp>
      <p:grpSp>
        <p:nvGrpSpPr>
          <p:cNvPr id="536" name="Google Shape;536;p31"/>
          <p:cNvGrpSpPr/>
          <p:nvPr/>
        </p:nvGrpSpPr>
        <p:grpSpPr>
          <a:xfrm>
            <a:off x="4336858" y="2567606"/>
            <a:ext cx="8247743" cy="809652"/>
            <a:chOff x="0" y="-38100"/>
            <a:chExt cx="2806157" cy="275471"/>
          </a:xfrm>
        </p:grpSpPr>
        <p:sp>
          <p:nvSpPr>
            <p:cNvPr id="537" name="Google Shape;537;p31"/>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538" name="Google Shape;538;p31"/>
            <p:cNvSpPr txBox="1"/>
            <p:nvPr/>
          </p:nvSpPr>
          <p:spPr>
            <a:xfrm>
              <a:off x="0" y="-38100"/>
              <a:ext cx="2806157" cy="275471"/>
            </a:xfrm>
            <a:prstGeom prst="rect">
              <a:avLst/>
            </a:prstGeom>
            <a:noFill/>
            <a:ln>
              <a:noFill/>
            </a:ln>
          </p:spPr>
          <p:txBody>
            <a:bodyPr anchorCtr="0" anchor="ctr" bIns="50800" lIns="50800" spcFirstLastPara="1" rIns="50800" wrap="square" tIns="50800">
              <a:noAutofit/>
            </a:bodyPr>
            <a:lstStyle/>
            <a:p>
              <a:pPr indent="-332769" lvl="1" marL="665538" rtl="0" algn="just">
                <a:lnSpc>
                  <a:spcPct val="151005"/>
                </a:lnSpc>
                <a:spcBef>
                  <a:spcPts val="0"/>
                </a:spcBef>
                <a:spcAft>
                  <a:spcPts val="0"/>
                </a:spcAft>
                <a:buClr>
                  <a:srgbClr val="230E0E"/>
                </a:buClr>
                <a:buSzPts val="3082"/>
                <a:buChar char="•"/>
              </a:pPr>
              <a:r>
                <a:rPr lang="en-US" sz="3082">
                  <a:solidFill>
                    <a:srgbClr val="230E0E"/>
                  </a:solidFill>
                  <a:latin typeface="Assistant"/>
                  <a:ea typeface="Assistant"/>
                  <a:cs typeface="Assistant"/>
                  <a:sym typeface="Assistant"/>
                </a:rPr>
                <a:t>IBM 360 SERIES</a:t>
              </a:r>
              <a:endParaRPr sz="1800">
                <a:solidFill>
                  <a:schemeClr val="dk1"/>
                </a:solidFill>
                <a:latin typeface="Calibri"/>
                <a:ea typeface="Calibri"/>
                <a:cs typeface="Calibri"/>
                <a:sym typeface="Calibri"/>
              </a:endParaRPr>
            </a:p>
          </p:txBody>
        </p:sp>
      </p:grpSp>
      <p:grpSp>
        <p:nvGrpSpPr>
          <p:cNvPr id="539" name="Google Shape;539;p31"/>
          <p:cNvGrpSpPr/>
          <p:nvPr/>
        </p:nvGrpSpPr>
        <p:grpSpPr>
          <a:xfrm>
            <a:off x="4336858" y="3724658"/>
            <a:ext cx="8247743" cy="809652"/>
            <a:chOff x="0" y="-38100"/>
            <a:chExt cx="2806157" cy="275471"/>
          </a:xfrm>
        </p:grpSpPr>
        <p:sp>
          <p:nvSpPr>
            <p:cNvPr id="540" name="Google Shape;540;p31"/>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541" name="Google Shape;541;p31"/>
            <p:cNvSpPr txBox="1"/>
            <p:nvPr/>
          </p:nvSpPr>
          <p:spPr>
            <a:xfrm>
              <a:off x="0" y="-38100"/>
              <a:ext cx="2806157" cy="275471"/>
            </a:xfrm>
            <a:prstGeom prst="rect">
              <a:avLst/>
            </a:prstGeom>
            <a:noFill/>
            <a:ln>
              <a:noFill/>
            </a:ln>
          </p:spPr>
          <p:txBody>
            <a:bodyPr anchorCtr="0" anchor="ctr" bIns="50800" lIns="50800" spcFirstLastPara="1" rIns="50800" wrap="square" tIns="50800">
              <a:noAutofit/>
            </a:bodyPr>
            <a:lstStyle/>
            <a:p>
              <a:pPr indent="-332769" lvl="1" marL="665538" rtl="0" algn="just">
                <a:lnSpc>
                  <a:spcPct val="151005"/>
                </a:lnSpc>
                <a:spcBef>
                  <a:spcPts val="0"/>
                </a:spcBef>
                <a:spcAft>
                  <a:spcPts val="0"/>
                </a:spcAft>
                <a:buClr>
                  <a:srgbClr val="230E0E"/>
                </a:buClr>
                <a:buSzPts val="3082"/>
                <a:buChar char="•"/>
              </a:pPr>
              <a:r>
                <a:rPr lang="en-US" sz="3082">
                  <a:solidFill>
                    <a:srgbClr val="230E0E"/>
                  </a:solidFill>
                  <a:latin typeface="Assistant"/>
                  <a:ea typeface="Assistant"/>
                  <a:cs typeface="Assistant"/>
                  <a:sym typeface="Assistant"/>
                </a:rPr>
                <a:t>IBM 370</a:t>
              </a:r>
              <a:endParaRPr sz="1800">
                <a:solidFill>
                  <a:schemeClr val="dk1"/>
                </a:solidFill>
                <a:latin typeface="Calibri"/>
                <a:ea typeface="Calibri"/>
                <a:cs typeface="Calibri"/>
                <a:sym typeface="Calibri"/>
              </a:endParaRPr>
            </a:p>
          </p:txBody>
        </p:sp>
      </p:grpSp>
      <p:grpSp>
        <p:nvGrpSpPr>
          <p:cNvPr id="542" name="Google Shape;542;p31"/>
          <p:cNvGrpSpPr/>
          <p:nvPr/>
        </p:nvGrpSpPr>
        <p:grpSpPr>
          <a:xfrm>
            <a:off x="4336858" y="4889054"/>
            <a:ext cx="8247743" cy="809652"/>
            <a:chOff x="0" y="-38100"/>
            <a:chExt cx="2806157" cy="275471"/>
          </a:xfrm>
        </p:grpSpPr>
        <p:sp>
          <p:nvSpPr>
            <p:cNvPr id="543" name="Google Shape;543;p31"/>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544" name="Google Shape;544;p31"/>
            <p:cNvSpPr txBox="1"/>
            <p:nvPr/>
          </p:nvSpPr>
          <p:spPr>
            <a:xfrm>
              <a:off x="0" y="-38100"/>
              <a:ext cx="2806157" cy="275471"/>
            </a:xfrm>
            <a:prstGeom prst="rect">
              <a:avLst/>
            </a:prstGeom>
            <a:noFill/>
            <a:ln>
              <a:noFill/>
            </a:ln>
          </p:spPr>
          <p:txBody>
            <a:bodyPr anchorCtr="0" anchor="ctr" bIns="50800" lIns="50800" spcFirstLastPara="1" rIns="50800" wrap="square" tIns="50800">
              <a:noAutofit/>
            </a:bodyPr>
            <a:lstStyle/>
            <a:p>
              <a:pPr indent="-332769" lvl="1" marL="665538" rtl="0" algn="just">
                <a:lnSpc>
                  <a:spcPct val="151005"/>
                </a:lnSpc>
                <a:spcBef>
                  <a:spcPts val="0"/>
                </a:spcBef>
                <a:spcAft>
                  <a:spcPts val="0"/>
                </a:spcAft>
                <a:buClr>
                  <a:srgbClr val="230E0E"/>
                </a:buClr>
                <a:buSzPts val="3082"/>
                <a:buChar char="•"/>
              </a:pPr>
              <a:r>
                <a:rPr lang="en-US" sz="3082">
                  <a:solidFill>
                    <a:srgbClr val="230E0E"/>
                  </a:solidFill>
                  <a:latin typeface="Assistant"/>
                  <a:ea typeface="Assistant"/>
                  <a:cs typeface="Assistant"/>
                  <a:sym typeface="Assistant"/>
                </a:rPr>
                <a:t>UNIVAC 1108</a:t>
              </a:r>
              <a:endParaRPr sz="1800">
                <a:solidFill>
                  <a:schemeClr val="dk1"/>
                </a:solidFill>
                <a:latin typeface="Calibri"/>
                <a:ea typeface="Calibri"/>
                <a:cs typeface="Calibri"/>
                <a:sym typeface="Calibri"/>
              </a:endParaRPr>
            </a:p>
          </p:txBody>
        </p:sp>
      </p:grpSp>
      <p:grpSp>
        <p:nvGrpSpPr>
          <p:cNvPr id="545" name="Google Shape;545;p31"/>
          <p:cNvGrpSpPr/>
          <p:nvPr/>
        </p:nvGrpSpPr>
        <p:grpSpPr>
          <a:xfrm>
            <a:off x="4336858" y="6013860"/>
            <a:ext cx="8247743" cy="809652"/>
            <a:chOff x="0" y="-38100"/>
            <a:chExt cx="2806157" cy="275471"/>
          </a:xfrm>
        </p:grpSpPr>
        <p:sp>
          <p:nvSpPr>
            <p:cNvPr id="546" name="Google Shape;546;p31"/>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547" name="Google Shape;547;p31"/>
            <p:cNvSpPr txBox="1"/>
            <p:nvPr/>
          </p:nvSpPr>
          <p:spPr>
            <a:xfrm>
              <a:off x="0" y="-38100"/>
              <a:ext cx="2806157" cy="275471"/>
            </a:xfrm>
            <a:prstGeom prst="rect">
              <a:avLst/>
            </a:prstGeom>
            <a:noFill/>
            <a:ln>
              <a:noFill/>
            </a:ln>
          </p:spPr>
          <p:txBody>
            <a:bodyPr anchorCtr="0" anchor="ctr" bIns="50800" lIns="50800" spcFirstLastPara="1" rIns="50800" wrap="square" tIns="50800">
              <a:noAutofit/>
            </a:bodyPr>
            <a:lstStyle/>
            <a:p>
              <a:pPr indent="-332769" lvl="1" marL="665538" rtl="0" algn="just">
                <a:lnSpc>
                  <a:spcPct val="151005"/>
                </a:lnSpc>
                <a:spcBef>
                  <a:spcPts val="0"/>
                </a:spcBef>
                <a:spcAft>
                  <a:spcPts val="0"/>
                </a:spcAft>
                <a:buClr>
                  <a:srgbClr val="230E0E"/>
                </a:buClr>
                <a:buSzPts val="3082"/>
                <a:buChar char="•"/>
              </a:pPr>
              <a:r>
                <a:rPr lang="en-US" sz="3082">
                  <a:solidFill>
                    <a:srgbClr val="230E0E"/>
                  </a:solidFill>
                  <a:latin typeface="Assistant"/>
                  <a:ea typeface="Assistant"/>
                  <a:cs typeface="Assistant"/>
                  <a:sym typeface="Assistant"/>
                </a:rPr>
                <a:t>UNIVAC AC 9000</a:t>
              </a:r>
              <a:endParaRPr sz="1800">
                <a:solidFill>
                  <a:schemeClr val="dk1"/>
                </a:solidFill>
                <a:latin typeface="Calibri"/>
                <a:ea typeface="Calibri"/>
                <a:cs typeface="Calibri"/>
                <a:sym typeface="Calibri"/>
              </a:endParaRPr>
            </a:p>
          </p:txBody>
        </p:sp>
      </p:grpSp>
      <p:grpSp>
        <p:nvGrpSpPr>
          <p:cNvPr id="548" name="Google Shape;548;p31"/>
          <p:cNvGrpSpPr/>
          <p:nvPr/>
        </p:nvGrpSpPr>
        <p:grpSpPr>
          <a:xfrm>
            <a:off x="4336858" y="7197305"/>
            <a:ext cx="8247743" cy="809652"/>
            <a:chOff x="0" y="-38100"/>
            <a:chExt cx="2806157" cy="275471"/>
          </a:xfrm>
        </p:grpSpPr>
        <p:sp>
          <p:nvSpPr>
            <p:cNvPr id="549" name="Google Shape;549;p31"/>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550" name="Google Shape;550;p31"/>
            <p:cNvSpPr txBox="1"/>
            <p:nvPr/>
          </p:nvSpPr>
          <p:spPr>
            <a:xfrm>
              <a:off x="0" y="-38100"/>
              <a:ext cx="2806157" cy="275471"/>
            </a:xfrm>
            <a:prstGeom prst="rect">
              <a:avLst/>
            </a:prstGeom>
            <a:noFill/>
            <a:ln>
              <a:noFill/>
            </a:ln>
          </p:spPr>
          <p:txBody>
            <a:bodyPr anchorCtr="0" anchor="ctr" bIns="50800" lIns="50800" spcFirstLastPara="1" rIns="50800" wrap="square" tIns="50800">
              <a:noAutofit/>
            </a:bodyPr>
            <a:lstStyle/>
            <a:p>
              <a:pPr indent="-332769" lvl="1" marL="665538" rtl="0" algn="just">
                <a:lnSpc>
                  <a:spcPct val="151005"/>
                </a:lnSpc>
                <a:spcBef>
                  <a:spcPts val="0"/>
                </a:spcBef>
                <a:spcAft>
                  <a:spcPts val="0"/>
                </a:spcAft>
                <a:buClr>
                  <a:srgbClr val="230E0E"/>
                </a:buClr>
                <a:buSzPts val="3082"/>
                <a:buChar char="•"/>
              </a:pPr>
              <a:r>
                <a:rPr lang="en-US" sz="3082">
                  <a:solidFill>
                    <a:srgbClr val="230E0E"/>
                  </a:solidFill>
                  <a:latin typeface="Assistant"/>
                  <a:ea typeface="Assistant"/>
                  <a:cs typeface="Assistant"/>
                  <a:sym typeface="Assistant"/>
                </a:rPr>
                <a:t>PDP-8, PDP-11</a:t>
              </a:r>
              <a:endParaRPr sz="1800">
                <a:solidFill>
                  <a:schemeClr val="dk1"/>
                </a:solidFill>
                <a:latin typeface="Calibri"/>
                <a:ea typeface="Calibri"/>
                <a:cs typeface="Calibri"/>
                <a:sym typeface="Calibri"/>
              </a:endParaRPr>
            </a:p>
          </p:txBody>
        </p:sp>
      </p:grpSp>
      <p:grpSp>
        <p:nvGrpSpPr>
          <p:cNvPr id="551" name="Google Shape;551;p31"/>
          <p:cNvGrpSpPr/>
          <p:nvPr/>
        </p:nvGrpSpPr>
        <p:grpSpPr>
          <a:xfrm>
            <a:off x="4336858" y="8380750"/>
            <a:ext cx="8247743" cy="809652"/>
            <a:chOff x="0" y="-38100"/>
            <a:chExt cx="2806157" cy="275471"/>
          </a:xfrm>
        </p:grpSpPr>
        <p:sp>
          <p:nvSpPr>
            <p:cNvPr id="552" name="Google Shape;552;p31"/>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553" name="Google Shape;553;p31"/>
            <p:cNvSpPr txBox="1"/>
            <p:nvPr/>
          </p:nvSpPr>
          <p:spPr>
            <a:xfrm>
              <a:off x="0" y="-38100"/>
              <a:ext cx="2806157" cy="275471"/>
            </a:xfrm>
            <a:prstGeom prst="rect">
              <a:avLst/>
            </a:prstGeom>
            <a:noFill/>
            <a:ln>
              <a:noFill/>
            </a:ln>
          </p:spPr>
          <p:txBody>
            <a:bodyPr anchorCtr="0" anchor="ctr" bIns="50800" lIns="50800" spcFirstLastPara="1" rIns="50800" wrap="square" tIns="50800">
              <a:noAutofit/>
            </a:bodyPr>
            <a:lstStyle/>
            <a:p>
              <a:pPr indent="-332769" lvl="1" marL="665538" rtl="0" algn="just">
                <a:lnSpc>
                  <a:spcPct val="151005"/>
                </a:lnSpc>
                <a:spcBef>
                  <a:spcPts val="0"/>
                </a:spcBef>
                <a:spcAft>
                  <a:spcPts val="0"/>
                </a:spcAft>
                <a:buClr>
                  <a:srgbClr val="230E0E"/>
                </a:buClr>
                <a:buSzPts val="3082"/>
                <a:buChar char="•"/>
              </a:pPr>
              <a:r>
                <a:rPr lang="en-US" sz="3082">
                  <a:solidFill>
                    <a:srgbClr val="230E0E"/>
                  </a:solidFill>
                  <a:latin typeface="Assistant"/>
                  <a:ea typeface="Assistant"/>
                  <a:cs typeface="Assistant"/>
                  <a:sym typeface="Assistant"/>
                </a:rPr>
                <a:t>ICL 2900 series, and so on.</a:t>
              </a:r>
              <a:endParaRPr sz="1800">
                <a:solidFill>
                  <a:schemeClr val="dk1"/>
                </a:solidFill>
                <a:latin typeface="Calibri"/>
                <a:ea typeface="Calibri"/>
                <a:cs typeface="Calibri"/>
                <a:sym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561" name="Shape 561"/>
        <p:cNvGrpSpPr/>
        <p:nvPr/>
      </p:nvGrpSpPr>
      <p:grpSpPr>
        <a:xfrm>
          <a:off x="0" y="0"/>
          <a:ext cx="0" cy="0"/>
          <a:chOff x="0" y="0"/>
          <a:chExt cx="0" cy="0"/>
        </a:xfrm>
      </p:grpSpPr>
      <p:grpSp>
        <p:nvGrpSpPr>
          <p:cNvPr id="562" name="Google Shape;562;p32"/>
          <p:cNvGrpSpPr/>
          <p:nvPr/>
        </p:nvGrpSpPr>
        <p:grpSpPr>
          <a:xfrm>
            <a:off x="0" y="-144661"/>
            <a:ext cx="18288000" cy="10431661"/>
            <a:chOff x="0" y="-38100"/>
            <a:chExt cx="4816593" cy="2747433"/>
          </a:xfrm>
        </p:grpSpPr>
        <p:sp>
          <p:nvSpPr>
            <p:cNvPr id="563" name="Google Shape;563;p32"/>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564" name="Google Shape;564;p32"/>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5" name="Google Shape;565;p32"/>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566" name="Google Shape;566;p32"/>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567" name="Google Shape;567;p32"/>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568" name="Google Shape;568;p32"/>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569" name="Google Shape;569;p32"/>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570" name="Google Shape;570;p32"/>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571" name="Google Shape;571;p32"/>
          <p:cNvSpPr/>
          <p:nvPr/>
        </p:nvSpPr>
        <p:spPr>
          <a:xfrm>
            <a:off x="12643675" y="5074875"/>
            <a:ext cx="4205451" cy="2469929"/>
          </a:xfrm>
          <a:custGeom>
            <a:rect b="b" l="l" r="r" t="t"/>
            <a:pathLst>
              <a:path extrusionOk="0" h="2783019" w="4947589">
                <a:moveTo>
                  <a:pt x="0" y="0"/>
                </a:moveTo>
                <a:lnTo>
                  <a:pt x="4947589" y="0"/>
                </a:lnTo>
                <a:lnTo>
                  <a:pt x="4947589" y="2783019"/>
                </a:lnTo>
                <a:lnTo>
                  <a:pt x="0" y="2783019"/>
                </a:lnTo>
                <a:lnTo>
                  <a:pt x="0" y="0"/>
                </a:lnTo>
                <a:close/>
              </a:path>
            </a:pathLst>
          </a:custGeom>
          <a:blipFill rotWithShape="1">
            <a:blip r:embed="rId5">
              <a:alphaModFix/>
            </a:blip>
            <a:stretch>
              <a:fillRect b="0" l="0" r="0" t="0"/>
            </a:stretch>
          </a:blipFill>
          <a:ln>
            <a:noFill/>
          </a:ln>
        </p:spPr>
      </p:sp>
      <p:sp>
        <p:nvSpPr>
          <p:cNvPr id="572" name="Google Shape;572;p32"/>
          <p:cNvSpPr txBox="1"/>
          <p:nvPr/>
        </p:nvSpPr>
        <p:spPr>
          <a:xfrm>
            <a:off x="2057400" y="1517237"/>
            <a:ext cx="13661400" cy="3948000"/>
          </a:xfrm>
          <a:prstGeom prst="rect">
            <a:avLst/>
          </a:prstGeom>
          <a:noFill/>
          <a:ln>
            <a:noFill/>
          </a:ln>
        </p:spPr>
        <p:txBody>
          <a:bodyPr anchorCtr="0" anchor="t" bIns="0" lIns="0" spcFirstLastPara="1" rIns="0" wrap="square" tIns="0">
            <a:spAutoFit/>
          </a:bodyPr>
          <a:lstStyle/>
          <a:p>
            <a:pPr indent="0" lvl="0" marL="0" marR="0" rtl="0" algn="just">
              <a:lnSpc>
                <a:spcPct val="150999"/>
              </a:lnSpc>
              <a:spcBef>
                <a:spcPts val="0"/>
              </a:spcBef>
              <a:spcAft>
                <a:spcPts val="0"/>
              </a:spcAft>
              <a:buNone/>
            </a:pPr>
            <a:r>
              <a:rPr i="0" lang="en-US" sz="3000" u="none" cap="none" strike="noStrike">
                <a:solidFill>
                  <a:srgbClr val="230E0E"/>
                </a:solidFill>
                <a:latin typeface="Assistant"/>
                <a:ea typeface="Assistant"/>
                <a:cs typeface="Assistant"/>
                <a:sym typeface="Assistant"/>
              </a:rPr>
              <a:t>The Fourth Generation acknowledged </a:t>
            </a:r>
            <a:r>
              <a:rPr i="0" lang="en-US" sz="3000" u="sng" cap="none" strike="noStrike">
                <a:solidFill>
                  <a:srgbClr val="230E0E"/>
                </a:solidFill>
                <a:latin typeface="Assistant"/>
                <a:ea typeface="Assistant"/>
                <a:cs typeface="Assistant"/>
                <a:sym typeface="Assistant"/>
              </a:rPr>
              <a:t>Large Scale Integration (LSI)</a:t>
            </a:r>
            <a:r>
              <a:rPr i="0" lang="en-US" sz="3000" u="none" cap="none" strike="noStrike">
                <a:solidFill>
                  <a:srgbClr val="230E0E"/>
                </a:solidFill>
                <a:latin typeface="Assistant"/>
                <a:ea typeface="Assistant"/>
                <a:cs typeface="Assistant"/>
                <a:sym typeface="Assistant"/>
              </a:rPr>
              <a:t>, which could hold hundreds of components on one chip, and </a:t>
            </a:r>
            <a:r>
              <a:rPr i="0" lang="en-US" sz="3000" u="sng" cap="none" strike="noStrike">
                <a:solidFill>
                  <a:srgbClr val="230E0E"/>
                </a:solidFill>
                <a:latin typeface="Assistant"/>
                <a:ea typeface="Assistant"/>
                <a:cs typeface="Assistant"/>
                <a:sym typeface="Assistant"/>
              </a:rPr>
              <a:t>Very Large Scale Integration (VLSI)</a:t>
            </a:r>
            <a:r>
              <a:rPr i="0" lang="en-US" sz="3000" u="none" cap="none" strike="noStrike">
                <a:solidFill>
                  <a:srgbClr val="230E0E"/>
                </a:solidFill>
                <a:latin typeface="Assistant"/>
                <a:ea typeface="Assistant"/>
                <a:cs typeface="Assistant"/>
                <a:sym typeface="Assistant"/>
              </a:rPr>
              <a:t>, which embraced thousand of components on one </a:t>
            </a:r>
            <a:r>
              <a:rPr i="0" lang="en-US" sz="3000" u="sng" cap="none" strike="noStrike">
                <a:solidFill>
                  <a:schemeClr val="hlink"/>
                </a:solidFill>
                <a:latin typeface="Assistant"/>
                <a:ea typeface="Assistant"/>
                <a:cs typeface="Assistant"/>
                <a:sym typeface="Assistant"/>
                <a:hlinkClick r:id="rId6"/>
              </a:rPr>
              <a:t>silicon chip</a:t>
            </a:r>
            <a:r>
              <a:rPr i="0" lang="en-US" sz="3000" u="none" cap="none" strike="noStrike">
                <a:solidFill>
                  <a:srgbClr val="230E0E"/>
                </a:solidFill>
                <a:latin typeface="Assistant"/>
                <a:ea typeface="Assistant"/>
                <a:cs typeface="Assistant"/>
                <a:sym typeface="Assistant"/>
              </a:rPr>
              <a:t>. The Intel 4004 chip hold all the components of a computer (central processing unit (CPU), input and output controls, memory unit) on a single chip called a </a:t>
            </a:r>
            <a:r>
              <a:rPr i="0" lang="en-US" sz="3000" u="sng" cap="none" strike="noStrike">
                <a:solidFill>
                  <a:srgbClr val="230E0E"/>
                </a:solidFill>
                <a:latin typeface="Assistant"/>
                <a:ea typeface="Assistant"/>
                <a:cs typeface="Assistant"/>
                <a:sym typeface="Assistant"/>
              </a:rPr>
              <a:t>Microprocessor</a:t>
            </a:r>
            <a:r>
              <a:rPr i="0" lang="en-US" sz="3000" u="none" cap="none" strike="noStrike">
                <a:solidFill>
                  <a:srgbClr val="230E0E"/>
                </a:solidFill>
                <a:latin typeface="Assistant"/>
                <a:ea typeface="Assistant"/>
                <a:cs typeface="Assistant"/>
                <a:sym typeface="Assistant"/>
              </a:rPr>
              <a:t>, and microcomputers were introduced.</a:t>
            </a:r>
            <a:endParaRPr sz="3000">
              <a:latin typeface="Assistant"/>
              <a:ea typeface="Assistant"/>
              <a:cs typeface="Assistant"/>
              <a:sym typeface="Assistant"/>
            </a:endParaRPr>
          </a:p>
        </p:txBody>
      </p:sp>
      <p:sp>
        <p:nvSpPr>
          <p:cNvPr id="573" name="Google Shape;573;p32"/>
          <p:cNvSpPr txBox="1"/>
          <p:nvPr/>
        </p:nvSpPr>
        <p:spPr>
          <a:xfrm>
            <a:off x="869087" y="712672"/>
            <a:ext cx="16390200" cy="677400"/>
          </a:xfrm>
          <a:prstGeom prst="rect">
            <a:avLst/>
          </a:prstGeom>
          <a:noFill/>
          <a:ln>
            <a:noFill/>
          </a:ln>
        </p:spPr>
        <p:txBody>
          <a:bodyPr anchorCtr="0" anchor="ctr" bIns="0" lIns="0" spcFirstLastPara="1" rIns="0" wrap="square" tIns="0">
            <a:noAutofit/>
          </a:bodyPr>
          <a:lstStyle/>
          <a:p>
            <a:pPr indent="0" lvl="0" marL="0" marR="0" rtl="0" algn="ctr">
              <a:lnSpc>
                <a:spcPct val="139988"/>
              </a:lnSpc>
              <a:spcBef>
                <a:spcPts val="0"/>
              </a:spcBef>
              <a:spcAft>
                <a:spcPts val="0"/>
              </a:spcAft>
              <a:buNone/>
            </a:pPr>
            <a:r>
              <a:rPr b="1" i="0" lang="en-US" sz="4400" u="none" cap="none" strike="noStrike">
                <a:solidFill>
                  <a:srgbClr val="230E0E"/>
                </a:solidFill>
              </a:rPr>
              <a:t>4.FOURTH GENERATION COMPUTERS (1971 - PRESENT)</a:t>
            </a:r>
            <a:endParaRPr b="1" sz="4400"/>
          </a:p>
        </p:txBody>
      </p:sp>
      <p:sp>
        <p:nvSpPr>
          <p:cNvPr id="574" name="Google Shape;574;p32"/>
          <p:cNvSpPr txBox="1"/>
          <p:nvPr/>
        </p:nvSpPr>
        <p:spPr>
          <a:xfrm>
            <a:off x="2569925" y="7544800"/>
            <a:ext cx="13149000" cy="2638800"/>
          </a:xfrm>
          <a:prstGeom prst="rect">
            <a:avLst/>
          </a:prstGeom>
          <a:noFill/>
          <a:ln>
            <a:noFill/>
          </a:ln>
        </p:spPr>
        <p:txBody>
          <a:bodyPr anchorCtr="0" anchor="ctr" bIns="0" lIns="0" spcFirstLastPara="1" rIns="0" wrap="square" tIns="0">
            <a:noAutofit/>
          </a:bodyPr>
          <a:lstStyle/>
          <a:p>
            <a:pPr indent="0" lvl="0" marL="0" marR="0" rtl="0" algn="just">
              <a:lnSpc>
                <a:spcPct val="150999"/>
              </a:lnSpc>
              <a:spcBef>
                <a:spcPts val="0"/>
              </a:spcBef>
              <a:spcAft>
                <a:spcPts val="0"/>
              </a:spcAft>
              <a:buNone/>
            </a:pPr>
            <a:r>
              <a:rPr i="0" lang="en-US" sz="3100" u="none" cap="none" strike="noStrike">
                <a:solidFill>
                  <a:srgbClr val="230E0E"/>
                </a:solidFill>
                <a:latin typeface="Assistant"/>
                <a:ea typeface="Assistant"/>
                <a:cs typeface="Assistant"/>
                <a:sym typeface="Assistant"/>
              </a:rPr>
              <a:t>In 1981, IBM introduced its personal computer for home, office, and schools. In direct competition, the Macintosh was introduced in 1984 by Apple. Shared interactive systems and user-friendly environments were the features of these computers. </a:t>
            </a:r>
            <a:endParaRPr sz="3100">
              <a:latin typeface="Assistant"/>
              <a:ea typeface="Assistant"/>
              <a:cs typeface="Assistant"/>
              <a:sym typeface="Assistan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578" name="Shape 578"/>
        <p:cNvGrpSpPr/>
        <p:nvPr/>
      </p:nvGrpSpPr>
      <p:grpSpPr>
        <a:xfrm>
          <a:off x="0" y="0"/>
          <a:ext cx="0" cy="0"/>
          <a:chOff x="0" y="0"/>
          <a:chExt cx="0" cy="0"/>
        </a:xfrm>
      </p:grpSpPr>
      <p:grpSp>
        <p:nvGrpSpPr>
          <p:cNvPr id="579" name="Google Shape;579;p33"/>
          <p:cNvGrpSpPr/>
          <p:nvPr/>
        </p:nvGrpSpPr>
        <p:grpSpPr>
          <a:xfrm>
            <a:off x="0" y="-144661"/>
            <a:ext cx="18288000" cy="10431661"/>
            <a:chOff x="0" y="-38100"/>
            <a:chExt cx="4816593" cy="2747433"/>
          </a:xfrm>
        </p:grpSpPr>
        <p:sp>
          <p:nvSpPr>
            <p:cNvPr id="580" name="Google Shape;580;p33"/>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581" name="Google Shape;581;p33"/>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82" name="Google Shape;582;p33"/>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583" name="Google Shape;583;p33"/>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584" name="Google Shape;584;p33"/>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585" name="Google Shape;585;p33"/>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586" name="Google Shape;586;p33"/>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587" name="Google Shape;587;p33"/>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588" name="Google Shape;588;p33"/>
          <p:cNvSpPr txBox="1"/>
          <p:nvPr/>
        </p:nvSpPr>
        <p:spPr>
          <a:xfrm>
            <a:off x="2057400" y="862903"/>
            <a:ext cx="14159700" cy="6774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400" u="none" cap="none" strike="noStrike">
                <a:solidFill>
                  <a:srgbClr val="230E0E"/>
                </a:solidFill>
              </a:rPr>
              <a:t>FEATURES OF FOURTH GENERATION COMPUTERS</a:t>
            </a:r>
            <a:endParaRPr b="1" sz="4400"/>
          </a:p>
        </p:txBody>
      </p:sp>
      <p:sp>
        <p:nvSpPr>
          <p:cNvPr id="589" name="Google Shape;589;p33"/>
          <p:cNvSpPr txBox="1"/>
          <p:nvPr/>
        </p:nvSpPr>
        <p:spPr>
          <a:xfrm>
            <a:off x="2325850" y="1750975"/>
            <a:ext cx="13425300" cy="8178000"/>
          </a:xfrm>
          <a:prstGeom prst="rect">
            <a:avLst/>
          </a:prstGeom>
          <a:noFill/>
          <a:ln>
            <a:noFill/>
          </a:ln>
        </p:spPr>
        <p:txBody>
          <a:bodyPr anchorCtr="0" anchor="ctr" bIns="0" lIns="0" spcFirstLastPara="1" rIns="0" wrap="square" tIns="0">
            <a:noAutofit/>
          </a:bodyPr>
          <a:lstStyle/>
          <a:p>
            <a:pPr indent="-350731" lvl="1" marL="701082" marR="0" rtl="0" algn="just">
              <a:lnSpc>
                <a:spcPct val="151000"/>
              </a:lnSpc>
              <a:spcBef>
                <a:spcPts val="0"/>
              </a:spcBef>
              <a:spcAft>
                <a:spcPts val="0"/>
              </a:spcAft>
              <a:buClr>
                <a:srgbClr val="230E0E"/>
              </a:buClr>
              <a:buSzPts val="3250"/>
              <a:buFont typeface="Assistant"/>
              <a:buChar char="•"/>
            </a:pPr>
            <a:r>
              <a:rPr i="0" lang="en-US" sz="3250" u="none" cap="none" strike="noStrike">
                <a:solidFill>
                  <a:srgbClr val="230E0E"/>
                </a:solidFill>
                <a:latin typeface="Assistant"/>
                <a:ea typeface="Assistant"/>
                <a:cs typeface="Assistant"/>
                <a:sym typeface="Assistant"/>
              </a:rPr>
              <a:t>Computer sizes change from desktop to laptop and from laptop to palmtop.</a:t>
            </a:r>
            <a:endParaRPr sz="3250">
              <a:latin typeface="Assistant"/>
              <a:ea typeface="Assistant"/>
              <a:cs typeface="Assistant"/>
              <a:sym typeface="Assistant"/>
            </a:endParaRPr>
          </a:p>
          <a:p>
            <a:pPr indent="-350731" lvl="1" marL="701082" marR="0" rtl="0" algn="just">
              <a:lnSpc>
                <a:spcPct val="151000"/>
              </a:lnSpc>
              <a:spcBef>
                <a:spcPts val="0"/>
              </a:spcBef>
              <a:spcAft>
                <a:spcPts val="0"/>
              </a:spcAft>
              <a:buClr>
                <a:srgbClr val="230E0E"/>
              </a:buClr>
              <a:buSzPts val="3250"/>
              <a:buFont typeface="Assistant"/>
              <a:buChar char="•"/>
            </a:pPr>
            <a:r>
              <a:rPr i="0" lang="en-US" sz="3250" u="none" cap="none" strike="noStrike">
                <a:solidFill>
                  <a:srgbClr val="230E0E"/>
                </a:solidFill>
                <a:latin typeface="Assistant"/>
                <a:ea typeface="Assistant"/>
                <a:cs typeface="Assistant"/>
                <a:sym typeface="Assistant"/>
              </a:rPr>
              <a:t>Electronic Mail (E-mail) and the Internet were developed in this generation.</a:t>
            </a:r>
            <a:endParaRPr sz="3250">
              <a:latin typeface="Assistant"/>
              <a:ea typeface="Assistant"/>
              <a:cs typeface="Assistant"/>
              <a:sym typeface="Assistant"/>
            </a:endParaRPr>
          </a:p>
          <a:p>
            <a:pPr indent="-350731" lvl="1" marL="701082" marR="0" rtl="0" algn="just">
              <a:lnSpc>
                <a:spcPct val="151000"/>
              </a:lnSpc>
              <a:spcBef>
                <a:spcPts val="0"/>
              </a:spcBef>
              <a:spcAft>
                <a:spcPts val="0"/>
              </a:spcAft>
              <a:buClr>
                <a:srgbClr val="230E0E"/>
              </a:buClr>
              <a:buSzPts val="3250"/>
              <a:buFont typeface="Assistant"/>
              <a:buChar char="•"/>
            </a:pPr>
            <a:r>
              <a:rPr i="0" lang="en-US" sz="3250" u="none" cap="none" strike="noStrike">
                <a:solidFill>
                  <a:srgbClr val="230E0E"/>
                </a:solidFill>
                <a:latin typeface="Assistant"/>
                <a:ea typeface="Assistant"/>
                <a:cs typeface="Assistant"/>
                <a:sym typeface="Assistant"/>
              </a:rPr>
              <a:t>The computer is used for all scientific, engineering, and commercial purposes.</a:t>
            </a:r>
            <a:endParaRPr sz="3250">
              <a:latin typeface="Assistant"/>
              <a:ea typeface="Assistant"/>
              <a:cs typeface="Assistant"/>
              <a:sym typeface="Assistant"/>
            </a:endParaRPr>
          </a:p>
          <a:p>
            <a:pPr indent="-350731" lvl="1" marL="701082" marR="0" rtl="0" algn="just">
              <a:lnSpc>
                <a:spcPct val="151000"/>
              </a:lnSpc>
              <a:spcBef>
                <a:spcPts val="0"/>
              </a:spcBef>
              <a:spcAft>
                <a:spcPts val="0"/>
              </a:spcAft>
              <a:buClr>
                <a:srgbClr val="230E0E"/>
              </a:buClr>
              <a:buSzPts val="3250"/>
              <a:buFont typeface="Assistant"/>
              <a:buChar char="•"/>
            </a:pPr>
            <a:r>
              <a:rPr i="0" lang="en-US" sz="3250" u="none" cap="none" strike="noStrike">
                <a:solidFill>
                  <a:srgbClr val="230E0E"/>
                </a:solidFill>
                <a:latin typeface="Assistant"/>
                <a:ea typeface="Assistant"/>
                <a:cs typeface="Assistant"/>
                <a:sym typeface="Assistant"/>
              </a:rPr>
              <a:t>On the computer, we can perform multiprocessing and multitasking.</a:t>
            </a:r>
            <a:endParaRPr sz="3250">
              <a:latin typeface="Assistant"/>
              <a:ea typeface="Assistant"/>
              <a:cs typeface="Assistant"/>
              <a:sym typeface="Assistant"/>
            </a:endParaRPr>
          </a:p>
          <a:p>
            <a:pPr indent="-350731" lvl="1" marL="701082" marR="0" rtl="0" algn="just">
              <a:lnSpc>
                <a:spcPct val="151000"/>
              </a:lnSpc>
              <a:spcBef>
                <a:spcPts val="0"/>
              </a:spcBef>
              <a:spcAft>
                <a:spcPts val="0"/>
              </a:spcAft>
              <a:buClr>
                <a:srgbClr val="230E0E"/>
              </a:buClr>
              <a:buSzPts val="3250"/>
              <a:buFont typeface="Assistant"/>
              <a:buChar char="•"/>
            </a:pPr>
            <a:r>
              <a:rPr i="0" lang="en-US" sz="3250" u="none" cap="none" strike="noStrike">
                <a:solidFill>
                  <a:srgbClr val="230E0E"/>
                </a:solidFill>
                <a:latin typeface="Assistant"/>
                <a:ea typeface="Assistant"/>
                <a:cs typeface="Assistant"/>
                <a:sym typeface="Assistant"/>
              </a:rPr>
              <a:t>The computer has GUI (Graphical User Interface) and is user-friendly.</a:t>
            </a:r>
            <a:endParaRPr sz="3250">
              <a:latin typeface="Assistant"/>
              <a:ea typeface="Assistant"/>
              <a:cs typeface="Assistant"/>
              <a:sym typeface="Assistant"/>
            </a:endParaRPr>
          </a:p>
          <a:p>
            <a:pPr indent="-350731" lvl="1" marL="701082" marR="0" rtl="0" algn="just">
              <a:lnSpc>
                <a:spcPct val="151000"/>
              </a:lnSpc>
              <a:spcBef>
                <a:spcPts val="0"/>
              </a:spcBef>
              <a:spcAft>
                <a:spcPts val="0"/>
              </a:spcAft>
              <a:buClr>
                <a:srgbClr val="230E0E"/>
              </a:buClr>
              <a:buSzPts val="3250"/>
              <a:buFont typeface="Assistant"/>
              <a:buChar char="•"/>
            </a:pPr>
            <a:r>
              <a:rPr i="0" lang="en-US" sz="3250" u="none" cap="none" strike="noStrike">
                <a:solidFill>
                  <a:srgbClr val="230E0E"/>
                </a:solidFill>
                <a:latin typeface="Assistant"/>
                <a:ea typeface="Assistant"/>
                <a:cs typeface="Assistant"/>
                <a:sym typeface="Assistant"/>
              </a:rPr>
              <a:t>Multiple high-level languages like PASCAL, BASIC COBOL, FORTRAN, and C language were developed in this generation of computers.</a:t>
            </a:r>
            <a:endParaRPr sz="3250">
              <a:latin typeface="Assistant"/>
              <a:ea typeface="Assistant"/>
              <a:cs typeface="Assistant"/>
              <a:sym typeface="Assistant"/>
            </a:endParaRPr>
          </a:p>
          <a:p>
            <a:pPr indent="-350731" lvl="1" marL="701082" marR="0" rtl="0" algn="just">
              <a:lnSpc>
                <a:spcPct val="151000"/>
              </a:lnSpc>
              <a:spcBef>
                <a:spcPts val="0"/>
              </a:spcBef>
              <a:spcAft>
                <a:spcPts val="0"/>
              </a:spcAft>
              <a:buClr>
                <a:srgbClr val="230E0E"/>
              </a:buClr>
              <a:buSzPts val="3250"/>
              <a:buFont typeface="Assistant"/>
              <a:buChar char="•"/>
            </a:pPr>
            <a:r>
              <a:rPr i="0" lang="en-US" sz="3250" u="none" cap="none" strike="noStrike">
                <a:solidFill>
                  <a:srgbClr val="230E0E"/>
                </a:solidFill>
                <a:latin typeface="Assistant"/>
                <a:ea typeface="Assistant"/>
                <a:cs typeface="Assistant"/>
                <a:sym typeface="Assistant"/>
              </a:rPr>
              <a:t>They emerged as single-board computers and a single-chip processor called Microprocessors.</a:t>
            </a:r>
            <a:endParaRPr sz="3250">
              <a:latin typeface="Assistant"/>
              <a:ea typeface="Assistant"/>
              <a:cs typeface="Assistant"/>
              <a:sym typeface="Assistan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593" name="Shape 593"/>
        <p:cNvGrpSpPr/>
        <p:nvPr/>
      </p:nvGrpSpPr>
      <p:grpSpPr>
        <a:xfrm>
          <a:off x="0" y="0"/>
          <a:ext cx="0" cy="0"/>
          <a:chOff x="0" y="0"/>
          <a:chExt cx="0" cy="0"/>
        </a:xfrm>
      </p:grpSpPr>
      <p:grpSp>
        <p:nvGrpSpPr>
          <p:cNvPr id="594" name="Google Shape;594;p34"/>
          <p:cNvGrpSpPr/>
          <p:nvPr/>
        </p:nvGrpSpPr>
        <p:grpSpPr>
          <a:xfrm>
            <a:off x="0" y="-144661"/>
            <a:ext cx="18288000" cy="10431661"/>
            <a:chOff x="0" y="-38100"/>
            <a:chExt cx="4816593" cy="2747433"/>
          </a:xfrm>
        </p:grpSpPr>
        <p:sp>
          <p:nvSpPr>
            <p:cNvPr id="595" name="Google Shape;595;p34"/>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596" name="Google Shape;596;p34"/>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97" name="Google Shape;597;p34"/>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598" name="Google Shape;598;p34"/>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599" name="Google Shape;599;p34"/>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600" name="Google Shape;600;p34"/>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601" name="Google Shape;601;p34"/>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602" name="Google Shape;602;p34"/>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603" name="Google Shape;603;p34"/>
          <p:cNvSpPr txBox="1"/>
          <p:nvPr/>
        </p:nvSpPr>
        <p:spPr>
          <a:xfrm>
            <a:off x="2057400" y="1589403"/>
            <a:ext cx="14159700" cy="16254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400" u="none" cap="none" strike="noStrike">
                <a:solidFill>
                  <a:srgbClr val="230E0E"/>
                </a:solidFill>
              </a:rPr>
              <a:t>LIMITATIONS OF FOURTH GENERATION COMPUTERS</a:t>
            </a:r>
            <a:endParaRPr b="1" sz="4400"/>
          </a:p>
        </p:txBody>
      </p:sp>
      <p:grpSp>
        <p:nvGrpSpPr>
          <p:cNvPr id="604" name="Google Shape;604;p34"/>
          <p:cNvGrpSpPr/>
          <p:nvPr/>
        </p:nvGrpSpPr>
        <p:grpSpPr>
          <a:xfrm>
            <a:off x="2634557" y="3337723"/>
            <a:ext cx="12911607" cy="1071205"/>
            <a:chOff x="0" y="-38100"/>
            <a:chExt cx="4392959" cy="364460"/>
          </a:xfrm>
        </p:grpSpPr>
        <p:sp>
          <p:nvSpPr>
            <p:cNvPr id="605" name="Google Shape;605;p34"/>
            <p:cNvSpPr/>
            <p:nvPr/>
          </p:nvSpPr>
          <p:spPr>
            <a:xfrm>
              <a:off x="0" y="0"/>
              <a:ext cx="4392959" cy="326360"/>
            </a:xfrm>
            <a:custGeom>
              <a:rect b="b" l="l" r="r" t="t"/>
              <a:pathLst>
                <a:path extrusionOk="0" h="326360" w="4392959">
                  <a:moveTo>
                    <a:pt x="0" y="0"/>
                  </a:moveTo>
                  <a:lnTo>
                    <a:pt x="4392959" y="0"/>
                  </a:lnTo>
                  <a:lnTo>
                    <a:pt x="4392959" y="326360"/>
                  </a:lnTo>
                  <a:lnTo>
                    <a:pt x="0" y="326360"/>
                  </a:lnTo>
                  <a:close/>
                </a:path>
              </a:pathLst>
            </a:custGeom>
            <a:solidFill>
              <a:srgbClr val="DFD0B8"/>
            </a:solidFill>
            <a:ln>
              <a:noFill/>
            </a:ln>
          </p:spPr>
        </p:sp>
        <p:sp>
          <p:nvSpPr>
            <p:cNvPr id="606" name="Google Shape;606;p34"/>
            <p:cNvSpPr txBox="1"/>
            <p:nvPr/>
          </p:nvSpPr>
          <p:spPr>
            <a:xfrm>
              <a:off x="0" y="-38100"/>
              <a:ext cx="4392959" cy="364460"/>
            </a:xfrm>
            <a:prstGeom prst="rect">
              <a:avLst/>
            </a:prstGeom>
            <a:noFill/>
            <a:ln>
              <a:noFill/>
            </a:ln>
          </p:spPr>
          <p:txBody>
            <a:bodyPr anchorCtr="0" anchor="ctr" bIns="50800" lIns="50800" spcFirstLastPara="1" rIns="50800" wrap="square" tIns="50800">
              <a:noAutofit/>
            </a:bodyPr>
            <a:lstStyle/>
            <a:p>
              <a:pPr indent="-385831" lvl="1" marL="771660" rtl="0" algn="just">
                <a:lnSpc>
                  <a:spcPct val="150979"/>
                </a:lnSpc>
                <a:spcBef>
                  <a:spcPts val="0"/>
                </a:spcBef>
                <a:spcAft>
                  <a:spcPts val="0"/>
                </a:spcAft>
                <a:buClr>
                  <a:srgbClr val="230E0E"/>
                </a:buClr>
                <a:buSzPts val="3574"/>
                <a:buChar char="•"/>
              </a:pPr>
              <a:r>
                <a:rPr lang="en-US" sz="3574">
                  <a:solidFill>
                    <a:srgbClr val="230E0E"/>
                  </a:solidFill>
                  <a:latin typeface="Assistant"/>
                  <a:ea typeface="Assistant"/>
                  <a:cs typeface="Assistant"/>
                  <a:sym typeface="Assistant"/>
                </a:rPr>
                <a:t>They were highly sophisticated.</a:t>
              </a:r>
              <a:endParaRPr sz="1800">
                <a:solidFill>
                  <a:schemeClr val="dk1"/>
                </a:solidFill>
                <a:latin typeface="Calibri"/>
                <a:ea typeface="Calibri"/>
                <a:cs typeface="Calibri"/>
                <a:sym typeface="Calibri"/>
              </a:endParaRPr>
            </a:p>
          </p:txBody>
        </p:sp>
      </p:grpSp>
      <p:grpSp>
        <p:nvGrpSpPr>
          <p:cNvPr id="607" name="Google Shape;607;p34"/>
          <p:cNvGrpSpPr/>
          <p:nvPr/>
        </p:nvGrpSpPr>
        <p:grpSpPr>
          <a:xfrm>
            <a:off x="2634550" y="5016225"/>
            <a:ext cx="12911614" cy="1439896"/>
            <a:chOff x="-2" y="-2"/>
            <a:chExt cx="4392961" cy="489900"/>
          </a:xfrm>
        </p:grpSpPr>
        <p:sp>
          <p:nvSpPr>
            <p:cNvPr id="608" name="Google Shape;608;p34"/>
            <p:cNvSpPr/>
            <p:nvPr/>
          </p:nvSpPr>
          <p:spPr>
            <a:xfrm>
              <a:off x="0" y="0"/>
              <a:ext cx="4392959" cy="489848"/>
            </a:xfrm>
            <a:custGeom>
              <a:rect b="b" l="l" r="r" t="t"/>
              <a:pathLst>
                <a:path extrusionOk="0" h="489848" w="4392959">
                  <a:moveTo>
                    <a:pt x="0" y="0"/>
                  </a:moveTo>
                  <a:lnTo>
                    <a:pt x="4392959" y="0"/>
                  </a:lnTo>
                  <a:lnTo>
                    <a:pt x="4392959" y="489848"/>
                  </a:lnTo>
                  <a:lnTo>
                    <a:pt x="0" y="489848"/>
                  </a:lnTo>
                  <a:close/>
                </a:path>
              </a:pathLst>
            </a:custGeom>
            <a:solidFill>
              <a:srgbClr val="DFD0B8"/>
            </a:solidFill>
            <a:ln>
              <a:noFill/>
            </a:ln>
          </p:spPr>
        </p:sp>
        <p:sp>
          <p:nvSpPr>
            <p:cNvPr id="609" name="Google Shape;609;p34"/>
            <p:cNvSpPr txBox="1"/>
            <p:nvPr/>
          </p:nvSpPr>
          <p:spPr>
            <a:xfrm>
              <a:off x="-2" y="-2"/>
              <a:ext cx="4392900" cy="489900"/>
            </a:xfrm>
            <a:prstGeom prst="rect">
              <a:avLst/>
            </a:prstGeom>
            <a:noFill/>
            <a:ln>
              <a:noFill/>
            </a:ln>
          </p:spPr>
          <p:txBody>
            <a:bodyPr anchorCtr="0" anchor="ctr" bIns="50800" lIns="50800" spcFirstLastPara="1" rIns="50800" wrap="square" tIns="50800">
              <a:noAutofit/>
            </a:bodyPr>
            <a:lstStyle/>
            <a:p>
              <a:pPr indent="-385831" lvl="1" marL="771660" rtl="0" algn="just">
                <a:lnSpc>
                  <a:spcPct val="150979"/>
                </a:lnSpc>
                <a:spcBef>
                  <a:spcPts val="0"/>
                </a:spcBef>
                <a:spcAft>
                  <a:spcPts val="0"/>
                </a:spcAft>
                <a:buClr>
                  <a:srgbClr val="230E0E"/>
                </a:buClr>
                <a:buSzPts val="3574"/>
                <a:buChar char="•"/>
              </a:pPr>
              <a:r>
                <a:rPr lang="en-US" sz="3574">
                  <a:solidFill>
                    <a:srgbClr val="230E0E"/>
                  </a:solidFill>
                  <a:latin typeface="Assistant"/>
                  <a:ea typeface="Assistant"/>
                  <a:cs typeface="Assistant"/>
                  <a:sym typeface="Assistant"/>
                </a:rPr>
                <a:t>The manufacturing of a Very Large-Scale Integration Chip needed very advanced technology.</a:t>
              </a:r>
              <a:endParaRPr sz="1800">
                <a:solidFill>
                  <a:schemeClr val="dk1"/>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613" name="Shape 613"/>
        <p:cNvGrpSpPr/>
        <p:nvPr/>
      </p:nvGrpSpPr>
      <p:grpSpPr>
        <a:xfrm>
          <a:off x="0" y="0"/>
          <a:ext cx="0" cy="0"/>
          <a:chOff x="0" y="0"/>
          <a:chExt cx="0" cy="0"/>
        </a:xfrm>
      </p:grpSpPr>
      <p:grpSp>
        <p:nvGrpSpPr>
          <p:cNvPr id="614" name="Google Shape;614;p35"/>
          <p:cNvGrpSpPr/>
          <p:nvPr/>
        </p:nvGrpSpPr>
        <p:grpSpPr>
          <a:xfrm>
            <a:off x="0" y="-144661"/>
            <a:ext cx="18288000" cy="10431661"/>
            <a:chOff x="0" y="-38100"/>
            <a:chExt cx="4816593" cy="2747433"/>
          </a:xfrm>
        </p:grpSpPr>
        <p:sp>
          <p:nvSpPr>
            <p:cNvPr id="615" name="Google Shape;615;p35"/>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616" name="Google Shape;616;p35"/>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7" name="Google Shape;617;p35"/>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618" name="Google Shape;618;p35"/>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619" name="Google Shape;619;p35"/>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620" name="Google Shape;620;p35"/>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621" name="Google Shape;621;p35"/>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622" name="Google Shape;622;p35"/>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623" name="Google Shape;623;p35"/>
          <p:cNvSpPr txBox="1"/>
          <p:nvPr/>
        </p:nvSpPr>
        <p:spPr>
          <a:xfrm>
            <a:off x="2057400" y="1589403"/>
            <a:ext cx="14159700" cy="6774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400" u="none" cap="none" strike="noStrike">
                <a:solidFill>
                  <a:srgbClr val="230E0E"/>
                </a:solidFill>
              </a:rPr>
              <a:t>EXAMPLES OF THIRD GENERATION COMPUTERS</a:t>
            </a:r>
            <a:endParaRPr b="1" sz="4400"/>
          </a:p>
        </p:txBody>
      </p:sp>
      <p:grpSp>
        <p:nvGrpSpPr>
          <p:cNvPr id="624" name="Google Shape;624;p35"/>
          <p:cNvGrpSpPr/>
          <p:nvPr/>
        </p:nvGrpSpPr>
        <p:grpSpPr>
          <a:xfrm>
            <a:off x="4336858" y="2567606"/>
            <a:ext cx="8247743" cy="809652"/>
            <a:chOff x="0" y="-38100"/>
            <a:chExt cx="2806157" cy="275471"/>
          </a:xfrm>
        </p:grpSpPr>
        <p:sp>
          <p:nvSpPr>
            <p:cNvPr id="625" name="Google Shape;625;p35"/>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626" name="Google Shape;626;p35"/>
            <p:cNvSpPr txBox="1"/>
            <p:nvPr/>
          </p:nvSpPr>
          <p:spPr>
            <a:xfrm>
              <a:off x="0" y="-38100"/>
              <a:ext cx="2806157" cy="27547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7" name="Google Shape;627;p35"/>
          <p:cNvGrpSpPr/>
          <p:nvPr/>
        </p:nvGrpSpPr>
        <p:grpSpPr>
          <a:xfrm>
            <a:off x="4336858" y="3724658"/>
            <a:ext cx="8247743" cy="809652"/>
            <a:chOff x="0" y="-38100"/>
            <a:chExt cx="2806157" cy="275471"/>
          </a:xfrm>
        </p:grpSpPr>
        <p:sp>
          <p:nvSpPr>
            <p:cNvPr id="628" name="Google Shape;628;p35"/>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629" name="Google Shape;629;p35"/>
            <p:cNvSpPr txBox="1"/>
            <p:nvPr/>
          </p:nvSpPr>
          <p:spPr>
            <a:xfrm>
              <a:off x="0" y="-38100"/>
              <a:ext cx="2806157" cy="27547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30" name="Google Shape;630;p35"/>
          <p:cNvGrpSpPr/>
          <p:nvPr/>
        </p:nvGrpSpPr>
        <p:grpSpPr>
          <a:xfrm>
            <a:off x="4336850" y="5001036"/>
            <a:ext cx="8247869" cy="697670"/>
            <a:chOff x="-3" y="0"/>
            <a:chExt cx="2806200" cy="237371"/>
          </a:xfrm>
        </p:grpSpPr>
        <p:sp>
          <p:nvSpPr>
            <p:cNvPr id="631" name="Google Shape;631;p35"/>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632" name="Google Shape;632;p35"/>
            <p:cNvSpPr txBox="1"/>
            <p:nvPr/>
          </p:nvSpPr>
          <p:spPr>
            <a:xfrm>
              <a:off x="-3" y="6826"/>
              <a:ext cx="2806200" cy="230400"/>
            </a:xfrm>
            <a:prstGeom prst="rect">
              <a:avLst/>
            </a:prstGeom>
            <a:noFill/>
            <a:ln>
              <a:noFill/>
            </a:ln>
          </p:spPr>
          <p:txBody>
            <a:bodyPr anchorCtr="0" anchor="ctr" bIns="50800" lIns="50800" spcFirstLastPara="1" rIns="50800" wrap="square" tIns="50800">
              <a:noAutofit/>
            </a:bodyPr>
            <a:lstStyle/>
            <a:p>
              <a:pPr indent="-365662" lvl="1" marL="665538" rtl="0" algn="just">
                <a:lnSpc>
                  <a:spcPct val="151005"/>
                </a:lnSpc>
                <a:spcBef>
                  <a:spcPts val="0"/>
                </a:spcBef>
                <a:spcAft>
                  <a:spcPts val="0"/>
                </a:spcAft>
                <a:buClr>
                  <a:srgbClr val="230E0E"/>
                </a:buClr>
                <a:buSzPts val="3600"/>
                <a:buChar char="•"/>
              </a:pPr>
              <a:r>
                <a:rPr lang="en-US" sz="3600">
                  <a:solidFill>
                    <a:srgbClr val="230E0E"/>
                  </a:solidFill>
                  <a:latin typeface="Assistant"/>
                  <a:ea typeface="Assistant"/>
                  <a:cs typeface="Assistant"/>
                  <a:sym typeface="Assistant"/>
                </a:rPr>
                <a:t>Pentium I, II, &amp; III</a:t>
              </a:r>
              <a:r>
                <a:rPr lang="en-US" sz="3600">
                  <a:solidFill>
                    <a:srgbClr val="230E0E"/>
                  </a:solidFill>
                  <a:latin typeface="Assistant"/>
                  <a:ea typeface="Assistant"/>
                  <a:cs typeface="Assistant"/>
                  <a:sym typeface="Assistant"/>
                </a:rPr>
                <a:t> </a:t>
              </a:r>
              <a:endParaRPr b="0" i="0" sz="1800" u="none" cap="none" strike="noStrike">
                <a:solidFill>
                  <a:schemeClr val="dk1"/>
                </a:solidFill>
                <a:latin typeface="Calibri"/>
                <a:ea typeface="Calibri"/>
                <a:cs typeface="Calibri"/>
                <a:sym typeface="Calibri"/>
              </a:endParaRPr>
            </a:p>
          </p:txBody>
        </p:sp>
      </p:grpSp>
      <p:grpSp>
        <p:nvGrpSpPr>
          <p:cNvPr id="633" name="Google Shape;633;p35"/>
          <p:cNvGrpSpPr/>
          <p:nvPr/>
        </p:nvGrpSpPr>
        <p:grpSpPr>
          <a:xfrm>
            <a:off x="4336850" y="6222320"/>
            <a:ext cx="8247983" cy="601190"/>
            <a:chOff x="0" y="0"/>
            <a:chExt cx="2806200" cy="237371"/>
          </a:xfrm>
        </p:grpSpPr>
        <p:sp>
          <p:nvSpPr>
            <p:cNvPr id="634" name="Google Shape;634;p35"/>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635" name="Google Shape;635;p35"/>
            <p:cNvSpPr txBox="1"/>
            <p:nvPr/>
          </p:nvSpPr>
          <p:spPr>
            <a:xfrm>
              <a:off x="0" y="2"/>
              <a:ext cx="2806200" cy="237300"/>
            </a:xfrm>
            <a:prstGeom prst="rect">
              <a:avLst/>
            </a:prstGeom>
            <a:noFill/>
            <a:ln>
              <a:noFill/>
            </a:ln>
          </p:spPr>
          <p:txBody>
            <a:bodyPr anchorCtr="0" anchor="ctr" bIns="50800" lIns="50800" spcFirstLastPara="1" rIns="50800" wrap="square" tIns="50800">
              <a:noAutofit/>
            </a:bodyPr>
            <a:lstStyle/>
            <a:p>
              <a:pPr indent="-365662" lvl="1" marL="665538" rtl="0" algn="just">
                <a:lnSpc>
                  <a:spcPct val="151005"/>
                </a:lnSpc>
                <a:spcBef>
                  <a:spcPts val="0"/>
                </a:spcBef>
                <a:spcAft>
                  <a:spcPts val="0"/>
                </a:spcAft>
                <a:buClr>
                  <a:srgbClr val="230E0E"/>
                </a:buClr>
                <a:buSzPts val="3600"/>
                <a:buChar char="•"/>
              </a:pPr>
              <a:r>
                <a:rPr lang="en-US" sz="3600">
                  <a:solidFill>
                    <a:srgbClr val="230E0E"/>
                  </a:solidFill>
                  <a:latin typeface="Assistant"/>
                  <a:ea typeface="Assistant"/>
                  <a:cs typeface="Assistant"/>
                  <a:sym typeface="Assistant"/>
                </a:rPr>
                <a:t>Apple II</a:t>
              </a:r>
              <a:endParaRPr b="0" i="0" sz="1800" u="none" cap="none" strike="noStrike">
                <a:solidFill>
                  <a:schemeClr val="dk1"/>
                </a:solidFill>
                <a:latin typeface="Calibri"/>
                <a:ea typeface="Calibri"/>
                <a:cs typeface="Calibri"/>
                <a:sym typeface="Calibri"/>
              </a:endParaRPr>
            </a:p>
          </p:txBody>
        </p:sp>
      </p:grpSp>
      <p:grpSp>
        <p:nvGrpSpPr>
          <p:cNvPr id="636" name="Google Shape;636;p35"/>
          <p:cNvGrpSpPr/>
          <p:nvPr/>
        </p:nvGrpSpPr>
        <p:grpSpPr>
          <a:xfrm>
            <a:off x="4336850" y="7309276"/>
            <a:ext cx="8247869" cy="697681"/>
            <a:chOff x="-3" y="-4"/>
            <a:chExt cx="2806200" cy="237375"/>
          </a:xfrm>
        </p:grpSpPr>
        <p:sp>
          <p:nvSpPr>
            <p:cNvPr id="637" name="Google Shape;637;p35"/>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638" name="Google Shape;638;p35"/>
            <p:cNvSpPr txBox="1"/>
            <p:nvPr/>
          </p:nvSpPr>
          <p:spPr>
            <a:xfrm>
              <a:off x="-3" y="-4"/>
              <a:ext cx="2806200" cy="237300"/>
            </a:xfrm>
            <a:prstGeom prst="rect">
              <a:avLst/>
            </a:prstGeom>
            <a:noFill/>
            <a:ln>
              <a:noFill/>
            </a:ln>
          </p:spPr>
          <p:txBody>
            <a:bodyPr anchorCtr="0" anchor="ctr" bIns="50800" lIns="50800" spcFirstLastPara="1" rIns="50800" wrap="square" tIns="50800">
              <a:noAutofit/>
            </a:bodyPr>
            <a:lstStyle/>
            <a:p>
              <a:pPr indent="-365662" lvl="1" marL="665538" rtl="0" algn="just">
                <a:lnSpc>
                  <a:spcPct val="151005"/>
                </a:lnSpc>
                <a:spcBef>
                  <a:spcPts val="0"/>
                </a:spcBef>
                <a:spcAft>
                  <a:spcPts val="0"/>
                </a:spcAft>
                <a:buClr>
                  <a:srgbClr val="230E0E"/>
                </a:buClr>
                <a:buSzPts val="3600"/>
                <a:buChar char="•"/>
              </a:pPr>
              <a:r>
                <a:rPr lang="en-US" sz="3600">
                  <a:solidFill>
                    <a:srgbClr val="230E0E"/>
                  </a:solidFill>
                  <a:latin typeface="Assistant"/>
                  <a:ea typeface="Assistant"/>
                  <a:cs typeface="Assistant"/>
                  <a:sym typeface="Assistant"/>
                </a:rPr>
                <a:t>VAX 9000</a:t>
              </a:r>
              <a:endParaRPr b="0" i="0" sz="1800" u="none" cap="none" strike="noStrike">
                <a:solidFill>
                  <a:schemeClr val="dk1"/>
                </a:solidFill>
                <a:latin typeface="Calibri"/>
                <a:ea typeface="Calibri"/>
                <a:cs typeface="Calibri"/>
                <a:sym typeface="Calibri"/>
              </a:endParaRPr>
            </a:p>
          </p:txBody>
        </p:sp>
      </p:grpSp>
      <p:grpSp>
        <p:nvGrpSpPr>
          <p:cNvPr id="639" name="Google Shape;639;p35"/>
          <p:cNvGrpSpPr/>
          <p:nvPr/>
        </p:nvGrpSpPr>
        <p:grpSpPr>
          <a:xfrm>
            <a:off x="4336850" y="8589220"/>
            <a:ext cx="8247983" cy="601190"/>
            <a:chOff x="0" y="0"/>
            <a:chExt cx="2806200" cy="237371"/>
          </a:xfrm>
        </p:grpSpPr>
        <p:sp>
          <p:nvSpPr>
            <p:cNvPr id="640" name="Google Shape;640;p35"/>
            <p:cNvSpPr/>
            <p:nvPr/>
          </p:nvSpPr>
          <p:spPr>
            <a:xfrm>
              <a:off x="0" y="0"/>
              <a:ext cx="2806157" cy="237371"/>
            </a:xfrm>
            <a:custGeom>
              <a:rect b="b" l="l" r="r" t="t"/>
              <a:pathLst>
                <a:path extrusionOk="0" h="237371" w="2806157">
                  <a:moveTo>
                    <a:pt x="0" y="0"/>
                  </a:moveTo>
                  <a:lnTo>
                    <a:pt x="2806157" y="0"/>
                  </a:lnTo>
                  <a:lnTo>
                    <a:pt x="2806157" y="237371"/>
                  </a:lnTo>
                  <a:lnTo>
                    <a:pt x="0" y="237371"/>
                  </a:lnTo>
                  <a:close/>
                </a:path>
              </a:pathLst>
            </a:custGeom>
            <a:solidFill>
              <a:srgbClr val="DFD0B8"/>
            </a:solidFill>
            <a:ln>
              <a:noFill/>
            </a:ln>
          </p:spPr>
        </p:sp>
        <p:sp>
          <p:nvSpPr>
            <p:cNvPr id="641" name="Google Shape;641;p35"/>
            <p:cNvSpPr txBox="1"/>
            <p:nvPr/>
          </p:nvSpPr>
          <p:spPr>
            <a:xfrm>
              <a:off x="0" y="3"/>
              <a:ext cx="2806200" cy="237300"/>
            </a:xfrm>
            <a:prstGeom prst="rect">
              <a:avLst/>
            </a:prstGeom>
            <a:noFill/>
            <a:ln>
              <a:noFill/>
            </a:ln>
          </p:spPr>
          <p:txBody>
            <a:bodyPr anchorCtr="0" anchor="ctr" bIns="50800" lIns="50800" spcFirstLastPara="1" rIns="50800" wrap="square" tIns="50800">
              <a:noAutofit/>
            </a:bodyPr>
            <a:lstStyle/>
            <a:p>
              <a:pPr indent="-365662" lvl="1" marL="665538" rtl="0" algn="just">
                <a:lnSpc>
                  <a:spcPct val="151005"/>
                </a:lnSpc>
                <a:spcBef>
                  <a:spcPts val="0"/>
                </a:spcBef>
                <a:spcAft>
                  <a:spcPts val="0"/>
                </a:spcAft>
                <a:buClr>
                  <a:srgbClr val="230E0E"/>
                </a:buClr>
                <a:buSzPts val="3600"/>
                <a:buChar char="•"/>
              </a:pPr>
              <a:r>
                <a:rPr lang="en-US" sz="3600">
                  <a:solidFill>
                    <a:srgbClr val="230E0E"/>
                  </a:solidFill>
                  <a:latin typeface="Assistant"/>
                  <a:ea typeface="Assistant"/>
                  <a:cs typeface="Assistant"/>
                  <a:sym typeface="Assistant"/>
                </a:rPr>
                <a:t>CRAY 1</a:t>
              </a:r>
              <a:endParaRPr b="0" i="0" sz="1800" u="none" cap="none" strike="noStrike">
                <a:solidFill>
                  <a:schemeClr val="dk1"/>
                </a:solidFill>
                <a:latin typeface="Calibri"/>
                <a:ea typeface="Calibri"/>
                <a:cs typeface="Calibri"/>
                <a:sym typeface="Calibri"/>
              </a:endParaRPr>
            </a:p>
          </p:txBody>
        </p:sp>
      </p:grpSp>
      <p:sp>
        <p:nvSpPr>
          <p:cNvPr id="642" name="Google Shape;642;p35"/>
          <p:cNvSpPr txBox="1"/>
          <p:nvPr/>
        </p:nvSpPr>
        <p:spPr>
          <a:xfrm>
            <a:off x="4336775" y="2710773"/>
            <a:ext cx="8247900" cy="677400"/>
          </a:xfrm>
          <a:prstGeom prst="rect">
            <a:avLst/>
          </a:prstGeom>
          <a:noFill/>
          <a:ln>
            <a:noFill/>
          </a:ln>
        </p:spPr>
        <p:txBody>
          <a:bodyPr anchorCtr="0" anchor="ctr" bIns="0" lIns="0" spcFirstLastPara="1" rIns="0" wrap="square" tIns="0">
            <a:noAutofit/>
          </a:bodyPr>
          <a:lstStyle/>
          <a:p>
            <a:pPr indent="-365662" lvl="1" marL="665538" marR="0" rtl="0" algn="just">
              <a:lnSpc>
                <a:spcPct val="151005"/>
              </a:lnSpc>
              <a:spcBef>
                <a:spcPts val="0"/>
              </a:spcBef>
              <a:spcAft>
                <a:spcPts val="0"/>
              </a:spcAft>
              <a:buClr>
                <a:srgbClr val="230E0E"/>
              </a:buClr>
              <a:buSzPts val="3600"/>
              <a:buFont typeface="Arial"/>
              <a:buChar char="•"/>
            </a:pPr>
            <a:r>
              <a:rPr b="0" i="0" lang="en-US" sz="3600" u="none" cap="none" strike="noStrike">
                <a:solidFill>
                  <a:srgbClr val="230E0E"/>
                </a:solidFill>
                <a:latin typeface="Assistant"/>
                <a:ea typeface="Assistant"/>
                <a:cs typeface="Assistant"/>
                <a:sym typeface="Assistant"/>
              </a:rPr>
              <a:t>MAC </a:t>
            </a:r>
            <a:r>
              <a:rPr b="0" i="0" lang="en-US" sz="3600" u="none" cap="none" strike="noStrike">
                <a:solidFill>
                  <a:srgbClr val="230E0E"/>
                </a:solidFill>
                <a:latin typeface="Assistant"/>
                <a:ea typeface="Assistant"/>
                <a:cs typeface="Assistant"/>
                <a:sym typeface="Assistant"/>
              </a:rPr>
              <a:t>Notebook</a:t>
            </a:r>
            <a:endParaRPr b="0" i="0" sz="3600" u="none" cap="none" strike="noStrike">
              <a:solidFill>
                <a:srgbClr val="230E0E"/>
              </a:solidFill>
              <a:latin typeface="Assistant"/>
              <a:ea typeface="Assistant"/>
              <a:cs typeface="Assistant"/>
              <a:sym typeface="Assistant"/>
            </a:endParaRPr>
          </a:p>
        </p:txBody>
      </p:sp>
      <p:sp>
        <p:nvSpPr>
          <p:cNvPr id="643" name="Google Shape;643;p35"/>
          <p:cNvSpPr txBox="1"/>
          <p:nvPr/>
        </p:nvSpPr>
        <p:spPr>
          <a:xfrm>
            <a:off x="4336700" y="3799911"/>
            <a:ext cx="8247900" cy="677400"/>
          </a:xfrm>
          <a:prstGeom prst="rect">
            <a:avLst/>
          </a:prstGeom>
          <a:noFill/>
          <a:ln>
            <a:noFill/>
          </a:ln>
        </p:spPr>
        <p:txBody>
          <a:bodyPr anchorCtr="0" anchor="ctr" bIns="0" lIns="0" spcFirstLastPara="1" rIns="0" wrap="square" tIns="0">
            <a:noAutofit/>
          </a:bodyPr>
          <a:lstStyle/>
          <a:p>
            <a:pPr indent="-365662" lvl="1" marL="665538" marR="0" rtl="0" algn="just">
              <a:lnSpc>
                <a:spcPct val="151005"/>
              </a:lnSpc>
              <a:spcBef>
                <a:spcPts val="0"/>
              </a:spcBef>
              <a:spcAft>
                <a:spcPts val="0"/>
              </a:spcAft>
              <a:buClr>
                <a:srgbClr val="230E0E"/>
              </a:buClr>
              <a:buSzPts val="3600"/>
              <a:buFont typeface="Arial"/>
              <a:buChar char="•"/>
            </a:pPr>
            <a:r>
              <a:rPr lang="en-US" sz="3600">
                <a:solidFill>
                  <a:srgbClr val="230E0E"/>
                </a:solidFill>
                <a:latin typeface="Assistant"/>
                <a:ea typeface="Assistant"/>
                <a:cs typeface="Assistant"/>
                <a:sym typeface="Assistant"/>
              </a:rPr>
              <a:t>IBM-PC</a:t>
            </a:r>
            <a:endParaRPr b="0" i="0" sz="3600" u="none" cap="none" strike="noStrike">
              <a:solidFill>
                <a:srgbClr val="230E0E"/>
              </a:solidFill>
              <a:latin typeface="Assistant"/>
              <a:ea typeface="Assistant"/>
              <a:cs typeface="Assistant"/>
              <a:sym typeface="Assistan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651" name="Shape 651"/>
        <p:cNvGrpSpPr/>
        <p:nvPr/>
      </p:nvGrpSpPr>
      <p:grpSpPr>
        <a:xfrm>
          <a:off x="0" y="0"/>
          <a:ext cx="0" cy="0"/>
          <a:chOff x="0" y="0"/>
          <a:chExt cx="0" cy="0"/>
        </a:xfrm>
      </p:grpSpPr>
      <p:grpSp>
        <p:nvGrpSpPr>
          <p:cNvPr id="652" name="Google Shape;652;p36"/>
          <p:cNvGrpSpPr/>
          <p:nvPr/>
        </p:nvGrpSpPr>
        <p:grpSpPr>
          <a:xfrm>
            <a:off x="0" y="-144661"/>
            <a:ext cx="18288000" cy="10431661"/>
            <a:chOff x="0" y="-38100"/>
            <a:chExt cx="4816593" cy="2747433"/>
          </a:xfrm>
        </p:grpSpPr>
        <p:sp>
          <p:nvSpPr>
            <p:cNvPr id="653" name="Google Shape;653;p36"/>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654" name="Google Shape;654;p36"/>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55" name="Google Shape;655;p36"/>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656" name="Google Shape;656;p36"/>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657" name="Google Shape;657;p36"/>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658" name="Google Shape;658;p36"/>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659" name="Google Shape;659;p36"/>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660" name="Google Shape;660;p36"/>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661" name="Google Shape;661;p36"/>
          <p:cNvSpPr txBox="1"/>
          <p:nvPr/>
        </p:nvSpPr>
        <p:spPr>
          <a:xfrm>
            <a:off x="2325850" y="1743375"/>
            <a:ext cx="13392900" cy="7950600"/>
          </a:xfrm>
          <a:prstGeom prst="rect">
            <a:avLst/>
          </a:prstGeom>
          <a:noFill/>
          <a:ln>
            <a:noFill/>
          </a:ln>
        </p:spPr>
        <p:txBody>
          <a:bodyPr anchorCtr="0" anchor="t" bIns="0" lIns="0" spcFirstLastPara="1" rIns="0" wrap="square" tIns="0">
            <a:noAutofit/>
          </a:bodyPr>
          <a:lstStyle/>
          <a:p>
            <a:pPr indent="0" lvl="0" marL="0" marR="0" rtl="0" algn="just">
              <a:lnSpc>
                <a:spcPct val="150999"/>
              </a:lnSpc>
              <a:spcBef>
                <a:spcPts val="0"/>
              </a:spcBef>
              <a:spcAft>
                <a:spcPts val="0"/>
              </a:spcAft>
              <a:buNone/>
            </a:pPr>
            <a:r>
              <a:rPr i="0" lang="en-US" sz="3300" u="none" cap="none" strike="noStrike">
                <a:solidFill>
                  <a:srgbClr val="230E0E"/>
                </a:solidFill>
                <a:latin typeface="Assistant"/>
                <a:ea typeface="Assistant"/>
                <a:cs typeface="Assistant"/>
                <a:sym typeface="Assistant"/>
              </a:rPr>
              <a:t>Tomorrow’s computers would be characterized by Artificial Intelligence (AI) and ULSI (Ultra Large-Scale Integration) technology that can store millions of components in a single chip. An example of Al is Expert Systems. Computers could be developed to think and sense much the same way as humans. Computers would be able to accept verbal words as input (voice recognition). </a:t>
            </a:r>
            <a:endParaRPr sz="3300">
              <a:latin typeface="Assistant"/>
              <a:ea typeface="Assistant"/>
              <a:cs typeface="Assistant"/>
              <a:sym typeface="Assistant"/>
            </a:endParaRPr>
          </a:p>
          <a:p>
            <a:pPr indent="0" lvl="0" marL="0" marR="0" rtl="0" algn="just">
              <a:lnSpc>
                <a:spcPct val="150999"/>
              </a:lnSpc>
              <a:spcBef>
                <a:spcPts val="0"/>
              </a:spcBef>
              <a:spcAft>
                <a:spcPts val="0"/>
              </a:spcAft>
              <a:buNone/>
            </a:pPr>
            <a:r>
              <a:rPr i="0" lang="en-US" sz="3300" u="none" cap="none" strike="noStrike">
                <a:solidFill>
                  <a:srgbClr val="230E0E"/>
                </a:solidFill>
                <a:latin typeface="Assistant"/>
                <a:ea typeface="Assistant"/>
                <a:cs typeface="Assistant"/>
                <a:sym typeface="Assistant"/>
              </a:rPr>
              <a:t>Numerous advancements in the science of computer design and technology are coming together to enable the creation of fifth-generation </a:t>
            </a:r>
            <a:r>
              <a:rPr i="0" lang="en-US" sz="3300" cap="none" strike="noStrike">
                <a:solidFill>
                  <a:srgbClr val="230E0E"/>
                </a:solidFill>
                <a:latin typeface="Assistant"/>
                <a:ea typeface="Assistant"/>
                <a:cs typeface="Assistant"/>
                <a:sym typeface="Assistant"/>
              </a:rPr>
              <a:t> computers</a:t>
            </a:r>
            <a:r>
              <a:rPr i="0" lang="en-US" sz="3300" u="none" cap="none" strike="noStrike">
                <a:solidFill>
                  <a:srgbClr val="230E0E"/>
                </a:solidFill>
                <a:latin typeface="Assistant"/>
                <a:ea typeface="Assistant"/>
                <a:cs typeface="Assistant"/>
                <a:sym typeface="Assistant"/>
              </a:rPr>
              <a:t>. Two such advances are in superconductor technology that allows electricity flow with little or no resistance, significantly enhancing the speed of information flow, and advances in parallel processing, where many CPUs work as one. </a:t>
            </a:r>
            <a:endParaRPr i="0" sz="3300" u="none" cap="none" strike="noStrike">
              <a:solidFill>
                <a:srgbClr val="230E0E"/>
              </a:solidFill>
              <a:latin typeface="Assistant"/>
              <a:ea typeface="Assistant"/>
              <a:cs typeface="Assistant"/>
              <a:sym typeface="Assistant"/>
            </a:endParaRPr>
          </a:p>
        </p:txBody>
      </p:sp>
      <p:sp>
        <p:nvSpPr>
          <p:cNvPr id="662" name="Google Shape;662;p36"/>
          <p:cNvSpPr txBox="1"/>
          <p:nvPr/>
        </p:nvSpPr>
        <p:spPr>
          <a:xfrm>
            <a:off x="869087" y="712672"/>
            <a:ext cx="16390200" cy="646500"/>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None/>
            </a:pPr>
            <a:r>
              <a:rPr b="1" i="0" lang="en-US" sz="4200" u="none" cap="none" strike="noStrike">
                <a:solidFill>
                  <a:srgbClr val="230E0E"/>
                </a:solidFill>
              </a:rPr>
              <a:t>5.FIFTH GENERATION COMPUTERS (PRESENT - FUTURE)</a:t>
            </a:r>
            <a:endParaRPr b="1" sz="4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666" name="Shape 666"/>
        <p:cNvGrpSpPr/>
        <p:nvPr/>
      </p:nvGrpSpPr>
      <p:grpSpPr>
        <a:xfrm>
          <a:off x="0" y="0"/>
          <a:ext cx="0" cy="0"/>
          <a:chOff x="0" y="0"/>
          <a:chExt cx="0" cy="0"/>
        </a:xfrm>
      </p:grpSpPr>
      <p:grpSp>
        <p:nvGrpSpPr>
          <p:cNvPr id="667" name="Google Shape;667;p37"/>
          <p:cNvGrpSpPr/>
          <p:nvPr/>
        </p:nvGrpSpPr>
        <p:grpSpPr>
          <a:xfrm>
            <a:off x="0" y="-144661"/>
            <a:ext cx="18288000" cy="10431661"/>
            <a:chOff x="0" y="-38100"/>
            <a:chExt cx="4816593" cy="2747433"/>
          </a:xfrm>
        </p:grpSpPr>
        <p:sp>
          <p:nvSpPr>
            <p:cNvPr id="668" name="Google Shape;668;p37"/>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669" name="Google Shape;669;p37"/>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70" name="Google Shape;670;p37"/>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671" name="Google Shape;671;p37"/>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672" name="Google Shape;672;p37"/>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673" name="Google Shape;673;p37"/>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674" name="Google Shape;674;p37"/>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675" name="Google Shape;675;p37"/>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676" name="Google Shape;676;p37"/>
          <p:cNvSpPr txBox="1"/>
          <p:nvPr/>
        </p:nvSpPr>
        <p:spPr>
          <a:xfrm>
            <a:off x="2057400" y="862901"/>
            <a:ext cx="14159700" cy="12081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600" u="none" cap="none" strike="noStrike">
                <a:solidFill>
                  <a:srgbClr val="230E0E"/>
                </a:solidFill>
              </a:rPr>
              <a:t>FEATURES OF FIFTH GENERATION COMPUTERS</a:t>
            </a:r>
            <a:endParaRPr b="1" sz="4600"/>
          </a:p>
        </p:txBody>
      </p:sp>
      <p:sp>
        <p:nvSpPr>
          <p:cNvPr id="677" name="Google Shape;677;p37"/>
          <p:cNvSpPr txBox="1"/>
          <p:nvPr/>
        </p:nvSpPr>
        <p:spPr>
          <a:xfrm>
            <a:off x="2626475" y="2071100"/>
            <a:ext cx="13047000" cy="7046700"/>
          </a:xfrm>
          <a:prstGeom prst="rect">
            <a:avLst/>
          </a:prstGeom>
          <a:noFill/>
          <a:ln>
            <a:noFill/>
          </a:ln>
        </p:spPr>
        <p:txBody>
          <a:bodyPr anchorCtr="0" anchor="t" bIns="0" lIns="0" spcFirstLastPara="1" rIns="0" wrap="square" tIns="0">
            <a:spAutoFit/>
          </a:bodyPr>
          <a:lstStyle/>
          <a:p>
            <a:pPr indent="-366606" lvl="1" marL="701082" marR="0" rtl="0" algn="just">
              <a:lnSpc>
                <a:spcPct val="151000"/>
              </a:lnSpc>
              <a:spcBef>
                <a:spcPts val="0"/>
              </a:spcBef>
              <a:spcAft>
                <a:spcPts val="0"/>
              </a:spcAft>
              <a:buClr>
                <a:srgbClr val="230E0E"/>
              </a:buClr>
              <a:buSzPts val="3500"/>
              <a:buFont typeface="Assistant"/>
              <a:buChar char="•"/>
            </a:pPr>
            <a:r>
              <a:rPr i="0" lang="en-US" sz="3500" u="none" cap="none" strike="noStrike">
                <a:solidFill>
                  <a:srgbClr val="230E0E"/>
                </a:solidFill>
                <a:latin typeface="Assistant"/>
                <a:ea typeface="Assistant"/>
                <a:cs typeface="Assistant"/>
                <a:sym typeface="Assistant"/>
              </a:rPr>
              <a:t>These machines will incorporate ULSI (Ultra Large Scale Integration).</a:t>
            </a:r>
            <a:endParaRPr sz="3500">
              <a:latin typeface="Assistant"/>
              <a:ea typeface="Assistant"/>
              <a:cs typeface="Assistant"/>
              <a:sym typeface="Assistant"/>
            </a:endParaRPr>
          </a:p>
          <a:p>
            <a:pPr indent="-366606" lvl="1" marL="701082" marR="0" rtl="0" algn="just">
              <a:lnSpc>
                <a:spcPct val="151000"/>
              </a:lnSpc>
              <a:spcBef>
                <a:spcPts val="0"/>
              </a:spcBef>
              <a:spcAft>
                <a:spcPts val="0"/>
              </a:spcAft>
              <a:buClr>
                <a:srgbClr val="230E0E"/>
              </a:buClr>
              <a:buSzPts val="3500"/>
              <a:buFont typeface="Assistant"/>
              <a:buChar char="•"/>
            </a:pPr>
            <a:r>
              <a:rPr i="0" lang="en-US" sz="3500" u="none" cap="none" strike="noStrike">
                <a:solidFill>
                  <a:srgbClr val="230E0E"/>
                </a:solidFill>
                <a:latin typeface="Assistant"/>
                <a:ea typeface="Assistant"/>
                <a:cs typeface="Assistant"/>
                <a:sym typeface="Assistant"/>
              </a:rPr>
              <a:t>It can perform a large number of parallel processing.</a:t>
            </a:r>
            <a:endParaRPr sz="3500">
              <a:latin typeface="Assistant"/>
              <a:ea typeface="Assistant"/>
              <a:cs typeface="Assistant"/>
              <a:sym typeface="Assistant"/>
            </a:endParaRPr>
          </a:p>
          <a:p>
            <a:pPr indent="-366606" lvl="1" marL="701082" marR="0" rtl="0" algn="just">
              <a:lnSpc>
                <a:spcPct val="151000"/>
              </a:lnSpc>
              <a:spcBef>
                <a:spcPts val="0"/>
              </a:spcBef>
              <a:spcAft>
                <a:spcPts val="0"/>
              </a:spcAft>
              <a:buClr>
                <a:srgbClr val="230E0E"/>
              </a:buClr>
              <a:buSzPts val="3500"/>
              <a:buFont typeface="Assistant"/>
              <a:buChar char="•"/>
            </a:pPr>
            <a:r>
              <a:rPr i="0" lang="en-US" sz="3500" u="none" cap="none" strike="noStrike">
                <a:solidFill>
                  <a:srgbClr val="230E0E"/>
                </a:solidFill>
                <a:latin typeface="Assistant"/>
                <a:ea typeface="Assistant"/>
                <a:cs typeface="Assistant"/>
                <a:sym typeface="Assistant"/>
              </a:rPr>
              <a:t>The speed of this generation of computers is going to be very high.</a:t>
            </a:r>
            <a:endParaRPr sz="3500">
              <a:latin typeface="Assistant"/>
              <a:ea typeface="Assistant"/>
              <a:cs typeface="Assistant"/>
              <a:sym typeface="Assistant"/>
            </a:endParaRPr>
          </a:p>
          <a:p>
            <a:pPr indent="-366606" lvl="1" marL="701082" marR="0" rtl="0" algn="just">
              <a:lnSpc>
                <a:spcPct val="151000"/>
              </a:lnSpc>
              <a:spcBef>
                <a:spcPts val="0"/>
              </a:spcBef>
              <a:spcAft>
                <a:spcPts val="0"/>
              </a:spcAft>
              <a:buClr>
                <a:srgbClr val="230E0E"/>
              </a:buClr>
              <a:buSzPts val="3500"/>
              <a:buFont typeface="Assistant"/>
              <a:buChar char="•"/>
            </a:pPr>
            <a:r>
              <a:rPr i="0" lang="en-US" sz="3500" u="none" cap="none" strike="noStrike">
                <a:solidFill>
                  <a:srgbClr val="230E0E"/>
                </a:solidFill>
                <a:latin typeface="Assistant"/>
                <a:ea typeface="Assistant"/>
                <a:cs typeface="Assistant"/>
                <a:sym typeface="Assistant"/>
              </a:rPr>
              <a:t>Bio-chips and Gallium Arsenide (GaAs) are used as memory devices.</a:t>
            </a:r>
            <a:endParaRPr sz="3500">
              <a:latin typeface="Assistant"/>
              <a:ea typeface="Assistant"/>
              <a:cs typeface="Assistant"/>
              <a:sym typeface="Assistant"/>
            </a:endParaRPr>
          </a:p>
          <a:p>
            <a:pPr indent="-366606" lvl="1" marL="701082" marR="0" rtl="0" algn="just">
              <a:lnSpc>
                <a:spcPct val="151000"/>
              </a:lnSpc>
              <a:spcBef>
                <a:spcPts val="0"/>
              </a:spcBef>
              <a:spcAft>
                <a:spcPts val="0"/>
              </a:spcAft>
              <a:buClr>
                <a:srgbClr val="230E0E"/>
              </a:buClr>
              <a:buSzPts val="3500"/>
              <a:buFont typeface="Assistant"/>
              <a:buChar char="•"/>
            </a:pPr>
            <a:r>
              <a:rPr i="0" lang="en-US" sz="3500" u="none" cap="none" strike="noStrike">
                <a:solidFill>
                  <a:srgbClr val="230E0E"/>
                </a:solidFill>
                <a:latin typeface="Assistant"/>
                <a:ea typeface="Assistant"/>
                <a:cs typeface="Assistant"/>
                <a:sym typeface="Assistant"/>
              </a:rPr>
              <a:t>The concept of AI (Artificial Intelligence) has been introduced.</a:t>
            </a:r>
            <a:endParaRPr sz="3500">
              <a:latin typeface="Assistant"/>
              <a:ea typeface="Assistant"/>
              <a:cs typeface="Assistant"/>
              <a:sym typeface="Assistant"/>
            </a:endParaRPr>
          </a:p>
          <a:p>
            <a:pPr indent="-366606" lvl="1" marL="701082" marR="0" rtl="0" algn="just">
              <a:lnSpc>
                <a:spcPct val="151000"/>
              </a:lnSpc>
              <a:spcBef>
                <a:spcPts val="0"/>
              </a:spcBef>
              <a:spcAft>
                <a:spcPts val="0"/>
              </a:spcAft>
              <a:buClr>
                <a:srgbClr val="230E0E"/>
              </a:buClr>
              <a:buSzPts val="3500"/>
              <a:buFont typeface="Assistant"/>
              <a:buChar char="•"/>
            </a:pPr>
            <a:r>
              <a:rPr i="0" lang="en-US" sz="3500" u="none" cap="none" strike="noStrike">
                <a:solidFill>
                  <a:srgbClr val="230E0E"/>
                </a:solidFill>
                <a:latin typeface="Assistant"/>
                <a:ea typeface="Assistant"/>
                <a:cs typeface="Assistant"/>
                <a:sym typeface="Assistant"/>
              </a:rPr>
              <a:t>This generation of computers can understand human language and recognize pictures and graphs.</a:t>
            </a:r>
            <a:endParaRPr i="0" sz="3500" u="none" cap="none" strike="noStrike">
              <a:solidFill>
                <a:srgbClr val="230E0E"/>
              </a:solidFill>
              <a:latin typeface="Assistant"/>
              <a:ea typeface="Assistant"/>
              <a:cs typeface="Assistant"/>
              <a:sym typeface="Assistan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E1E"/>
        </a:solidFill>
      </p:bgPr>
    </p:bg>
    <p:spTree>
      <p:nvGrpSpPr>
        <p:cNvPr id="681" name="Shape 681"/>
        <p:cNvGrpSpPr/>
        <p:nvPr/>
      </p:nvGrpSpPr>
      <p:grpSpPr>
        <a:xfrm>
          <a:off x="0" y="0"/>
          <a:ext cx="0" cy="0"/>
          <a:chOff x="0" y="0"/>
          <a:chExt cx="0" cy="0"/>
        </a:xfrm>
      </p:grpSpPr>
      <p:grpSp>
        <p:nvGrpSpPr>
          <p:cNvPr id="682" name="Google Shape;682;p38"/>
          <p:cNvGrpSpPr/>
          <p:nvPr/>
        </p:nvGrpSpPr>
        <p:grpSpPr>
          <a:xfrm>
            <a:off x="0" y="-144661"/>
            <a:ext cx="18288000" cy="10431661"/>
            <a:chOff x="0" y="-38100"/>
            <a:chExt cx="4816593" cy="2747433"/>
          </a:xfrm>
        </p:grpSpPr>
        <p:sp>
          <p:nvSpPr>
            <p:cNvPr id="683" name="Google Shape;683;p38"/>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CECD4"/>
            </a:solidFill>
            <a:ln cap="sq" cmpd="sng" w="171450">
              <a:solidFill>
                <a:srgbClr val="DFD0B8"/>
              </a:solidFill>
              <a:prstDash val="solid"/>
              <a:miter lim="8000"/>
              <a:headEnd len="sm" w="sm" type="none"/>
              <a:tailEnd len="sm" w="sm" type="none"/>
            </a:ln>
          </p:spPr>
        </p:sp>
        <p:sp>
          <p:nvSpPr>
            <p:cNvPr id="684" name="Google Shape;684;p38"/>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85" name="Google Shape;685;p38"/>
          <p:cNvSpPr/>
          <p:nvPr/>
        </p:nvSpPr>
        <p:spPr>
          <a:xfrm rot="-5400000">
            <a:off x="17275588" y="-1028700"/>
            <a:ext cx="2024824" cy="4114800"/>
          </a:xfrm>
          <a:custGeom>
            <a:rect b="b" l="l" r="r" t="t"/>
            <a:pathLst>
              <a:path extrusionOk="0" h="4114800" w="2024824">
                <a:moveTo>
                  <a:pt x="0" y="0"/>
                </a:moveTo>
                <a:lnTo>
                  <a:pt x="2024824" y="0"/>
                </a:lnTo>
                <a:lnTo>
                  <a:pt x="2024824" y="4114800"/>
                </a:lnTo>
                <a:lnTo>
                  <a:pt x="0" y="4114800"/>
                </a:lnTo>
                <a:lnTo>
                  <a:pt x="0" y="0"/>
                </a:lnTo>
                <a:close/>
              </a:path>
            </a:pathLst>
          </a:custGeom>
          <a:blipFill rotWithShape="1">
            <a:blip r:embed="rId3">
              <a:alphaModFix/>
            </a:blip>
            <a:stretch>
              <a:fillRect b="0" l="0" r="0" t="0"/>
            </a:stretch>
          </a:blipFill>
          <a:ln>
            <a:noFill/>
          </a:ln>
        </p:spPr>
      </p:sp>
      <p:sp>
        <p:nvSpPr>
          <p:cNvPr id="686" name="Google Shape;686;p38"/>
          <p:cNvSpPr/>
          <p:nvPr/>
        </p:nvSpPr>
        <p:spPr>
          <a:xfrm rot="5400000">
            <a:off x="-1012412" y="7217188"/>
            <a:ext cx="2024824" cy="4114800"/>
          </a:xfrm>
          <a:custGeom>
            <a:rect b="b" l="l" r="r" t="t"/>
            <a:pathLst>
              <a:path extrusionOk="0" h="4114800" w="2024824">
                <a:moveTo>
                  <a:pt x="2024824" y="4114800"/>
                </a:moveTo>
                <a:lnTo>
                  <a:pt x="0" y="4114800"/>
                </a:lnTo>
                <a:lnTo>
                  <a:pt x="0" y="0"/>
                </a:lnTo>
                <a:lnTo>
                  <a:pt x="2024824" y="0"/>
                </a:lnTo>
                <a:lnTo>
                  <a:pt x="2024824" y="4114800"/>
                </a:lnTo>
                <a:close/>
              </a:path>
            </a:pathLst>
          </a:custGeom>
          <a:blipFill rotWithShape="1">
            <a:blip r:embed="rId3">
              <a:alphaModFix/>
            </a:blip>
            <a:stretch>
              <a:fillRect b="0" l="0" r="0" t="0"/>
            </a:stretch>
          </a:blipFill>
          <a:ln>
            <a:noFill/>
          </a:ln>
        </p:spPr>
      </p:sp>
      <p:sp>
        <p:nvSpPr>
          <p:cNvPr id="687" name="Google Shape;687;p38"/>
          <p:cNvSpPr/>
          <p:nvPr/>
        </p:nvSpPr>
        <p:spPr>
          <a:xfrm>
            <a:off x="-2325841" y="4147376"/>
            <a:ext cx="4651682" cy="4114800"/>
          </a:xfrm>
          <a:custGeom>
            <a:rect b="b" l="l" r="r" t="t"/>
            <a:pathLst>
              <a:path extrusionOk="0" h="4114800" w="4651682">
                <a:moveTo>
                  <a:pt x="0" y="0"/>
                </a:moveTo>
                <a:lnTo>
                  <a:pt x="4651682" y="0"/>
                </a:lnTo>
                <a:lnTo>
                  <a:pt x="4651682" y="4114800"/>
                </a:lnTo>
                <a:lnTo>
                  <a:pt x="0" y="4114800"/>
                </a:lnTo>
                <a:lnTo>
                  <a:pt x="0" y="0"/>
                </a:lnTo>
                <a:close/>
              </a:path>
            </a:pathLst>
          </a:custGeom>
          <a:blipFill rotWithShape="1">
            <a:blip r:embed="rId4">
              <a:alphaModFix/>
            </a:blip>
            <a:stretch>
              <a:fillRect b="0" l="0" r="0" t="0"/>
            </a:stretch>
          </a:blipFill>
          <a:ln>
            <a:noFill/>
          </a:ln>
        </p:spPr>
      </p:sp>
      <p:sp>
        <p:nvSpPr>
          <p:cNvPr id="688" name="Google Shape;688;p38"/>
          <p:cNvSpPr/>
          <p:nvPr/>
        </p:nvSpPr>
        <p:spPr>
          <a:xfrm rot="10800000">
            <a:off x="15962159" y="2089976"/>
            <a:ext cx="4651682" cy="4114800"/>
          </a:xfrm>
          <a:custGeom>
            <a:rect b="b" l="l" r="r" t="t"/>
            <a:pathLst>
              <a:path extrusionOk="0" h="4114800" w="4651682">
                <a:moveTo>
                  <a:pt x="4651682" y="4114800"/>
                </a:moveTo>
                <a:lnTo>
                  <a:pt x="0" y="4114800"/>
                </a:lnTo>
                <a:lnTo>
                  <a:pt x="0" y="0"/>
                </a:lnTo>
                <a:lnTo>
                  <a:pt x="4651682" y="0"/>
                </a:lnTo>
                <a:lnTo>
                  <a:pt x="4651682" y="4114800"/>
                </a:lnTo>
                <a:close/>
              </a:path>
            </a:pathLst>
          </a:custGeom>
          <a:blipFill rotWithShape="1">
            <a:blip r:embed="rId4">
              <a:alphaModFix/>
            </a:blip>
            <a:stretch>
              <a:fillRect b="0" l="0" r="0" t="0"/>
            </a:stretch>
          </a:blipFill>
          <a:ln>
            <a:noFill/>
          </a:ln>
        </p:spPr>
      </p:sp>
      <p:sp>
        <p:nvSpPr>
          <p:cNvPr id="689" name="Google Shape;689;p38"/>
          <p:cNvSpPr/>
          <p:nvPr/>
        </p:nvSpPr>
        <p:spPr>
          <a:xfrm flipH="1" rot="5400000">
            <a:off x="1044988" y="-2041112"/>
            <a:ext cx="2024824" cy="4114800"/>
          </a:xfrm>
          <a:custGeom>
            <a:rect b="b" l="l" r="r" t="t"/>
            <a:pathLst>
              <a:path extrusionOk="0" h="4114800" w="2024824">
                <a:moveTo>
                  <a:pt x="0" y="4114800"/>
                </a:moveTo>
                <a:lnTo>
                  <a:pt x="2024824" y="4114800"/>
                </a:lnTo>
                <a:lnTo>
                  <a:pt x="2024824" y="0"/>
                </a:lnTo>
                <a:lnTo>
                  <a:pt x="0" y="0"/>
                </a:lnTo>
                <a:lnTo>
                  <a:pt x="0" y="4114800"/>
                </a:lnTo>
                <a:close/>
              </a:path>
            </a:pathLst>
          </a:custGeom>
          <a:blipFill rotWithShape="1">
            <a:blip r:embed="rId3">
              <a:alphaModFix/>
            </a:blip>
            <a:stretch>
              <a:fillRect b="0" l="0" r="0" t="0"/>
            </a:stretch>
          </a:blipFill>
          <a:ln>
            <a:noFill/>
          </a:ln>
        </p:spPr>
      </p:sp>
      <p:sp>
        <p:nvSpPr>
          <p:cNvPr id="690" name="Google Shape;690;p38"/>
          <p:cNvSpPr/>
          <p:nvPr/>
        </p:nvSpPr>
        <p:spPr>
          <a:xfrm flipH="1" rot="-5400000">
            <a:off x="15218188" y="8229600"/>
            <a:ext cx="2024824" cy="4114800"/>
          </a:xfrm>
          <a:custGeom>
            <a:rect b="b" l="l" r="r" t="t"/>
            <a:pathLst>
              <a:path extrusionOk="0" h="4114800" w="2024824">
                <a:moveTo>
                  <a:pt x="2024824" y="0"/>
                </a:moveTo>
                <a:lnTo>
                  <a:pt x="0" y="0"/>
                </a:lnTo>
                <a:lnTo>
                  <a:pt x="0" y="4114800"/>
                </a:lnTo>
                <a:lnTo>
                  <a:pt x="2024824" y="4114800"/>
                </a:lnTo>
                <a:lnTo>
                  <a:pt x="2024824" y="0"/>
                </a:lnTo>
                <a:close/>
              </a:path>
            </a:pathLst>
          </a:custGeom>
          <a:blipFill rotWithShape="1">
            <a:blip r:embed="rId3">
              <a:alphaModFix/>
            </a:blip>
            <a:stretch>
              <a:fillRect b="0" l="0" r="0" t="0"/>
            </a:stretch>
          </a:blipFill>
          <a:ln>
            <a:noFill/>
          </a:ln>
        </p:spPr>
      </p:sp>
      <p:sp>
        <p:nvSpPr>
          <p:cNvPr id="691" name="Google Shape;691;p38"/>
          <p:cNvSpPr txBox="1"/>
          <p:nvPr/>
        </p:nvSpPr>
        <p:spPr>
          <a:xfrm>
            <a:off x="2057400" y="1589403"/>
            <a:ext cx="14159700" cy="18765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i="0" lang="en-US" sz="4800" u="none" cap="none" strike="noStrike">
                <a:solidFill>
                  <a:srgbClr val="230E0E"/>
                </a:solidFill>
              </a:rPr>
              <a:t>LIMITATIONS OF FIFTH GENERATION COMPUTERS</a:t>
            </a:r>
            <a:endParaRPr b="1" sz="4800"/>
          </a:p>
        </p:txBody>
      </p:sp>
      <p:grpSp>
        <p:nvGrpSpPr>
          <p:cNvPr id="692" name="Google Shape;692;p38"/>
          <p:cNvGrpSpPr/>
          <p:nvPr/>
        </p:nvGrpSpPr>
        <p:grpSpPr>
          <a:xfrm>
            <a:off x="2634557" y="3337723"/>
            <a:ext cx="12911607" cy="2398378"/>
            <a:chOff x="0" y="-38100"/>
            <a:chExt cx="4392959" cy="816008"/>
          </a:xfrm>
        </p:grpSpPr>
        <p:sp>
          <p:nvSpPr>
            <p:cNvPr id="693" name="Google Shape;693;p38"/>
            <p:cNvSpPr/>
            <p:nvPr/>
          </p:nvSpPr>
          <p:spPr>
            <a:xfrm>
              <a:off x="0" y="0"/>
              <a:ext cx="4392959" cy="777908"/>
            </a:xfrm>
            <a:custGeom>
              <a:rect b="b" l="l" r="r" t="t"/>
              <a:pathLst>
                <a:path extrusionOk="0" h="777908" w="4392959">
                  <a:moveTo>
                    <a:pt x="0" y="0"/>
                  </a:moveTo>
                  <a:lnTo>
                    <a:pt x="4392959" y="0"/>
                  </a:lnTo>
                  <a:lnTo>
                    <a:pt x="4392959" y="777908"/>
                  </a:lnTo>
                  <a:lnTo>
                    <a:pt x="0" y="777908"/>
                  </a:lnTo>
                  <a:close/>
                </a:path>
              </a:pathLst>
            </a:custGeom>
            <a:solidFill>
              <a:srgbClr val="DFD0B8"/>
            </a:solidFill>
            <a:ln>
              <a:noFill/>
            </a:ln>
          </p:spPr>
        </p:sp>
        <p:sp>
          <p:nvSpPr>
            <p:cNvPr id="694" name="Google Shape;694;p38"/>
            <p:cNvSpPr txBox="1"/>
            <p:nvPr/>
          </p:nvSpPr>
          <p:spPr>
            <a:xfrm>
              <a:off x="0" y="-38100"/>
              <a:ext cx="4392959" cy="816008"/>
            </a:xfrm>
            <a:prstGeom prst="rect">
              <a:avLst/>
            </a:prstGeom>
            <a:noFill/>
            <a:ln>
              <a:noFill/>
            </a:ln>
          </p:spPr>
          <p:txBody>
            <a:bodyPr anchorCtr="0" anchor="ctr" bIns="50800" lIns="50800" spcFirstLastPara="1" rIns="50800" wrap="square" tIns="50800">
              <a:noAutofit/>
            </a:bodyPr>
            <a:lstStyle/>
            <a:p>
              <a:pPr indent="-385831" lvl="1" marL="771660" rtl="0" algn="just">
                <a:lnSpc>
                  <a:spcPct val="150979"/>
                </a:lnSpc>
                <a:spcBef>
                  <a:spcPts val="0"/>
                </a:spcBef>
                <a:spcAft>
                  <a:spcPts val="0"/>
                </a:spcAft>
                <a:buClr>
                  <a:srgbClr val="230E0E"/>
                </a:buClr>
                <a:buSzPts val="3574"/>
                <a:buChar char="•"/>
              </a:pPr>
              <a:r>
                <a:rPr lang="en-US" sz="3574">
                  <a:solidFill>
                    <a:srgbClr val="230E0E"/>
                  </a:solidFill>
                  <a:latin typeface="Assistant"/>
                  <a:ea typeface="Assistant"/>
                  <a:cs typeface="Assistant"/>
                  <a:sym typeface="Assistant"/>
                </a:rPr>
                <a:t>The major limitation of this generation is that the computer will overtake all employment, creating unemployment in the country.</a:t>
              </a:r>
              <a:endParaRPr sz="1800">
                <a:solidFill>
                  <a:schemeClr val="dk1"/>
                </a:solidFill>
                <a:latin typeface="Calibri"/>
                <a:ea typeface="Calibri"/>
                <a:cs typeface="Calibri"/>
                <a:sym typeface="Calibri"/>
              </a:endParaRPr>
            </a:p>
          </p:txBody>
        </p:sp>
      </p:grpSp>
      <p:grpSp>
        <p:nvGrpSpPr>
          <p:cNvPr id="695" name="Google Shape;695;p38"/>
          <p:cNvGrpSpPr/>
          <p:nvPr/>
        </p:nvGrpSpPr>
        <p:grpSpPr>
          <a:xfrm>
            <a:off x="2634557" y="6092794"/>
            <a:ext cx="12911607" cy="1861269"/>
            <a:chOff x="0" y="-38100"/>
            <a:chExt cx="4392959" cy="633266"/>
          </a:xfrm>
        </p:grpSpPr>
        <p:sp>
          <p:nvSpPr>
            <p:cNvPr id="696" name="Google Shape;696;p38"/>
            <p:cNvSpPr/>
            <p:nvPr/>
          </p:nvSpPr>
          <p:spPr>
            <a:xfrm>
              <a:off x="0" y="0"/>
              <a:ext cx="4392959" cy="595166"/>
            </a:xfrm>
            <a:custGeom>
              <a:rect b="b" l="l" r="r" t="t"/>
              <a:pathLst>
                <a:path extrusionOk="0" h="595166" w="4392959">
                  <a:moveTo>
                    <a:pt x="0" y="0"/>
                  </a:moveTo>
                  <a:lnTo>
                    <a:pt x="4392959" y="0"/>
                  </a:lnTo>
                  <a:lnTo>
                    <a:pt x="4392959" y="595166"/>
                  </a:lnTo>
                  <a:lnTo>
                    <a:pt x="0" y="595166"/>
                  </a:lnTo>
                  <a:close/>
                </a:path>
              </a:pathLst>
            </a:custGeom>
            <a:solidFill>
              <a:srgbClr val="DFD0B8"/>
            </a:solidFill>
            <a:ln>
              <a:noFill/>
            </a:ln>
          </p:spPr>
        </p:sp>
        <p:sp>
          <p:nvSpPr>
            <p:cNvPr id="697" name="Google Shape;697;p38"/>
            <p:cNvSpPr txBox="1"/>
            <p:nvPr/>
          </p:nvSpPr>
          <p:spPr>
            <a:xfrm>
              <a:off x="0" y="-38100"/>
              <a:ext cx="4392959" cy="633266"/>
            </a:xfrm>
            <a:prstGeom prst="rect">
              <a:avLst/>
            </a:prstGeom>
            <a:noFill/>
            <a:ln>
              <a:noFill/>
            </a:ln>
          </p:spPr>
          <p:txBody>
            <a:bodyPr anchorCtr="0" anchor="ctr" bIns="50800" lIns="50800" spcFirstLastPara="1" rIns="50800" wrap="square" tIns="50800">
              <a:noAutofit/>
            </a:bodyPr>
            <a:lstStyle/>
            <a:p>
              <a:pPr indent="-385831" lvl="1" marL="771660" rtl="0" algn="just">
                <a:lnSpc>
                  <a:spcPct val="150979"/>
                </a:lnSpc>
                <a:spcBef>
                  <a:spcPts val="0"/>
                </a:spcBef>
                <a:spcAft>
                  <a:spcPts val="0"/>
                </a:spcAft>
                <a:buClr>
                  <a:srgbClr val="230E0E"/>
                </a:buClr>
                <a:buSzPts val="3574"/>
                <a:buChar char="•"/>
              </a:pPr>
              <a:r>
                <a:rPr lang="en-US" sz="3574">
                  <a:solidFill>
                    <a:srgbClr val="230E0E"/>
                  </a:solidFill>
                  <a:latin typeface="Assistant"/>
                  <a:ea typeface="Assistant"/>
                  <a:cs typeface="Assistant"/>
                  <a:sym typeface="Assistant"/>
                </a:rPr>
                <a:t>The highly advanced robots can overtake the world, which leads to destruction for humans.</a:t>
              </a:r>
              <a:endParaRPr sz="1800">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